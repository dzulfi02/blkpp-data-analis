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Poppins Light" charset="1" panose="00000400000000000000"/>
      <p:regular r:id="rId28"/>
    </p:embeddedFont>
    <p:embeddedFont>
      <p:font typeface="Poppins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ss data pertama 54xx jumlah kolom dan baris berapa</a:t>
            </a:r>
          </a:p>
          <a:p>
            <a:r>
              <a:rPr lang="en-US"/>
              <a:t/>
            </a:r>
          </a:p>
          <a:p>
            <a:r>
              <a:rPr lang="en-US"/>
              <a:t>tunjukkan data cleaning, data duplicate, missing value dan setelah cleaning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ss data pertama 54xx jumlah kolom dan baris berapa</a:t>
            </a:r>
          </a:p>
          <a:p>
            <a:r>
              <a:rPr lang="en-US"/>
              <a:t/>
            </a:r>
          </a:p>
          <a:p>
            <a:r>
              <a:rPr lang="en-US"/>
              <a:t>tunjukkan data cleaning, data duplicate, missing value dan setelah cleaning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ss data pertama 54xx jumlah kolom dan baris berapa</a:t>
            </a:r>
          </a:p>
          <a:p>
            <a:r>
              <a:rPr lang="en-US"/>
              <a:t/>
            </a:r>
          </a:p>
          <a:p>
            <a:r>
              <a:rPr lang="en-US"/>
              <a:t>tunjukkan data cleaning, data duplicate, missing value dan setelah cleaning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ss data pertama 54xx jumlah kolom dan baris berapa</a:t>
            </a:r>
          </a:p>
          <a:p>
            <a:r>
              <a:rPr lang="en-US"/>
              <a:t/>
            </a:r>
          </a:p>
          <a:p>
            <a:r>
              <a:rPr lang="en-US"/>
              <a:t>tunjukkan data cleaning, data duplicate, missing value dan setelah cleaning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ss data pertama 54xx jumlah kolom dan baris berapa</a:t>
            </a:r>
          </a:p>
          <a:p>
            <a:r>
              <a:rPr lang="en-US"/>
              <a:t/>
            </a:r>
          </a:p>
          <a:p>
            <a:r>
              <a:rPr lang="en-US"/>
              <a:t>tunjukkan data cleaning, data duplicate, missing value dan setelah cleaning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Sales Performance</a:t>
            </a:r>
          </a:p>
          <a:p>
            <a:r>
              <a:rPr lang="en-US"/>
              <a:t>-Top Selling Products : mengetahui produk yang sering dibeli sehingga dapat mengoptimalkan stok dan pemasaran barang tersebut</a:t>
            </a:r>
          </a:p>
          <a:p>
            <a:r>
              <a:rPr lang="en-US"/>
              <a:t>- Total Transactions</a:t>
            </a:r>
          </a:p>
          <a:p>
            <a:r>
              <a:rPr lang="en-US"/>
              <a:t/>
            </a:r>
          </a:p>
          <a:p>
            <a:r>
              <a:rPr lang="en-US"/>
              <a:t>2. Customer Retention &amp; Marketing</a:t>
            </a:r>
          </a:p>
          <a:p>
            <a:r>
              <a:rPr lang="en-US"/>
              <a:t>- Loyal Customer Count : Dalam proses pemasaran, perusahaan dapat melihat dari data customer ID, sehingga dapat mengetahui perilaku konsumen (misal barang yang sering dibeli apa) tersebut </a:t>
            </a:r>
          </a:p>
          <a:p>
            <a:r>
              <a:rPr lang="en-US"/>
              <a:t/>
            </a:r>
          </a:p>
          <a:p>
            <a:r>
              <a:rPr lang="en-US"/>
              <a:t>3. Cancellation &amp; Return Analysis :</a:t>
            </a:r>
          </a:p>
          <a:p>
            <a:r>
              <a:rPr lang="en-US"/>
              <a:t>- Revenue Loss from Returns :kerugian akibat retur/pembatalan</a:t>
            </a:r>
          </a:p>
          <a:p>
            <a:r>
              <a:rPr lang="en-US"/>
              <a:t>- Most Returned Products : produk yang paling sering diretur</a:t>
            </a:r>
          </a:p>
          <a:p>
            <a:r>
              <a:rPr lang="en-US"/>
              <a:t/>
            </a:r>
          </a:p>
          <a:p>
            <a:r>
              <a:rPr lang="en-US"/>
              <a:t>4. Geographic Metrics</a:t>
            </a:r>
          </a:p>
          <a:p>
            <a:r>
              <a:rPr lang="en-US"/>
              <a:t>- Top Purchasing Countries</a:t>
            </a:r>
          </a:p>
          <a:p>
            <a:r>
              <a:rPr lang="en-US"/>
              <a:t>- Country-wise Revenue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91968"/>
            <a:ext cx="3954563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426974" y="-2144718"/>
            <a:ext cx="9604810" cy="9604810"/>
          </a:xfrm>
          <a:custGeom>
            <a:avLst/>
            <a:gdLst/>
            <a:ahLst/>
            <a:cxnLst/>
            <a:rect r="r" b="b" t="t" l="l"/>
            <a:pathLst>
              <a:path h="9604810" w="9604810">
                <a:moveTo>
                  <a:pt x="0" y="0"/>
                </a:moveTo>
                <a:lnTo>
                  <a:pt x="9604811" y="0"/>
                </a:lnTo>
                <a:lnTo>
                  <a:pt x="9604811" y="9604810"/>
                </a:lnTo>
                <a:lnTo>
                  <a:pt x="0" y="960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521913" y="28692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43092" y="3856001"/>
            <a:ext cx="10701936" cy="212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8"/>
              </a:lnSpc>
            </a:pPr>
            <a:r>
              <a:rPr lang="en-US" b="true" sz="7827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Perdagangan Ritel Secara Online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3092" y="2543195"/>
            <a:ext cx="7880342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spc="36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 Analyst dan Data Science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092" y="6511459"/>
            <a:ext cx="487364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Yoga Tama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Niken Saraswati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Dzulfi Khoiriyah Azzahra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45029" y="2381196"/>
            <a:ext cx="6310607" cy="7200900"/>
          </a:xfrm>
          <a:custGeom>
            <a:avLst/>
            <a:gdLst/>
            <a:ahLst/>
            <a:cxnLst/>
            <a:rect r="r" b="b" t="t" l="l"/>
            <a:pathLst>
              <a:path h="7200900" w="6310607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0485" y="-85435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55433" y="1409700"/>
            <a:ext cx="8263177" cy="110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886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674789" y="1947626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5433" y="2907549"/>
            <a:ext cx="15213427" cy="544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19" indent="-352860" lvl="1">
              <a:lnSpc>
                <a:spcPts val="4282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Dataset ini berisi data transaksi penjualan dari sebuah perusahaan retail daring tanpa toko fisik di Inggris yang menjual berbagai produk hadiah unik/souvenir (gift items). Data mencakup transaksi selama 1 tahun yakni dari Desember 2010 hingga Desember 2011 dengan total lebih dari 541 ribu transaksi. </a:t>
            </a:r>
          </a:p>
          <a:p>
            <a:pPr algn="l" marL="705719" indent="-352860" lvl="1">
              <a:lnSpc>
                <a:spcPts val="4282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bisnis ini melayani dua jenis pasar: B2C (Business-to-Consumer) untuk pembeli eceran, dan B2B (Business-to-Business) karena banyak transaksi dalam jumlah besar yang mengindikasikan pembeli adalah grosir (wholesalers). Perusahaan beroperasi di 38 negara, menjadikannya pemain pasar internasional.</a:t>
            </a:r>
          </a:p>
        </p:txBody>
      </p:sp>
      <p:sp>
        <p:nvSpPr>
          <p:cNvPr name="AutoShape 7" id="7"/>
          <p:cNvSpPr/>
          <p:nvPr/>
        </p:nvSpPr>
        <p:spPr>
          <a:xfrm>
            <a:off x="8669390" y="2274872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8822816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882773" y="1760189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345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1243" y="941318"/>
            <a:ext cx="1353337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Business Understanding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3320" y="2891278"/>
            <a:ext cx="13757931" cy="23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16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Perusahaan mengalami potensi kehilangan pendapatan (revenue loss) yang signifikan akibat tingginya angka pembatalan pesanan/retur barang serta kurangnya strategi pemasaran yang terpersonalisasi untuk mempertahankan pelanggan setia (customer retention) di tengah pasar global yang kompetitif.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1752" y="2307618"/>
            <a:ext cx="9908171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28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6749" y="2089721"/>
            <a:ext cx="2684765" cy="136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2"/>
              </a:lnSpc>
            </a:pPr>
            <a:r>
              <a:rPr lang="en-US" sz="7902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43320" y="6124190"/>
            <a:ext cx="13757931" cy="140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16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Bertujuan untuk membantu bisnis meminimalisir terjadinya pembatalan transaksi serta  mempertahankan konsumen agar tetap loyal kepada perusahaan sehingga dapat mendongkrak pendapatan perusahaan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43320" y="5481828"/>
            <a:ext cx="9908171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28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Goals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749" y="5238378"/>
            <a:ext cx="2684765" cy="136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2"/>
              </a:lnSpc>
            </a:pPr>
            <a:r>
              <a:rPr lang="en-US" sz="7902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4270" y="8589990"/>
            <a:ext cx="13757931" cy="94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16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Membangun sistem analisis pelanggan dan transaksi untuk mengidentifikasi pola pembatalan/retur pesanan serta segmentasi pelanggan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3320" y="7950097"/>
            <a:ext cx="9908171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4"/>
              </a:lnSpc>
            </a:pPr>
            <a:r>
              <a:rPr lang="en-US" sz="328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6749" y="7661490"/>
            <a:ext cx="2684765" cy="136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2"/>
              </a:lnSpc>
            </a:pPr>
            <a:r>
              <a:rPr lang="en-US" sz="7902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40741" y="1925369"/>
            <a:ext cx="13606519" cy="7332931"/>
          </a:xfrm>
          <a:custGeom>
            <a:avLst/>
            <a:gdLst/>
            <a:ahLst/>
            <a:cxnLst/>
            <a:rect r="r" b="b" t="t" l="l"/>
            <a:pathLst>
              <a:path h="7332931" w="13606519">
                <a:moveTo>
                  <a:pt x="0" y="0"/>
                </a:moveTo>
                <a:lnTo>
                  <a:pt x="13606518" y="0"/>
                </a:lnTo>
                <a:lnTo>
                  <a:pt x="13606518" y="7332931"/>
                </a:lnTo>
                <a:lnTo>
                  <a:pt x="0" y="7332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" t="-13985" r="0" b="0"/>
            </a:stretch>
          </a:blipFill>
          <a:ln w="38100" cap="sq">
            <a:solidFill>
              <a:srgbClr val="2E2E72"/>
            </a:solidFill>
            <a:prstDash val="solid"/>
            <a:miter/>
          </a:ln>
        </p:spPr>
      </p:sp>
      <p:sp>
        <p:nvSpPr>
          <p:cNvPr name="AutoShape 14" id="14"/>
          <p:cNvSpPr/>
          <p:nvPr/>
        </p:nvSpPr>
        <p:spPr>
          <a:xfrm>
            <a:off x="9686545" y="1364694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820089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686545" y="1364694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69057" y="2306450"/>
            <a:ext cx="15191947" cy="5674101"/>
          </a:xfrm>
          <a:custGeom>
            <a:avLst/>
            <a:gdLst/>
            <a:ahLst/>
            <a:cxnLst/>
            <a:rect r="r" b="b" t="t" l="l"/>
            <a:pathLst>
              <a:path h="5674101" w="15191947">
                <a:moveTo>
                  <a:pt x="0" y="0"/>
                </a:moveTo>
                <a:lnTo>
                  <a:pt x="15191947" y="0"/>
                </a:lnTo>
                <a:lnTo>
                  <a:pt x="15191947" y="5674100"/>
                </a:lnTo>
                <a:lnTo>
                  <a:pt x="0" y="567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197" t="-81502" r="-17740" b="-3760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820089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9236" y="8270751"/>
            <a:ext cx="14651589" cy="9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8"/>
              </a:lnSpc>
            </a:pPr>
            <a:r>
              <a:rPr lang="en-US" sz="2945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Data Original terdiri dari 541.909 baris dan 8 kolom</a:t>
            </a:r>
          </a:p>
          <a:p>
            <a:pPr algn="ctr">
              <a:lnSpc>
                <a:spcPts val="385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686545" y="1364694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69057" y="3386879"/>
            <a:ext cx="6732113" cy="2317613"/>
          </a:xfrm>
          <a:custGeom>
            <a:avLst/>
            <a:gdLst/>
            <a:ahLst/>
            <a:cxnLst/>
            <a:rect r="r" b="b" t="t" l="l"/>
            <a:pathLst>
              <a:path h="2317613" w="6732113">
                <a:moveTo>
                  <a:pt x="0" y="0"/>
                </a:moveTo>
                <a:lnTo>
                  <a:pt x="6732113" y="0"/>
                </a:lnTo>
                <a:lnTo>
                  <a:pt x="6732113" y="2317613"/>
                </a:lnTo>
                <a:lnTo>
                  <a:pt x="0" y="2317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340" t="-471503" r="-468873" b="-56900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820089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7268" y="3876784"/>
            <a:ext cx="6015156" cy="368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5"/>
              </a:lnSpc>
            </a:pPr>
            <a:r>
              <a:rPr lang="en-US" sz="3164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Pada dataset terdapat 5268 data duplikat maka Cleaning data tahap pertama dilakukan dengan mengidentifikasi data yang duplikat  dan menghapusnya.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69057" y="6165664"/>
            <a:ext cx="7041335" cy="2641536"/>
          </a:xfrm>
          <a:custGeom>
            <a:avLst/>
            <a:gdLst/>
            <a:ahLst/>
            <a:cxnLst/>
            <a:rect r="r" b="b" t="t" l="l"/>
            <a:pathLst>
              <a:path h="2641536" w="7041335">
                <a:moveTo>
                  <a:pt x="0" y="0"/>
                </a:moveTo>
                <a:lnTo>
                  <a:pt x="7041336" y="0"/>
                </a:lnTo>
                <a:lnTo>
                  <a:pt x="7041336" y="2641536"/>
                </a:lnTo>
                <a:lnTo>
                  <a:pt x="0" y="2641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526" t="-337231" r="-266361" b="-22898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32124" y="2188759"/>
            <a:ext cx="4562674" cy="57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222" indent="-361611" lvl="1">
              <a:lnSpc>
                <a:spcPts val="4388"/>
              </a:lnSpc>
              <a:buAutoNum type="arabicPeriod" startAt="1"/>
            </a:pPr>
            <a:r>
              <a:rPr lang="en-US" b="true" sz="3349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Data Duplicate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686545" y="1364694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010335" y="2915056"/>
            <a:ext cx="3602716" cy="6343244"/>
          </a:xfrm>
          <a:custGeom>
            <a:avLst/>
            <a:gdLst/>
            <a:ahLst/>
            <a:cxnLst/>
            <a:rect r="r" b="b" t="t" l="l"/>
            <a:pathLst>
              <a:path h="6343244" w="3602716">
                <a:moveTo>
                  <a:pt x="0" y="0"/>
                </a:moveTo>
                <a:lnTo>
                  <a:pt x="3602717" y="0"/>
                </a:lnTo>
                <a:lnTo>
                  <a:pt x="3602717" y="6343244"/>
                </a:lnTo>
                <a:lnTo>
                  <a:pt x="0" y="6343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669" t="-106296" r="-506412" b="-2979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77864" y="3075857"/>
            <a:ext cx="3826084" cy="6021642"/>
          </a:xfrm>
          <a:custGeom>
            <a:avLst/>
            <a:gdLst/>
            <a:ahLst/>
            <a:cxnLst/>
            <a:rect r="r" b="b" t="t" l="l"/>
            <a:pathLst>
              <a:path h="6021642" w="3826084">
                <a:moveTo>
                  <a:pt x="0" y="0"/>
                </a:moveTo>
                <a:lnTo>
                  <a:pt x="3826083" y="0"/>
                </a:lnTo>
                <a:lnTo>
                  <a:pt x="3826083" y="6021642"/>
                </a:lnTo>
                <a:lnTo>
                  <a:pt x="0" y="6021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960262" y="698222"/>
            <a:ext cx="820089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3315" y="3037548"/>
            <a:ext cx="5121369" cy="124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51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Terdapat 1454 missing value pada data description dan 135037 pada data Customer 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10335" y="1900340"/>
            <a:ext cx="4978494" cy="5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674" indent="-357837" lvl="1">
              <a:lnSpc>
                <a:spcPts val="4342"/>
              </a:lnSpc>
              <a:buAutoNum type="arabicPeriod" startAt="1"/>
            </a:pPr>
            <a:r>
              <a:rPr lang="en-US" b="true" sz="3314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Data Missing Value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048750" y="4454000"/>
            <a:ext cx="0" cy="563005"/>
          </a:xfrm>
          <a:prstGeom prst="line">
            <a:avLst/>
          </a:prstGeom>
          <a:ln cap="flat" w="1905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6488065" y="5236080"/>
            <a:ext cx="5121369" cy="124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51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menambahkan description berdasarkan stockcode yang telah ada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048750" y="6695910"/>
            <a:ext cx="0" cy="563005"/>
          </a:xfrm>
          <a:prstGeom prst="line">
            <a:avLst/>
          </a:prstGeom>
          <a:ln cap="flat" w="1905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583315" y="7512274"/>
            <a:ext cx="5121369" cy="16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51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 pada description  menjadi 112 dan memilih membiarkan missing value pada customer ID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686545" y="1364694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960262" y="2873049"/>
            <a:ext cx="7726283" cy="4173814"/>
          </a:xfrm>
          <a:custGeom>
            <a:avLst/>
            <a:gdLst/>
            <a:ahLst/>
            <a:cxnLst/>
            <a:rect r="r" b="b" t="t" l="l"/>
            <a:pathLst>
              <a:path h="4173814" w="7726283">
                <a:moveTo>
                  <a:pt x="0" y="0"/>
                </a:moveTo>
                <a:lnTo>
                  <a:pt x="7726283" y="0"/>
                </a:lnTo>
                <a:lnTo>
                  <a:pt x="7726283" y="4173813"/>
                </a:lnTo>
                <a:lnTo>
                  <a:pt x="0" y="417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161155" y="2909848"/>
            <a:ext cx="6012638" cy="4137014"/>
          </a:xfrm>
          <a:custGeom>
            <a:avLst/>
            <a:gdLst/>
            <a:ahLst/>
            <a:cxnLst/>
            <a:rect r="r" b="b" t="t" l="l"/>
            <a:pathLst>
              <a:path h="4137014" w="6012638">
                <a:moveTo>
                  <a:pt x="0" y="0"/>
                </a:moveTo>
                <a:lnTo>
                  <a:pt x="6012638" y="0"/>
                </a:lnTo>
                <a:lnTo>
                  <a:pt x="6012638" y="4137014"/>
                </a:lnTo>
                <a:lnTo>
                  <a:pt x="0" y="4137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960262" y="698222"/>
            <a:ext cx="820089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Cleaning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62719" y="7496149"/>
            <a:ext cx="5121369" cy="16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51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Tipe data pada kolom InvoiceDate masih menggunakan tipe data datetime[ns]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10335" y="1900340"/>
            <a:ext cx="4978494" cy="5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674" indent="-357837" lvl="1">
              <a:lnSpc>
                <a:spcPts val="4342"/>
              </a:lnSpc>
              <a:buAutoNum type="arabicPeriod" startAt="1"/>
            </a:pPr>
            <a:r>
              <a:rPr lang="en-US" b="true" sz="3314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Ubah Tipe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06789" y="7291362"/>
            <a:ext cx="5121369" cy="16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51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Tipe data InvoiceDate diubah menjadi object sehingga hanya menampilkan tanggal, bulan, dan tahun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3151080" y="13921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69057" y="2770317"/>
            <a:ext cx="12302155" cy="2410876"/>
          </a:xfrm>
          <a:custGeom>
            <a:avLst/>
            <a:gdLst/>
            <a:ahLst/>
            <a:cxnLst/>
            <a:rect r="r" b="b" t="t" l="l"/>
            <a:pathLst>
              <a:path h="2410876" w="12302155">
                <a:moveTo>
                  <a:pt x="0" y="0"/>
                </a:moveTo>
                <a:lnTo>
                  <a:pt x="12302156" y="0"/>
                </a:lnTo>
                <a:lnTo>
                  <a:pt x="12302156" y="2410875"/>
                </a:lnTo>
                <a:lnTo>
                  <a:pt x="0" y="2410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65" t="-189551" r="-14626" b="-11609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9057" y="6239784"/>
            <a:ext cx="12302155" cy="2728314"/>
          </a:xfrm>
          <a:custGeom>
            <a:avLst/>
            <a:gdLst/>
            <a:ahLst/>
            <a:cxnLst/>
            <a:rect r="r" b="b" t="t" l="l"/>
            <a:pathLst>
              <a:path h="2728314" w="12302155">
                <a:moveTo>
                  <a:pt x="0" y="0"/>
                </a:moveTo>
                <a:lnTo>
                  <a:pt x="12302156" y="0"/>
                </a:lnTo>
                <a:lnTo>
                  <a:pt x="12302156" y="2728314"/>
                </a:lnTo>
                <a:lnTo>
                  <a:pt x="0" y="27283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960" t="-116819" r="-5719" b="-11482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26287" y="572441"/>
            <a:ext cx="1207401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Menambahkan Kolom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9699" y="1986015"/>
            <a:ext cx="4978494" cy="5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674" indent="-357837" lvl="1">
              <a:lnSpc>
                <a:spcPts val="4342"/>
              </a:lnSpc>
              <a:buAutoNum type="arabicPeriod" startAt="1"/>
            </a:pPr>
            <a:r>
              <a:rPr lang="en-US" b="true" sz="3314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Kolom Total_Price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26287" y="5457417"/>
            <a:ext cx="7294301" cy="5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674" indent="-357837" lvl="1">
              <a:lnSpc>
                <a:spcPts val="4342"/>
              </a:lnSpc>
              <a:buAutoNum type="arabicPeriod" startAt="1"/>
            </a:pPr>
            <a:r>
              <a:rPr lang="en-US" b="true" sz="3314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Kolom Transaction_Status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0368" y="3037548"/>
            <a:ext cx="2791344" cy="177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"/>
              </a:lnSpc>
            </a:pPr>
            <a:r>
              <a:rPr lang="en-US" sz="2168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Penambahan kolom total_price didapat dari hasil perkalian quantity dan unitprice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40368" y="6315806"/>
            <a:ext cx="3018932" cy="240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1"/>
              </a:lnSpc>
            </a:pPr>
            <a:r>
              <a:rPr lang="en-US" sz="2100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Sedangkan penambahan kolom transaction_status, didapat dari InvioceNo yang memiliki karakter C pada datanya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5233" y="2744702"/>
            <a:ext cx="8010202" cy="2358855"/>
            <a:chOff x="0" y="0"/>
            <a:chExt cx="1888689" cy="556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8689" cy="556184"/>
            </a:xfrm>
            <a:custGeom>
              <a:avLst/>
              <a:gdLst/>
              <a:ahLst/>
              <a:cxnLst/>
              <a:rect r="r" b="b" t="t" l="l"/>
              <a:pathLst>
                <a:path h="556184" w="1888689">
                  <a:moveTo>
                    <a:pt x="203200" y="0"/>
                  </a:moveTo>
                  <a:lnTo>
                    <a:pt x="1888689" y="0"/>
                  </a:lnTo>
                  <a:lnTo>
                    <a:pt x="1685489" y="556184"/>
                  </a:lnTo>
                  <a:lnTo>
                    <a:pt x="0" y="55618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47625"/>
              <a:ext cx="1685489" cy="60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04910" y="3674835"/>
            <a:ext cx="572253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#Top Selling Products </a:t>
            </a:r>
          </a:p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#Total Transactions</a:t>
            </a:r>
          </a:p>
          <a:p>
            <a:pPr algn="just">
              <a:lnSpc>
                <a:spcPts val="33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14435" y="3136848"/>
            <a:ext cx="57225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Sales Perfomance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548747" y="-867668"/>
            <a:ext cx="2562660" cy="1896368"/>
          </a:xfrm>
          <a:custGeom>
            <a:avLst/>
            <a:gdLst/>
            <a:ahLst/>
            <a:cxnLst/>
            <a:rect r="r" b="b" t="t" l="l"/>
            <a:pathLst>
              <a:path h="1896368" w="2562660">
                <a:moveTo>
                  <a:pt x="0" y="0"/>
                </a:moveTo>
                <a:lnTo>
                  <a:pt x="2562660" y="0"/>
                </a:lnTo>
                <a:lnTo>
                  <a:pt x="2562660" y="1896368"/>
                </a:lnTo>
                <a:lnTo>
                  <a:pt x="0" y="1896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77973" y="-867668"/>
            <a:ext cx="2562660" cy="1896368"/>
          </a:xfrm>
          <a:custGeom>
            <a:avLst/>
            <a:gdLst/>
            <a:ahLst/>
            <a:cxnLst/>
            <a:rect r="r" b="b" t="t" l="l"/>
            <a:pathLst>
              <a:path h="1896368" w="2562660">
                <a:moveTo>
                  <a:pt x="0" y="0"/>
                </a:moveTo>
                <a:lnTo>
                  <a:pt x="2562660" y="0"/>
                </a:lnTo>
                <a:lnTo>
                  <a:pt x="2562660" y="1896368"/>
                </a:lnTo>
                <a:lnTo>
                  <a:pt x="0" y="1896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8842695" y="1657572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72600" y="948104"/>
            <a:ext cx="8200893" cy="84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4"/>
              </a:lnSpc>
            </a:pPr>
            <a:r>
              <a:rPr lang="en-US" sz="67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Metrics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56075" y="2699800"/>
            <a:ext cx="8010202" cy="2358855"/>
            <a:chOff x="0" y="0"/>
            <a:chExt cx="1888689" cy="556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8689" cy="556184"/>
            </a:xfrm>
            <a:custGeom>
              <a:avLst/>
              <a:gdLst/>
              <a:ahLst/>
              <a:cxnLst/>
              <a:rect r="r" b="b" t="t" l="l"/>
              <a:pathLst>
                <a:path h="556184" w="1888689">
                  <a:moveTo>
                    <a:pt x="203200" y="0"/>
                  </a:moveTo>
                  <a:lnTo>
                    <a:pt x="1888689" y="0"/>
                  </a:lnTo>
                  <a:lnTo>
                    <a:pt x="1685489" y="556184"/>
                  </a:lnTo>
                  <a:lnTo>
                    <a:pt x="0" y="55618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1685489" cy="60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117525" y="3845126"/>
            <a:ext cx="567872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 Loyal Customer Count</a:t>
            </a:r>
          </a:p>
          <a:p>
            <a:pPr algn="just">
              <a:lnSpc>
                <a:spcPts val="33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128297" y="3255735"/>
            <a:ext cx="603544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Retention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35233" y="6599163"/>
            <a:ext cx="8010202" cy="2358855"/>
            <a:chOff x="0" y="0"/>
            <a:chExt cx="1888689" cy="556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88689" cy="556184"/>
            </a:xfrm>
            <a:custGeom>
              <a:avLst/>
              <a:gdLst/>
              <a:ahLst/>
              <a:cxnLst/>
              <a:rect r="r" b="b" t="t" l="l"/>
              <a:pathLst>
                <a:path h="556184" w="1888689">
                  <a:moveTo>
                    <a:pt x="203200" y="0"/>
                  </a:moveTo>
                  <a:lnTo>
                    <a:pt x="1888689" y="0"/>
                  </a:lnTo>
                  <a:lnTo>
                    <a:pt x="1685489" y="556184"/>
                  </a:lnTo>
                  <a:lnTo>
                    <a:pt x="0" y="55618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47625"/>
              <a:ext cx="1685489" cy="60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564814" y="7037132"/>
            <a:ext cx="616263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 &amp; Return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64814" y="7524291"/>
            <a:ext cx="572253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#Revenue Loss from Returns  </a:t>
            </a:r>
          </a:p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#Most Returned Products</a:t>
            </a:r>
          </a:p>
          <a:p>
            <a:pPr algn="just">
              <a:lnSpc>
                <a:spcPts val="330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847845" y="6599163"/>
            <a:ext cx="8010202" cy="2358855"/>
            <a:chOff x="0" y="0"/>
            <a:chExt cx="1888689" cy="556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88689" cy="556184"/>
            </a:xfrm>
            <a:custGeom>
              <a:avLst/>
              <a:gdLst/>
              <a:ahLst/>
              <a:cxnLst/>
              <a:rect r="r" b="b" t="t" l="l"/>
              <a:pathLst>
                <a:path h="556184" w="1888689">
                  <a:moveTo>
                    <a:pt x="203200" y="0"/>
                  </a:moveTo>
                  <a:lnTo>
                    <a:pt x="1888689" y="0"/>
                  </a:lnTo>
                  <a:lnTo>
                    <a:pt x="1685489" y="556184"/>
                  </a:lnTo>
                  <a:lnTo>
                    <a:pt x="0" y="55618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47625"/>
              <a:ext cx="1685489" cy="603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117525" y="7539011"/>
            <a:ext cx="567872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#Top Purchasing Countries</a:t>
            </a:r>
          </a:p>
          <a:p>
            <a:pPr algn="just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#Country-wise Revenue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28297" y="7037132"/>
            <a:ext cx="603544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Geographic Metrics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945924" y="3483525"/>
            <a:ext cx="6294091" cy="2893812"/>
          </a:xfrm>
          <a:custGeom>
            <a:avLst/>
            <a:gdLst/>
            <a:ahLst/>
            <a:cxnLst/>
            <a:rect r="r" b="b" t="t" l="l"/>
            <a:pathLst>
              <a:path h="2893812" w="6294091">
                <a:moveTo>
                  <a:pt x="0" y="0"/>
                </a:moveTo>
                <a:lnTo>
                  <a:pt x="6294091" y="0"/>
                </a:lnTo>
                <a:lnTo>
                  <a:pt x="6294091" y="2893812"/>
                </a:lnTo>
                <a:lnTo>
                  <a:pt x="0" y="289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353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377242" y="6796437"/>
            <a:ext cx="10735227" cy="2381122"/>
          </a:xfrm>
          <a:custGeom>
            <a:avLst/>
            <a:gdLst/>
            <a:ahLst/>
            <a:cxnLst/>
            <a:rect r="r" b="b" t="t" l="l"/>
            <a:pathLst>
              <a:path h="2381122" w="10735227">
                <a:moveTo>
                  <a:pt x="0" y="0"/>
                </a:moveTo>
                <a:lnTo>
                  <a:pt x="10735227" y="0"/>
                </a:lnTo>
                <a:lnTo>
                  <a:pt x="10735227" y="2381122"/>
                </a:lnTo>
                <a:lnTo>
                  <a:pt x="0" y="2381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386" t="-384408" r="-97617" b="-17778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5924" y="2259421"/>
            <a:ext cx="14148709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top selling product berdasarkan total transaksi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385090"/>
            <a:ext cx="7367644" cy="3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00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product WORLD WAR 2 GLIDERS ASSTD DESIGNS memiliki jumlah transaksi terbanyak sehingga dapat mengoptimalkan stok dan pemasaran barang tersebut</a:t>
            </a:r>
          </a:p>
          <a:p>
            <a:pPr algn="l">
              <a:lnSpc>
                <a:spcPts val="393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60262" y="3158584"/>
            <a:ext cx="5613592" cy="3493774"/>
          </a:xfrm>
          <a:custGeom>
            <a:avLst/>
            <a:gdLst/>
            <a:ahLst/>
            <a:cxnLst/>
            <a:rect r="r" b="b" t="t" l="l"/>
            <a:pathLst>
              <a:path h="3493774" w="5613592">
                <a:moveTo>
                  <a:pt x="0" y="0"/>
                </a:moveTo>
                <a:lnTo>
                  <a:pt x="5613592" y="0"/>
                </a:lnTo>
                <a:lnTo>
                  <a:pt x="5613592" y="3493774"/>
                </a:lnTo>
                <a:lnTo>
                  <a:pt x="0" y="349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079095" y="3308890"/>
            <a:ext cx="8260366" cy="3068136"/>
          </a:xfrm>
          <a:custGeom>
            <a:avLst/>
            <a:gdLst/>
            <a:ahLst/>
            <a:cxnLst/>
            <a:rect r="r" b="b" t="t" l="l"/>
            <a:pathLst>
              <a:path h="3068136" w="8260366">
                <a:moveTo>
                  <a:pt x="0" y="0"/>
                </a:moveTo>
                <a:lnTo>
                  <a:pt x="8260366" y="0"/>
                </a:lnTo>
                <a:lnTo>
                  <a:pt x="8260366" y="3068136"/>
                </a:lnTo>
                <a:lnTo>
                  <a:pt x="0" y="3068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565" t="-342187" r="-178424" b="-13832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5924" y="2183221"/>
            <a:ext cx="14148709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Loyal Customer Count berdasarkan pengeluaran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63605" y="7147658"/>
            <a:ext cx="14275857" cy="20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00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Customer yang sering melakukan pembelian yakni dengan id:1464 yang berdomisili di negara Netherland, hal ini dapat digunakan untuk pemasaran secara terpesonalisasikan </a:t>
            </a:r>
          </a:p>
          <a:p>
            <a:pPr algn="l">
              <a:lnSpc>
                <a:spcPts val="3938"/>
              </a:lnSpc>
            </a:pP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00004" y="3737961"/>
            <a:ext cx="5729585" cy="2811078"/>
          </a:xfrm>
          <a:custGeom>
            <a:avLst/>
            <a:gdLst/>
            <a:ahLst/>
            <a:cxnLst/>
            <a:rect r="r" b="b" t="t" l="l"/>
            <a:pathLst>
              <a:path h="2811078" w="5729585">
                <a:moveTo>
                  <a:pt x="0" y="0"/>
                </a:moveTo>
                <a:lnTo>
                  <a:pt x="5729586" y="0"/>
                </a:lnTo>
                <a:lnTo>
                  <a:pt x="5729586" y="2811078"/>
                </a:lnTo>
                <a:lnTo>
                  <a:pt x="0" y="2811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705431" y="3506750"/>
            <a:ext cx="7778028" cy="3396574"/>
          </a:xfrm>
          <a:custGeom>
            <a:avLst/>
            <a:gdLst/>
            <a:ahLst/>
            <a:cxnLst/>
            <a:rect r="r" b="b" t="t" l="l"/>
            <a:pathLst>
              <a:path h="3396574" w="7778028">
                <a:moveTo>
                  <a:pt x="0" y="0"/>
                </a:moveTo>
                <a:lnTo>
                  <a:pt x="7778028" y="0"/>
                </a:lnTo>
                <a:lnTo>
                  <a:pt x="7778028" y="3396574"/>
                </a:lnTo>
                <a:lnTo>
                  <a:pt x="0" y="3396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5924" y="2257257"/>
            <a:ext cx="13708649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revenue loss berdasarkan kegagalan transaksi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14279" y="7252424"/>
            <a:ext cx="15059296" cy="20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00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 terdapat 8,6 persen pembatalan transaksi dari total pendapatan kotor sehingga bisa menjadi warning perusahaan terhadap revenue loss dan penurunan loyalitas pelanggan.</a:t>
            </a:r>
          </a:p>
          <a:p>
            <a:pPr algn="l">
              <a:lnSpc>
                <a:spcPts val="3938"/>
              </a:lnSpc>
            </a:pP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32688" y="6540014"/>
            <a:ext cx="10646618" cy="2718286"/>
          </a:xfrm>
          <a:custGeom>
            <a:avLst/>
            <a:gdLst/>
            <a:ahLst/>
            <a:cxnLst/>
            <a:rect r="r" b="b" t="t" l="l"/>
            <a:pathLst>
              <a:path h="2718286" w="10646618">
                <a:moveTo>
                  <a:pt x="0" y="0"/>
                </a:moveTo>
                <a:lnTo>
                  <a:pt x="10646619" y="0"/>
                </a:lnTo>
                <a:lnTo>
                  <a:pt x="10646619" y="2718286"/>
                </a:lnTo>
                <a:lnTo>
                  <a:pt x="0" y="2718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221" t="-399142" r="-125253" b="-18009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25532" y="3141847"/>
            <a:ext cx="7230465" cy="2988592"/>
          </a:xfrm>
          <a:custGeom>
            <a:avLst/>
            <a:gdLst/>
            <a:ahLst/>
            <a:cxnLst/>
            <a:rect r="r" b="b" t="t" l="l"/>
            <a:pathLst>
              <a:path h="2988592" w="7230465">
                <a:moveTo>
                  <a:pt x="0" y="0"/>
                </a:moveTo>
                <a:lnTo>
                  <a:pt x="7230465" y="0"/>
                </a:lnTo>
                <a:lnTo>
                  <a:pt x="7230465" y="2988592"/>
                </a:lnTo>
                <a:lnTo>
                  <a:pt x="0" y="298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322" t="-184999" r="-96485" b="-15321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5924" y="2164171"/>
            <a:ext cx="12464856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Most Returned Products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8679" y="3084697"/>
            <a:ext cx="6415488" cy="295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4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product WHITE HANGING HEART T-LIGHT HOLDER merupakan produk yang sering direturn sehingga perusahaan dapat mengurangi stok atau melakukan evaluasi terhadap kualitas produk dan kepuasan pelanggan.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004596" y="3141847"/>
            <a:ext cx="3957867" cy="3883190"/>
          </a:xfrm>
          <a:custGeom>
            <a:avLst/>
            <a:gdLst/>
            <a:ahLst/>
            <a:cxnLst/>
            <a:rect r="r" b="b" t="t" l="l"/>
            <a:pathLst>
              <a:path h="3883190" w="3957867">
                <a:moveTo>
                  <a:pt x="0" y="0"/>
                </a:moveTo>
                <a:lnTo>
                  <a:pt x="3957867" y="0"/>
                </a:lnTo>
                <a:lnTo>
                  <a:pt x="3957867" y="3883190"/>
                </a:lnTo>
                <a:lnTo>
                  <a:pt x="0" y="3883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034330" y="3141847"/>
            <a:ext cx="8060303" cy="3864301"/>
          </a:xfrm>
          <a:custGeom>
            <a:avLst/>
            <a:gdLst/>
            <a:ahLst/>
            <a:cxnLst/>
            <a:rect r="r" b="b" t="t" l="l"/>
            <a:pathLst>
              <a:path h="3864301" w="8060303">
                <a:moveTo>
                  <a:pt x="0" y="0"/>
                </a:moveTo>
                <a:lnTo>
                  <a:pt x="8060303" y="0"/>
                </a:lnTo>
                <a:lnTo>
                  <a:pt x="8060303" y="3864302"/>
                </a:lnTo>
                <a:lnTo>
                  <a:pt x="0" y="386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5924" y="2164171"/>
            <a:ext cx="12464856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Data penjulan perhari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4596" y="7663212"/>
            <a:ext cx="13090037" cy="128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546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perusahaan dapat melihat transaksi perbulan sehingga perusahaan dapat menentukan momentum paling strategis dalam menyelenggarakan promo atau event untuk mendongkrak penjualan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125975" y="3366040"/>
            <a:ext cx="4781203" cy="4225249"/>
          </a:xfrm>
          <a:custGeom>
            <a:avLst/>
            <a:gdLst/>
            <a:ahLst/>
            <a:cxnLst/>
            <a:rect r="r" b="b" t="t" l="l"/>
            <a:pathLst>
              <a:path h="4225249" w="4781203">
                <a:moveTo>
                  <a:pt x="0" y="0"/>
                </a:moveTo>
                <a:lnTo>
                  <a:pt x="4781204" y="0"/>
                </a:lnTo>
                <a:lnTo>
                  <a:pt x="4781204" y="4225249"/>
                </a:lnTo>
                <a:lnTo>
                  <a:pt x="0" y="4225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867" t="-138800" r="-300794" b="-18105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22799" y="3242795"/>
            <a:ext cx="7262592" cy="3991910"/>
          </a:xfrm>
          <a:custGeom>
            <a:avLst/>
            <a:gdLst/>
            <a:ahLst/>
            <a:cxnLst/>
            <a:rect r="r" b="b" t="t" l="l"/>
            <a:pathLst>
              <a:path h="3991910" w="7262592">
                <a:moveTo>
                  <a:pt x="0" y="0"/>
                </a:moveTo>
                <a:lnTo>
                  <a:pt x="7262592" y="0"/>
                </a:lnTo>
                <a:lnTo>
                  <a:pt x="7262592" y="3991910"/>
                </a:lnTo>
                <a:lnTo>
                  <a:pt x="0" y="3991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0061" y="1976540"/>
            <a:ext cx="14148709" cy="110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 Tampilkan Top Purchasing Countries berdasarkan total transaksi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43440" y="7953239"/>
            <a:ext cx="12941951" cy="169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559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Netherlands merupakan negara dengan transaksi pembelian terbanyak sehingga perusahaan dapat memprioritaskan strategi pemasaran dan mempertahankan loyalitas pelanggan di negara tersebut.</a:t>
            </a:r>
          </a:p>
          <a:p>
            <a:pPr algn="l">
              <a:lnSpc>
                <a:spcPts val="3353"/>
              </a:lnSpc>
            </a:pP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B547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43440" y="3147545"/>
            <a:ext cx="4896038" cy="3973792"/>
          </a:xfrm>
          <a:custGeom>
            <a:avLst/>
            <a:gdLst/>
            <a:ahLst/>
            <a:cxnLst/>
            <a:rect r="r" b="b" t="t" l="l"/>
            <a:pathLst>
              <a:path h="3973792" w="4896038">
                <a:moveTo>
                  <a:pt x="0" y="0"/>
                </a:moveTo>
                <a:lnTo>
                  <a:pt x="4896038" y="0"/>
                </a:lnTo>
                <a:lnTo>
                  <a:pt x="4896038" y="3973792"/>
                </a:lnTo>
                <a:lnTo>
                  <a:pt x="0" y="3973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094555" y="3192324"/>
            <a:ext cx="7435902" cy="3929014"/>
          </a:xfrm>
          <a:custGeom>
            <a:avLst/>
            <a:gdLst/>
            <a:ahLst/>
            <a:cxnLst/>
            <a:rect r="r" b="b" t="t" l="l"/>
            <a:pathLst>
              <a:path h="3929014" w="7435902">
                <a:moveTo>
                  <a:pt x="0" y="0"/>
                </a:moveTo>
                <a:lnTo>
                  <a:pt x="7435902" y="0"/>
                </a:lnTo>
                <a:lnTo>
                  <a:pt x="7435902" y="3929013"/>
                </a:lnTo>
                <a:lnTo>
                  <a:pt x="0" y="392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960262" y="698222"/>
            <a:ext cx="9893833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SQL, Python &amp; EDA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45924" y="2164171"/>
            <a:ext cx="12464856" cy="5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470" indent="-354735" lvl="1">
              <a:lnSpc>
                <a:spcPts val="4304"/>
              </a:lnSpc>
              <a:buAutoNum type="arabicPeriod" startAt="1"/>
            </a:pPr>
            <a:r>
              <a:rPr lang="en-US" b="true" sz="3286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Tampilkan Country-wise Revenue berdasarkan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43440" y="7654737"/>
            <a:ext cx="12941951" cy="169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559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: Netherlands merupakan negara dengan transaksi pembelian terbanyak sehingga perusahaan dapat memprioritaskan strategi pemasaran dan mempertahankan loyalitas pelanggan di negara tersebut.</a:t>
            </a:r>
          </a:p>
          <a:p>
            <a:pPr algn="l">
              <a:lnSpc>
                <a:spcPts val="3353"/>
              </a:lnSpc>
            </a:pPr>
          </a:p>
        </p:txBody>
      </p:sp>
      <p:sp>
        <p:nvSpPr>
          <p:cNvPr name="AutoShape 18" id="18"/>
          <p:cNvSpPr/>
          <p:nvPr/>
        </p:nvSpPr>
        <p:spPr>
          <a:xfrm>
            <a:off x="11122310" y="1410716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1284916" cy="651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4916" cy="651507"/>
            </a:xfrm>
            <a:custGeom>
              <a:avLst/>
              <a:gdLst/>
              <a:ahLst/>
              <a:cxnLst/>
              <a:rect r="r" b="b" t="t" l="l"/>
              <a:pathLst>
                <a:path h="651507" w="1284916">
                  <a:moveTo>
                    <a:pt x="9316" y="0"/>
                  </a:moveTo>
                  <a:lnTo>
                    <a:pt x="1275599" y="0"/>
                  </a:lnTo>
                  <a:cubicBezTo>
                    <a:pt x="1280745" y="0"/>
                    <a:pt x="1284916" y="4171"/>
                    <a:pt x="1284916" y="9316"/>
                  </a:cubicBezTo>
                  <a:lnTo>
                    <a:pt x="1284916" y="642190"/>
                  </a:lnTo>
                  <a:cubicBezTo>
                    <a:pt x="1284916" y="647336"/>
                    <a:pt x="1280745" y="651507"/>
                    <a:pt x="1275599" y="651507"/>
                  </a:cubicBezTo>
                  <a:lnTo>
                    <a:pt x="9316" y="651507"/>
                  </a:lnTo>
                  <a:cubicBezTo>
                    <a:pt x="4171" y="651507"/>
                    <a:pt x="0" y="647336"/>
                    <a:pt x="0" y="642190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FFB547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4916" cy="699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67574" y="-793824"/>
            <a:ext cx="11234205" cy="3500433"/>
            <a:chOff x="0" y="0"/>
            <a:chExt cx="889370" cy="2771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370" cy="277116"/>
            </a:xfrm>
            <a:custGeom>
              <a:avLst/>
              <a:gdLst/>
              <a:ahLst/>
              <a:cxnLst/>
              <a:rect r="r" b="b" t="t" l="l"/>
              <a:pathLst>
                <a:path h="277116" w="889370">
                  <a:moveTo>
                    <a:pt x="13460" y="0"/>
                  </a:moveTo>
                  <a:lnTo>
                    <a:pt x="875910" y="0"/>
                  </a:lnTo>
                  <a:cubicBezTo>
                    <a:pt x="879480" y="0"/>
                    <a:pt x="882903" y="1418"/>
                    <a:pt x="885428" y="3942"/>
                  </a:cubicBezTo>
                  <a:cubicBezTo>
                    <a:pt x="887952" y="6466"/>
                    <a:pt x="889370" y="9890"/>
                    <a:pt x="889370" y="13460"/>
                  </a:cubicBezTo>
                  <a:lnTo>
                    <a:pt x="889370" y="263656"/>
                  </a:lnTo>
                  <a:cubicBezTo>
                    <a:pt x="889370" y="267226"/>
                    <a:pt x="887952" y="270650"/>
                    <a:pt x="885428" y="273174"/>
                  </a:cubicBezTo>
                  <a:cubicBezTo>
                    <a:pt x="882903" y="275698"/>
                    <a:pt x="879480" y="277116"/>
                    <a:pt x="875910" y="277116"/>
                  </a:cubicBezTo>
                  <a:lnTo>
                    <a:pt x="13460" y="277116"/>
                  </a:lnTo>
                  <a:cubicBezTo>
                    <a:pt x="9890" y="277116"/>
                    <a:pt x="6466" y="275698"/>
                    <a:pt x="3942" y="273174"/>
                  </a:cubicBezTo>
                  <a:cubicBezTo>
                    <a:pt x="1418" y="270650"/>
                    <a:pt x="0" y="267226"/>
                    <a:pt x="0" y="263656"/>
                  </a:cubicBezTo>
                  <a:lnTo>
                    <a:pt x="0" y="13460"/>
                  </a:lnTo>
                  <a:cubicBezTo>
                    <a:pt x="0" y="9890"/>
                    <a:pt x="1418" y="6466"/>
                    <a:pt x="3942" y="3942"/>
                  </a:cubicBezTo>
                  <a:cubicBezTo>
                    <a:pt x="6466" y="1418"/>
                    <a:pt x="9890" y="0"/>
                    <a:pt x="1346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4A7BA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89370" cy="324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0605" y="8982560"/>
            <a:ext cx="3343998" cy="458320"/>
            <a:chOff x="0" y="0"/>
            <a:chExt cx="688065" cy="94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065" cy="94304"/>
            </a:xfrm>
            <a:custGeom>
              <a:avLst/>
              <a:gdLst/>
              <a:ahLst/>
              <a:cxnLst/>
              <a:rect r="r" b="b" t="t" l="l"/>
              <a:pathLst>
                <a:path h="94304" w="688065">
                  <a:moveTo>
                    <a:pt x="45218" y="0"/>
                  </a:moveTo>
                  <a:lnTo>
                    <a:pt x="642847" y="0"/>
                  </a:lnTo>
                  <a:cubicBezTo>
                    <a:pt x="667821" y="0"/>
                    <a:pt x="688065" y="20245"/>
                    <a:pt x="688065" y="45218"/>
                  </a:cubicBezTo>
                  <a:lnTo>
                    <a:pt x="688065" y="49086"/>
                  </a:lnTo>
                  <a:cubicBezTo>
                    <a:pt x="688065" y="74060"/>
                    <a:pt x="667821" y="94304"/>
                    <a:pt x="642847" y="94304"/>
                  </a:cubicBezTo>
                  <a:lnTo>
                    <a:pt x="45218" y="94304"/>
                  </a:lnTo>
                  <a:cubicBezTo>
                    <a:pt x="20245" y="94304"/>
                    <a:pt x="0" y="74060"/>
                    <a:pt x="0" y="49086"/>
                  </a:cubicBezTo>
                  <a:lnTo>
                    <a:pt x="0" y="45218"/>
                  </a:lnTo>
                  <a:cubicBezTo>
                    <a:pt x="0" y="20245"/>
                    <a:pt x="20245" y="0"/>
                    <a:pt x="4521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A7BA7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88065" cy="14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63397" y="8965333"/>
            <a:ext cx="3343998" cy="458320"/>
            <a:chOff x="0" y="0"/>
            <a:chExt cx="688065" cy="943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065" cy="94304"/>
            </a:xfrm>
            <a:custGeom>
              <a:avLst/>
              <a:gdLst/>
              <a:ahLst/>
              <a:cxnLst/>
              <a:rect r="r" b="b" t="t" l="l"/>
              <a:pathLst>
                <a:path h="94304" w="688065">
                  <a:moveTo>
                    <a:pt x="45218" y="0"/>
                  </a:moveTo>
                  <a:lnTo>
                    <a:pt x="642847" y="0"/>
                  </a:lnTo>
                  <a:cubicBezTo>
                    <a:pt x="667821" y="0"/>
                    <a:pt x="688065" y="20245"/>
                    <a:pt x="688065" y="45218"/>
                  </a:cubicBezTo>
                  <a:lnTo>
                    <a:pt x="688065" y="49086"/>
                  </a:lnTo>
                  <a:cubicBezTo>
                    <a:pt x="688065" y="74060"/>
                    <a:pt x="667821" y="94304"/>
                    <a:pt x="642847" y="94304"/>
                  </a:cubicBezTo>
                  <a:lnTo>
                    <a:pt x="45218" y="94304"/>
                  </a:lnTo>
                  <a:cubicBezTo>
                    <a:pt x="20245" y="94304"/>
                    <a:pt x="0" y="74060"/>
                    <a:pt x="0" y="49086"/>
                  </a:cubicBezTo>
                  <a:lnTo>
                    <a:pt x="0" y="45218"/>
                  </a:lnTo>
                  <a:cubicBezTo>
                    <a:pt x="0" y="20245"/>
                    <a:pt x="20245" y="0"/>
                    <a:pt x="4521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A7BA7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88065" cy="14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040105" y="1077667"/>
            <a:ext cx="1486793" cy="846120"/>
          </a:xfrm>
          <a:custGeom>
            <a:avLst/>
            <a:gdLst/>
            <a:ahLst/>
            <a:cxnLst/>
            <a:rect r="r" b="b" t="t" l="l"/>
            <a:pathLst>
              <a:path h="846120" w="1486793">
                <a:moveTo>
                  <a:pt x="1486793" y="0"/>
                </a:moveTo>
                <a:lnTo>
                  <a:pt x="0" y="0"/>
                </a:lnTo>
                <a:lnTo>
                  <a:pt x="0" y="846120"/>
                </a:lnTo>
                <a:lnTo>
                  <a:pt x="1486793" y="846120"/>
                </a:lnTo>
                <a:lnTo>
                  <a:pt x="14867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61102" y="1077667"/>
            <a:ext cx="1486793" cy="846120"/>
          </a:xfrm>
          <a:custGeom>
            <a:avLst/>
            <a:gdLst/>
            <a:ahLst/>
            <a:cxnLst/>
            <a:rect r="r" b="b" t="t" l="l"/>
            <a:pathLst>
              <a:path h="846120" w="1486793">
                <a:moveTo>
                  <a:pt x="0" y="0"/>
                </a:moveTo>
                <a:lnTo>
                  <a:pt x="1486793" y="0"/>
                </a:lnTo>
                <a:lnTo>
                  <a:pt x="1486793" y="846120"/>
                </a:lnTo>
                <a:lnTo>
                  <a:pt x="0" y="84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907791" y="9440880"/>
            <a:ext cx="376886" cy="256790"/>
            <a:chOff x="0" y="0"/>
            <a:chExt cx="99262" cy="67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262" cy="67632"/>
            </a:xfrm>
            <a:custGeom>
              <a:avLst/>
              <a:gdLst/>
              <a:ahLst/>
              <a:cxnLst/>
              <a:rect r="r" b="b" t="t" l="l"/>
              <a:pathLst>
                <a:path h="67632" w="99262">
                  <a:moveTo>
                    <a:pt x="0" y="0"/>
                  </a:moveTo>
                  <a:lnTo>
                    <a:pt x="99262" y="0"/>
                  </a:lnTo>
                  <a:lnTo>
                    <a:pt x="99262" y="67632"/>
                  </a:lnTo>
                  <a:lnTo>
                    <a:pt x="0" y="67632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9262" cy="11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95571" y="9440880"/>
            <a:ext cx="376886" cy="256790"/>
            <a:chOff x="0" y="0"/>
            <a:chExt cx="99262" cy="676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262" cy="67632"/>
            </a:xfrm>
            <a:custGeom>
              <a:avLst/>
              <a:gdLst/>
              <a:ahLst/>
              <a:cxnLst/>
              <a:rect r="r" b="b" t="t" l="l"/>
              <a:pathLst>
                <a:path h="67632" w="99262">
                  <a:moveTo>
                    <a:pt x="0" y="0"/>
                  </a:moveTo>
                  <a:lnTo>
                    <a:pt x="99262" y="0"/>
                  </a:lnTo>
                  <a:lnTo>
                    <a:pt x="99262" y="67632"/>
                  </a:lnTo>
                  <a:lnTo>
                    <a:pt x="0" y="67632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9262" cy="11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18027" y="9440880"/>
            <a:ext cx="376886" cy="256790"/>
            <a:chOff x="0" y="0"/>
            <a:chExt cx="99262" cy="67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262" cy="67632"/>
            </a:xfrm>
            <a:custGeom>
              <a:avLst/>
              <a:gdLst/>
              <a:ahLst/>
              <a:cxnLst/>
              <a:rect r="r" b="b" t="t" l="l"/>
              <a:pathLst>
                <a:path h="67632" w="99262">
                  <a:moveTo>
                    <a:pt x="0" y="0"/>
                  </a:moveTo>
                  <a:lnTo>
                    <a:pt x="99262" y="0"/>
                  </a:lnTo>
                  <a:lnTo>
                    <a:pt x="99262" y="67632"/>
                  </a:lnTo>
                  <a:lnTo>
                    <a:pt x="0" y="67632"/>
                  </a:lnTo>
                  <a:close/>
                </a:path>
              </a:pathLst>
            </a:custGeom>
            <a:solidFill>
              <a:srgbClr val="10407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9262" cy="115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337760" y="1156417"/>
            <a:ext cx="9893833" cy="88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4"/>
              </a:lnSpc>
            </a:pPr>
            <a:r>
              <a:rPr lang="en-US" sz="71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Recommendation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2557" y="3025637"/>
            <a:ext cx="15544240" cy="557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b="true" sz="2233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 Optimalisasi Produk &amp; Manajemen Stok 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sz="223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Maksimalkan Potensi top selling product dengan lakukan bundling (paket hemat) antara produk terlaris (WORLD WAR 2 GLIDERS ASSTD DESIGNS) dengan produk yang kurang populer untuk menghabiskan stok lainnya, serta memastikan ketersediaan stok dari produk tersebut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b="true" sz="2233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 Pemasaran Berbasis Geografis &amp; Personalisasi 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sz="223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Alokasikan mayoritas anggaran pemasaran internasional ke pasar Netherlands.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sz="223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Dekati Customer ID: 1464 secara personal melalui email/kontak langsung daan berikan penawaran eksklusif, akses awal ke produk baru, atau reward khusus  sebagai reward agar pelanggan tetap setia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b="true" sz="2233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 Penjadwalan Promo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sz="223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Gunakan pola transaksi bulanan untuk memetakan peak season (bulan ramai) dan low season (bulan sepi) sehingga dapat mengetahu waktu yang tepat untuk melakukan promo atau event khusus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b="true" sz="2233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 Pengendalian Risiko</a:t>
            </a:r>
          </a:p>
          <a:p>
            <a:pPr algn="l" marL="482249" indent="-241125" lvl="1">
              <a:lnSpc>
                <a:spcPts val="2926"/>
              </a:lnSpc>
              <a:buFont typeface="Arial"/>
              <a:buChar char="•"/>
            </a:pPr>
            <a:r>
              <a:rPr lang="en-US" sz="223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Angka pembatalan transaksi sebesar 8,6% warning bagi pendapatan kotor perusahaan maka perusahaan membutuhkan feedback dari pelanggan sehingga mudah menyelidiki alasan utama pembatalan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33563" y="-4920537"/>
            <a:ext cx="8451658" cy="84516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1002" t="0" r="-3677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95029" y="1944835"/>
            <a:ext cx="7279059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Kesimpulan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8369" y="3908555"/>
            <a:ext cx="14553212" cy="534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894" indent="-319947" lvl="1">
              <a:lnSpc>
                <a:spcPts val="3882"/>
              </a:lnSpc>
              <a:buFont typeface="Arial"/>
              <a:buChar char="•"/>
            </a:pPr>
            <a:r>
              <a:rPr lang="en-US" sz="2963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Perusahaan dapat mengoptimalkan keuntungan dengan memprioritaskan pasar utama (Netherlands) melalui promosi bulanan yang tepat waktu dan pendekatan personal ke pelanggan loyal ( ID: 1464 ) serta memaksimalkan stok produk terlaris (WORLD WAR 2 GLIDERS ASSTD DESIGNS). </a:t>
            </a:r>
          </a:p>
          <a:p>
            <a:pPr algn="l" marL="639894" indent="-319947" lvl="1">
              <a:lnSpc>
                <a:spcPts val="3882"/>
              </a:lnSpc>
              <a:buFont typeface="Arial"/>
              <a:buChar char="•"/>
            </a:pPr>
            <a:r>
              <a:rPr lang="en-US" sz="2963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Perusahaan juga perlu melakukan mitigasi risiko berupa evaluasi kualitas produk yang sering diretur untuk menekan angka pembatalan transaksi sebesar 8,6% demi mencegah kehilangan pendapatan.</a:t>
            </a:r>
          </a:p>
          <a:p>
            <a:pPr algn="l" marL="639894" indent="-319947" lvl="1">
              <a:lnSpc>
                <a:spcPts val="3882"/>
              </a:lnSpc>
              <a:buFont typeface="Arial"/>
              <a:buChar char="•"/>
            </a:pPr>
            <a:r>
              <a:rPr lang="en-US" sz="2963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Analisis data diperlukan untuk memastikan data tetap relevan dan konsisten, sehingga memudahkan manajemen perusaahan dalam mengambil keputusan yang tepat.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7547" y="3845693"/>
            <a:ext cx="12587979" cy="227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11"/>
              </a:lnSpc>
            </a:pPr>
            <a:r>
              <a:rPr lang="en-US" sz="180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87547" y="5614734"/>
            <a:ext cx="13112905" cy="130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1"/>
              </a:lnSpc>
            </a:pPr>
            <a:r>
              <a:rPr lang="en-US" sz="10416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Your Attention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25628" y="437502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7014" y="-74128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23847"/>
            <a:ext cx="660985" cy="462690"/>
          </a:xfrm>
          <a:custGeom>
            <a:avLst/>
            <a:gdLst/>
            <a:ahLst/>
            <a:cxnLst/>
            <a:rect r="r" b="b" t="t" l="l"/>
            <a:pathLst>
              <a:path h="462690" w="660985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29557" y="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DAHKK_uZcWQ</dc:identifier>
  <dcterms:modified xsi:type="dcterms:W3CDTF">2011-08-01T06:04:30Z</dcterms:modified>
  <cp:revision>1</cp:revision>
  <dc:title>Blue Yellow Modern Geometry Data Analytics Presentation</dc:title>
</cp:coreProperties>
</file>