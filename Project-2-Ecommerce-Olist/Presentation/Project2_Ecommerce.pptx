
<file path=[Content_Types].xml><?xml version="1.0" encoding="utf-8"?>
<Types xmlns="http://schemas.openxmlformats.org/package/2006/content-types">
  <Default ContentType="application/vnd.openxmlformats-officedocument.oleObject" Extension="bin"/>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Lst>
  <p:sldSz cx="18288000" cy="10287000"/>
  <p:notesSz cx="6858000" cy="9144000"/>
  <p:embeddedFontLst>
    <p:embeddedFont>
      <p:font typeface="TT Chocolates" charset="1" panose="02000503020000020003"/>
      <p:regular r:id="rId38"/>
    </p:embeddedFont>
    <p:embeddedFont>
      <p:font typeface="Anton" charset="1" panose="00000500000000000000"/>
      <p:regular r:id="rId39"/>
    </p:embeddedFont>
    <p:embeddedFont>
      <p:font typeface="TT Chocolates Bold" charset="1" panose="02000803020000020003"/>
      <p:regular r:id="rId40"/>
    </p:embeddedFont>
    <p:embeddedFont>
      <p:font typeface="TT Chocolates Ultra-Bold" charset="1" panose="02000903040000020003"/>
      <p:regular r:id="rId41"/>
    </p:embeddedFont>
    <p:embeddedFont>
      <p:font typeface="Questrial" charset="1" panose="02000000000000000000"/>
      <p:regular r:id="rId42"/>
    </p:embeddedFont>
    <p:embeddedFont>
      <p:font typeface="Canva Sans Bold" charset="1" panose="020B0803030501040103"/>
      <p:regular r:id="rId43"/>
    </p:embeddedFont>
    <p:embeddedFont>
      <p:font typeface="Canva Sans" charset="1" panose="020B0503030501040103"/>
      <p:regular r:id="rId44"/>
    </p:embeddedFont>
    <p:embeddedFont>
      <p:font typeface="Telegraf Bold" charset="1" panose="00000800000000000000"/>
      <p:regular r:id="rId45"/>
    </p:embeddedFont>
    <p:embeddedFont>
      <p:font typeface="Telegraf Medium" charset="1" panose="00000600000000000000"/>
      <p:regular r:id="rId46"/>
    </p:embeddedFont>
    <p:embeddedFont>
      <p:font typeface="TT Chocolates Bold Italics" charset="1" panose="02000803030000090003"/>
      <p:regular r:id="rId47"/>
    </p:embeddedFont>
    <p:embeddedFont>
      <p:font typeface="TT Chocolates Italics" charset="1" panose="02000503020000090003"/>
      <p:regular r:id="rId4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slides/slide30.xml" Type="http://schemas.openxmlformats.org/officeDocument/2006/relationships/slide"/><Relationship Id="rId36" Target="slides/slide31.xml" Type="http://schemas.openxmlformats.org/officeDocument/2006/relationships/slide"/><Relationship Id="rId37" Target="slides/slide32.xml" Type="http://schemas.openxmlformats.org/officeDocument/2006/relationships/slide"/><Relationship Id="rId38" Target="fonts/font38.fntdata" Type="http://schemas.openxmlformats.org/officeDocument/2006/relationships/font"/><Relationship Id="rId39" Target="fonts/font39.fntdata" Type="http://schemas.openxmlformats.org/officeDocument/2006/relationships/font"/><Relationship Id="rId4" Target="theme/theme1.xml" Type="http://schemas.openxmlformats.org/officeDocument/2006/relationships/theme"/><Relationship Id="rId40" Target="fonts/font40.fntdata" Type="http://schemas.openxmlformats.org/officeDocument/2006/relationships/font"/><Relationship Id="rId41" Target="fonts/font41.fntdata" Type="http://schemas.openxmlformats.org/officeDocument/2006/relationships/font"/><Relationship Id="rId42" Target="fonts/font42.fntdata" Type="http://schemas.openxmlformats.org/officeDocument/2006/relationships/font"/><Relationship Id="rId43" Target="fonts/font43.fntdata" Type="http://schemas.openxmlformats.org/officeDocument/2006/relationships/font"/><Relationship Id="rId44" Target="fonts/font44.fntdata" Type="http://schemas.openxmlformats.org/officeDocument/2006/relationships/font"/><Relationship Id="rId45" Target="fonts/font45.fntdata" Type="http://schemas.openxmlformats.org/officeDocument/2006/relationships/font"/><Relationship Id="rId46" Target="fonts/font46.fntdata" Type="http://schemas.openxmlformats.org/officeDocument/2006/relationships/font"/><Relationship Id="rId47" Target="fonts/font47.fntdata" Type="http://schemas.openxmlformats.org/officeDocument/2006/relationships/font"/><Relationship Id="rId48" Target="fonts/font48.fntdata" Type="http://schemas.openxmlformats.org/officeDocument/2006/relationships/font"/><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 Id="rId4" Target="../media/image9.png" Type="http://schemas.openxmlformats.org/officeDocument/2006/relationships/image"/><Relationship Id="rId5" Target="../media/image10.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7.svg" Type="http://schemas.openxmlformats.org/officeDocument/2006/relationships/image"/><Relationship Id="rId11" Target="../media/image18.png" Type="http://schemas.openxmlformats.org/officeDocument/2006/relationships/image"/><Relationship Id="rId2" Target="../media/image11.png" Type="http://schemas.openxmlformats.org/officeDocument/2006/relationships/image"/><Relationship Id="rId3" Target="../media/image12.svg" Type="http://schemas.openxmlformats.org/officeDocument/2006/relationships/image"/><Relationship Id="rId4" Target="../media/image13.png" Type="http://schemas.openxmlformats.org/officeDocument/2006/relationships/image"/><Relationship Id="rId5" Target="../media/image14.svg" Type="http://schemas.openxmlformats.org/officeDocument/2006/relationships/image"/><Relationship Id="rId6" Target="../media/image15.jpeg" Type="http://schemas.openxmlformats.org/officeDocument/2006/relationships/image"/><Relationship Id="rId7" Target="../media/image3.png" Type="http://schemas.openxmlformats.org/officeDocument/2006/relationships/image"/><Relationship Id="rId8" Target="../media/image4.svg" Type="http://schemas.openxmlformats.org/officeDocument/2006/relationships/image"/><Relationship Id="rId9" Target="../media/image16.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9.png" Type="http://schemas.openxmlformats.org/officeDocument/2006/relationships/image"/><Relationship Id="rId3" Target="../media/image20.png" Type="http://schemas.openxmlformats.org/officeDocument/2006/relationships/image"/><Relationship Id="rId4" Target="../media/image21.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2.png" Type="http://schemas.openxmlformats.org/officeDocument/2006/relationships/image"/><Relationship Id="rId3" Target="../media/image23.svg" Type="http://schemas.openxmlformats.org/officeDocument/2006/relationships/image"/><Relationship Id="rId4" Target="../media/image24.png" Type="http://schemas.openxmlformats.org/officeDocument/2006/relationships/image"/><Relationship Id="rId5" Target="../media/image25.svg" Type="http://schemas.openxmlformats.org/officeDocument/2006/relationships/image"/><Relationship Id="rId6" Target="../media/image26.png" Type="http://schemas.openxmlformats.org/officeDocument/2006/relationships/image"/><Relationship Id="rId7" Target="../media/image27.png" Type="http://schemas.openxmlformats.org/officeDocument/2006/relationships/image"/><Relationship Id="rId8" Target="../media/image28.png" Type="http://schemas.openxmlformats.org/officeDocument/2006/relationships/image"/><Relationship Id="rId9" Target="../media/image29.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2.png" Type="http://schemas.openxmlformats.org/officeDocument/2006/relationships/image"/><Relationship Id="rId3" Target="../media/image23.svg" Type="http://schemas.openxmlformats.org/officeDocument/2006/relationships/image"/><Relationship Id="rId4" Target="../media/image24.png" Type="http://schemas.openxmlformats.org/officeDocument/2006/relationships/image"/><Relationship Id="rId5" Target="../media/image25.svg" Type="http://schemas.openxmlformats.org/officeDocument/2006/relationships/image"/><Relationship Id="rId6" Target="../media/image30.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1.png" Type="http://schemas.openxmlformats.org/officeDocument/2006/relationships/image"/><Relationship Id="rId3" Target="../media/image32.png" Type="http://schemas.openxmlformats.org/officeDocument/2006/relationships/image"/><Relationship Id="rId4" Target="../media/image33.svg" Type="http://schemas.openxmlformats.org/officeDocument/2006/relationships/image"/><Relationship Id="rId5" Target="../media/image34.png" Type="http://schemas.openxmlformats.org/officeDocument/2006/relationships/image"/><Relationship Id="rId6" Target="../media/image35.svg" Type="http://schemas.openxmlformats.org/officeDocument/2006/relationships/image"/><Relationship Id="rId7" Target="../media/image36.png" Type="http://schemas.openxmlformats.org/officeDocument/2006/relationships/image"/><Relationship Id="rId8" Target="../media/image37.svg" Type="http://schemas.openxmlformats.org/officeDocument/2006/relationships/image"/><Relationship Id="rId9" Target="../media/image38.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9.png" Type="http://schemas.openxmlformats.org/officeDocument/2006/relationships/image"/><Relationship Id="rId3" Target="../media/image40.png" Type="http://schemas.openxmlformats.org/officeDocument/2006/relationships/image"/><Relationship Id="rId4" Target="../media/image41.svg" Type="http://schemas.openxmlformats.org/officeDocument/2006/relationships/image"/><Relationship Id="rId5" Target="../media/image42.png" Type="http://schemas.openxmlformats.org/officeDocument/2006/relationships/image"/><Relationship Id="rId6" Target="../media/image43.svg" Type="http://schemas.openxmlformats.org/officeDocument/2006/relationships/image"/><Relationship Id="rId7" Target="../media/image44.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5.png" Type="http://schemas.openxmlformats.org/officeDocument/2006/relationships/image"/><Relationship Id="rId3" Target="../media/image46.svg" Type="http://schemas.openxmlformats.org/officeDocument/2006/relationships/image"/><Relationship Id="rId4" Target="../media/image47.png" Type="http://schemas.openxmlformats.org/officeDocument/2006/relationships/image"/><Relationship Id="rId5" Target="../media/image48.svg" Type="http://schemas.openxmlformats.org/officeDocument/2006/relationships/image"/><Relationship Id="rId6" Target="../media/image49.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0.png" Type="http://schemas.openxmlformats.org/officeDocument/2006/relationships/image"/><Relationship Id="rId3" Target="../media/image51.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2.png" Type="http://schemas.openxmlformats.org/officeDocument/2006/relationships/image"/><Relationship Id="rId7" Target="../media/image53.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4.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0.png" Type="http://schemas.openxmlformats.org/officeDocument/2006/relationships/image"/><Relationship Id="rId3" Target="../media/image51.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5.png" Type="http://schemas.openxmlformats.org/officeDocument/2006/relationships/image"/><Relationship Id="rId7" Target="../media/image56.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7.png" Type="http://schemas.openxmlformats.org/officeDocument/2006/relationships/image"/><Relationship Id="rId3" Target="../media/image58.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0.png" Type="http://schemas.openxmlformats.org/officeDocument/2006/relationships/image"/><Relationship Id="rId3" Target="../media/image51.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9.png" Type="http://schemas.openxmlformats.org/officeDocument/2006/relationships/image"/><Relationship Id="rId7" Target="../media/image60.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1.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0.png" Type="http://schemas.openxmlformats.org/officeDocument/2006/relationships/image"/><Relationship Id="rId3" Target="../media/image51.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62.png" Type="http://schemas.openxmlformats.org/officeDocument/2006/relationships/image"/><Relationship Id="rId7" Target="../media/image63.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4.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0.png" Type="http://schemas.openxmlformats.org/officeDocument/2006/relationships/image"/><Relationship Id="rId3" Target="../media/image51.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65.png" Type="http://schemas.openxmlformats.org/officeDocument/2006/relationships/image"/><Relationship Id="rId7" Target="../media/image66.pn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7.pn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0.png" Type="http://schemas.openxmlformats.org/officeDocument/2006/relationships/image"/><Relationship Id="rId3" Target="../media/image51.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68.png" Type="http://schemas.openxmlformats.org/officeDocument/2006/relationships/image"/><Relationship Id="rId7" Target="../media/image69.pn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0.pn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0.png" Type="http://schemas.openxmlformats.org/officeDocument/2006/relationships/image"/><Relationship Id="rId3" Target="../media/image51.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71.png" Type="http://schemas.openxmlformats.org/officeDocument/2006/relationships/image"/><Relationship Id="rId7" Target="../media/image72.pn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3.pn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0.png" Type="http://schemas.openxmlformats.org/officeDocument/2006/relationships/image"/><Relationship Id="rId3" Target="../media/image51.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74.png" Type="http://schemas.openxmlformats.org/officeDocument/2006/relationships/image"/><Relationship Id="rId7" Target="../media/image75.png" Type="http://schemas.openxmlformats.org/officeDocument/2006/relationships/image"/></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6.png" Type="http://schemas.openxmlformats.org/officeDocument/2006/relationships/image"/></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0.png" Type="http://schemas.openxmlformats.org/officeDocument/2006/relationships/image"/><Relationship Id="rId3" Target="../media/image51.svg" Type="http://schemas.openxmlformats.org/officeDocument/2006/relationships/image"/></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0.png" Type="http://schemas.openxmlformats.org/officeDocument/2006/relationships/image"/><Relationship Id="rId3" Target="../media/image51.svg" Type="http://schemas.openxmlformats.org/officeDocument/2006/relationships/image"/></Relationships>
</file>

<file path=ppt/slides/_rels/slide3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5.png" Type="http://schemas.openxmlformats.org/officeDocument/2006/relationships/image"/><Relationship Id="rId3" Target="../media/image46.svg" Type="http://schemas.openxmlformats.org/officeDocument/2006/relationships/image"/><Relationship Id="rId4" Target="../media/image77.png" Type="http://schemas.openxmlformats.org/officeDocument/2006/relationships/image"/><Relationship Id="rId5" Target="../embeddings/oleObject1.bin" Type="http://schemas.openxmlformats.org/officeDocument/2006/relationships/oleObject"/><Relationship Id="rId6" Target="../media/image78.png" Type="http://schemas.openxmlformats.org/officeDocument/2006/relationships/image"/></Relationships>
</file>

<file path=ppt/slides/_rels/slide3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9.png" Type="http://schemas.openxmlformats.org/officeDocument/2006/relationships/image"/></Relationships>
</file>

<file path=ppt/slides/_rels/slide3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0.png" Type="http://schemas.openxmlformats.org/officeDocument/2006/relationships/image"/><Relationship Id="rId3" Target="../media/image51.svg" Type="http://schemas.openxmlformats.org/officeDocument/2006/relationships/image"/><Relationship Id="rId4" Target="../media/image80.png" Type="http://schemas.openxmlformats.org/officeDocument/2006/relationships/image"/><Relationship Id="rId5" Target="../media/image81.svg" Type="http://schemas.openxmlformats.org/officeDocument/2006/relationships/image"/><Relationship Id="rId6" Target="../media/image82.png" Type="http://schemas.openxmlformats.org/officeDocument/2006/relationships/image"/><Relationship Id="rId7" Target="../media/image83.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BFBF9"/>
        </a:solidFill>
      </p:bgPr>
    </p:bg>
    <p:spTree>
      <p:nvGrpSpPr>
        <p:cNvPr id="1" name=""/>
        <p:cNvGrpSpPr/>
        <p:nvPr/>
      </p:nvGrpSpPr>
      <p:grpSpPr>
        <a:xfrm>
          <a:off x="0" y="0"/>
          <a:ext cx="0" cy="0"/>
          <a:chOff x="0" y="0"/>
          <a:chExt cx="0" cy="0"/>
        </a:xfrm>
      </p:grpSpPr>
      <p:sp>
        <p:nvSpPr>
          <p:cNvPr name="TextBox 2" id="2"/>
          <p:cNvSpPr txBox="true"/>
          <p:nvPr/>
        </p:nvSpPr>
        <p:spPr>
          <a:xfrm rot="0">
            <a:off x="1114425" y="6289791"/>
            <a:ext cx="5775760" cy="1266825"/>
          </a:xfrm>
          <a:prstGeom prst="rect">
            <a:avLst/>
          </a:prstGeom>
        </p:spPr>
        <p:txBody>
          <a:bodyPr anchor="t" rtlCol="false" tIns="0" lIns="0" bIns="0" rIns="0">
            <a:spAutoFit/>
          </a:bodyPr>
          <a:lstStyle/>
          <a:p>
            <a:pPr algn="just">
              <a:lnSpc>
                <a:spcPts val="3326"/>
              </a:lnSpc>
            </a:pPr>
            <a:r>
              <a:rPr lang="en-US" sz="2772" spc="313">
                <a:solidFill>
                  <a:srgbClr val="231076"/>
                </a:solidFill>
                <a:latin typeface="TT Chocolates"/>
                <a:ea typeface="TT Chocolates"/>
                <a:cs typeface="TT Chocolates"/>
                <a:sym typeface="TT Chocolates"/>
              </a:rPr>
              <a:t>Dzulfi Khoiriyah Azzahra</a:t>
            </a:r>
          </a:p>
          <a:p>
            <a:pPr algn="just">
              <a:lnSpc>
                <a:spcPts val="3326"/>
              </a:lnSpc>
            </a:pPr>
            <a:r>
              <a:rPr lang="en-US" sz="2772" spc="313">
                <a:solidFill>
                  <a:srgbClr val="231076"/>
                </a:solidFill>
                <a:latin typeface="TT Chocolates"/>
                <a:ea typeface="TT Chocolates"/>
                <a:cs typeface="TT Chocolates"/>
                <a:sym typeface="TT Chocolates"/>
              </a:rPr>
              <a:t>Hasti Sri Fatmawati</a:t>
            </a:r>
          </a:p>
          <a:p>
            <a:pPr algn="just" marL="0" indent="0" lvl="0">
              <a:lnSpc>
                <a:spcPts val="3326"/>
              </a:lnSpc>
            </a:pPr>
            <a:r>
              <a:rPr lang="en-US" sz="2772" spc="313">
                <a:solidFill>
                  <a:srgbClr val="231076"/>
                </a:solidFill>
                <a:latin typeface="TT Chocolates"/>
                <a:ea typeface="TT Chocolates"/>
                <a:cs typeface="TT Chocolates"/>
                <a:sym typeface="TT Chocolates"/>
              </a:rPr>
              <a:t>Rangga Adi Nugraha</a:t>
            </a:r>
          </a:p>
        </p:txBody>
      </p:sp>
      <p:sp>
        <p:nvSpPr>
          <p:cNvPr name="Freeform 3" id="3"/>
          <p:cNvSpPr/>
          <p:nvPr/>
        </p:nvSpPr>
        <p:spPr>
          <a:xfrm flipH="false" flipV="false" rot="118442">
            <a:off x="11955171" y="2473874"/>
            <a:ext cx="7855892" cy="6698933"/>
          </a:xfrm>
          <a:custGeom>
            <a:avLst/>
            <a:gdLst/>
            <a:ahLst/>
            <a:cxnLst/>
            <a:rect r="r" b="b" t="t" l="l"/>
            <a:pathLst>
              <a:path h="6698933" w="7855892">
                <a:moveTo>
                  <a:pt x="0" y="0"/>
                </a:moveTo>
                <a:lnTo>
                  <a:pt x="7855892" y="0"/>
                </a:lnTo>
                <a:lnTo>
                  <a:pt x="7855892" y="6698934"/>
                </a:lnTo>
                <a:lnTo>
                  <a:pt x="0" y="66989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1028700" y="3017312"/>
            <a:ext cx="10102369" cy="1929826"/>
          </a:xfrm>
          <a:prstGeom prst="rect">
            <a:avLst/>
          </a:prstGeom>
        </p:spPr>
        <p:txBody>
          <a:bodyPr anchor="t" rtlCol="false" tIns="0" lIns="0" bIns="0" rIns="0">
            <a:spAutoFit/>
          </a:bodyPr>
          <a:lstStyle/>
          <a:p>
            <a:pPr algn="l" marL="0" indent="0" lvl="0">
              <a:lnSpc>
                <a:spcPts val="14477"/>
              </a:lnSpc>
            </a:pPr>
            <a:r>
              <a:rPr lang="en-US" sz="14477" spc="159">
                <a:solidFill>
                  <a:srgbClr val="231076"/>
                </a:solidFill>
                <a:latin typeface="Anton"/>
                <a:ea typeface="Anton"/>
                <a:cs typeface="Anton"/>
                <a:sym typeface="Anton"/>
              </a:rPr>
              <a:t>E-COMMERCE </a:t>
            </a:r>
          </a:p>
        </p:txBody>
      </p:sp>
      <p:sp>
        <p:nvSpPr>
          <p:cNvPr name="TextBox 5" id="5"/>
          <p:cNvSpPr txBox="true"/>
          <p:nvPr/>
        </p:nvSpPr>
        <p:spPr>
          <a:xfrm rot="0">
            <a:off x="1114425" y="4989132"/>
            <a:ext cx="836331" cy="834208"/>
          </a:xfrm>
          <a:prstGeom prst="rect">
            <a:avLst/>
          </a:prstGeom>
        </p:spPr>
        <p:txBody>
          <a:bodyPr anchor="t" rtlCol="false" tIns="0" lIns="0" bIns="0" rIns="0">
            <a:spAutoFit/>
          </a:bodyPr>
          <a:lstStyle/>
          <a:p>
            <a:pPr algn="l">
              <a:lnSpc>
                <a:spcPts val="3012"/>
              </a:lnSpc>
            </a:pPr>
            <a:r>
              <a:rPr lang="en-US" sz="3012" b="true">
                <a:solidFill>
                  <a:srgbClr val="231076"/>
                </a:solidFill>
                <a:latin typeface="TT Chocolates Bold"/>
                <a:ea typeface="TT Chocolates Bold"/>
                <a:cs typeface="TT Chocolates Bold"/>
                <a:sym typeface="TT Chocolates Bold"/>
              </a:rPr>
              <a:t>BY</a:t>
            </a:r>
          </a:p>
          <a:p>
            <a:pPr algn="l" marL="0" indent="0" lvl="0">
              <a:lnSpc>
                <a:spcPts val="3423"/>
              </a:lnSpc>
            </a:pPr>
          </a:p>
        </p:txBody>
      </p:sp>
      <p:sp>
        <p:nvSpPr>
          <p:cNvPr name="TextBox 6" id="6"/>
          <p:cNvSpPr txBox="true"/>
          <p:nvPr/>
        </p:nvSpPr>
        <p:spPr>
          <a:xfrm rot="0">
            <a:off x="14607117" y="1028700"/>
            <a:ext cx="2652183" cy="629509"/>
          </a:xfrm>
          <a:prstGeom prst="rect">
            <a:avLst/>
          </a:prstGeom>
        </p:spPr>
        <p:txBody>
          <a:bodyPr anchor="t" rtlCol="false" tIns="0" lIns="0" bIns="0" rIns="0">
            <a:spAutoFit/>
          </a:bodyPr>
          <a:lstStyle/>
          <a:p>
            <a:pPr algn="r" marL="0" indent="0" lvl="0">
              <a:lnSpc>
                <a:spcPts val="2501"/>
              </a:lnSpc>
            </a:pPr>
            <a:r>
              <a:rPr lang="en-US" b="true" sz="2119">
                <a:solidFill>
                  <a:srgbClr val="231076"/>
                </a:solidFill>
                <a:latin typeface="TT Chocolates Bold"/>
                <a:ea typeface="TT Chocolates Bold"/>
                <a:cs typeface="TT Chocolates Bold"/>
                <a:sym typeface="TT Chocolates Bold"/>
              </a:rPr>
              <a:t>DATA ANALYST DAN DATA SCIENCE</a:t>
            </a:r>
          </a:p>
        </p:txBody>
      </p:sp>
      <p:sp>
        <p:nvSpPr>
          <p:cNvPr name="TextBox 7" id="7"/>
          <p:cNvSpPr txBox="true"/>
          <p:nvPr/>
        </p:nvSpPr>
        <p:spPr>
          <a:xfrm rot="0">
            <a:off x="1028700" y="2021261"/>
            <a:ext cx="8972201" cy="1709213"/>
          </a:xfrm>
          <a:prstGeom prst="rect">
            <a:avLst/>
          </a:prstGeom>
        </p:spPr>
        <p:txBody>
          <a:bodyPr anchor="t" rtlCol="false" tIns="0" lIns="0" bIns="0" rIns="0">
            <a:spAutoFit/>
          </a:bodyPr>
          <a:lstStyle/>
          <a:p>
            <a:pPr algn="l">
              <a:lnSpc>
                <a:spcPts val="6541"/>
              </a:lnSpc>
            </a:pPr>
            <a:r>
              <a:rPr lang="en-US" sz="6541" b="true">
                <a:solidFill>
                  <a:srgbClr val="231076"/>
                </a:solidFill>
                <a:latin typeface="TT Chocolates Ultra-Bold"/>
                <a:ea typeface="TT Chocolates Ultra-Bold"/>
                <a:cs typeface="TT Chocolates Ultra-Bold"/>
                <a:sym typeface="TT Chocolates Ultra-Bold"/>
              </a:rPr>
              <a:t>BRAZILIAN </a:t>
            </a:r>
          </a:p>
          <a:p>
            <a:pPr algn="l" marL="0" indent="0" lvl="0">
              <a:lnSpc>
                <a:spcPts val="6541"/>
              </a:lnSpc>
            </a:pPr>
          </a:p>
        </p:txBody>
      </p:sp>
      <p:sp>
        <p:nvSpPr>
          <p:cNvPr name="TextBox 8" id="8"/>
          <p:cNvSpPr txBox="true"/>
          <p:nvPr/>
        </p:nvSpPr>
        <p:spPr>
          <a:xfrm rot="0">
            <a:off x="1865031" y="4941507"/>
            <a:ext cx="3864909" cy="530530"/>
          </a:xfrm>
          <a:prstGeom prst="rect">
            <a:avLst/>
          </a:prstGeom>
        </p:spPr>
        <p:txBody>
          <a:bodyPr anchor="t" rtlCol="false" tIns="0" lIns="0" bIns="0" rIns="0">
            <a:spAutoFit/>
          </a:bodyPr>
          <a:lstStyle/>
          <a:p>
            <a:pPr algn="l" marL="0" indent="0" lvl="0">
              <a:lnSpc>
                <a:spcPts val="4011"/>
              </a:lnSpc>
            </a:pPr>
            <a:r>
              <a:rPr lang="en-US" b="true" sz="4011">
                <a:solidFill>
                  <a:srgbClr val="231076"/>
                </a:solidFill>
                <a:latin typeface="TT Chocolates Bold"/>
                <a:ea typeface="TT Chocolates Bold"/>
                <a:cs typeface="TT Chocolates Bold"/>
                <a:sym typeface="TT Chocolates Bold"/>
              </a:rPr>
              <a:t>OLIST STORE</a:t>
            </a:r>
          </a:p>
        </p:txBody>
      </p:sp>
      <p:grpSp>
        <p:nvGrpSpPr>
          <p:cNvPr name="Group 9" id="9"/>
          <p:cNvGrpSpPr/>
          <p:nvPr/>
        </p:nvGrpSpPr>
        <p:grpSpPr>
          <a:xfrm rot="0">
            <a:off x="0" y="8908794"/>
            <a:ext cx="19222195" cy="1706703"/>
            <a:chOff x="0" y="0"/>
            <a:chExt cx="5408269" cy="480190"/>
          </a:xfrm>
        </p:grpSpPr>
        <p:sp>
          <p:nvSpPr>
            <p:cNvPr name="Freeform 10" id="10"/>
            <p:cNvSpPr/>
            <p:nvPr/>
          </p:nvSpPr>
          <p:spPr>
            <a:xfrm flipH="false" flipV="false" rot="0">
              <a:off x="0" y="0"/>
              <a:ext cx="5408269" cy="480190"/>
            </a:xfrm>
            <a:custGeom>
              <a:avLst/>
              <a:gdLst/>
              <a:ahLst/>
              <a:cxnLst/>
              <a:rect r="r" b="b" t="t" l="l"/>
              <a:pathLst>
                <a:path h="480190" w="5408269">
                  <a:moveTo>
                    <a:pt x="0" y="0"/>
                  </a:moveTo>
                  <a:lnTo>
                    <a:pt x="5408269" y="0"/>
                  </a:lnTo>
                  <a:lnTo>
                    <a:pt x="5408269" y="480190"/>
                  </a:lnTo>
                  <a:lnTo>
                    <a:pt x="0" y="480190"/>
                  </a:lnTo>
                  <a:close/>
                </a:path>
              </a:pathLst>
            </a:custGeom>
            <a:solidFill>
              <a:srgbClr val="602E9E"/>
            </a:solidFill>
            <a:ln w="9525" cap="sq">
              <a:solidFill>
                <a:srgbClr val="231076"/>
              </a:solidFill>
              <a:prstDash val="solid"/>
              <a:miter/>
            </a:ln>
          </p:spPr>
        </p:sp>
        <p:sp>
          <p:nvSpPr>
            <p:cNvPr name="TextBox 11" id="11"/>
            <p:cNvSpPr txBox="true"/>
            <p:nvPr/>
          </p:nvSpPr>
          <p:spPr>
            <a:xfrm>
              <a:off x="0" y="-19050"/>
              <a:ext cx="5408269" cy="499240"/>
            </a:xfrm>
            <a:prstGeom prst="rect">
              <a:avLst/>
            </a:prstGeom>
          </p:spPr>
          <p:txBody>
            <a:bodyPr anchor="ctr" rtlCol="false" tIns="34560" lIns="34560" bIns="34560" rIns="34560"/>
            <a:lstStyle/>
            <a:p>
              <a:pPr algn="ctr">
                <a:lnSpc>
                  <a:spcPts val="1161"/>
                </a:lnSpc>
              </a:pPr>
            </a:p>
          </p:txBody>
        </p:sp>
      </p:gr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BFBF9"/>
        </a:solidFill>
      </p:bgPr>
    </p:bg>
    <p:spTree>
      <p:nvGrpSpPr>
        <p:cNvPr id="1" name=""/>
        <p:cNvGrpSpPr/>
        <p:nvPr/>
      </p:nvGrpSpPr>
      <p:grpSpPr>
        <a:xfrm>
          <a:off x="0" y="0"/>
          <a:ext cx="0" cy="0"/>
          <a:chOff x="0" y="0"/>
          <a:chExt cx="0" cy="0"/>
        </a:xfrm>
      </p:grpSpPr>
      <p:grpSp>
        <p:nvGrpSpPr>
          <p:cNvPr name="Group 2" id="2"/>
          <p:cNvGrpSpPr/>
          <p:nvPr/>
        </p:nvGrpSpPr>
        <p:grpSpPr>
          <a:xfrm rot="0">
            <a:off x="0" y="1070295"/>
            <a:ext cx="17703247" cy="9876100"/>
            <a:chOff x="0" y="0"/>
            <a:chExt cx="23604329" cy="13168133"/>
          </a:xfrm>
        </p:grpSpPr>
        <p:sp>
          <p:nvSpPr>
            <p:cNvPr name="Freeform 3" id="3"/>
            <p:cNvSpPr/>
            <p:nvPr/>
          </p:nvSpPr>
          <p:spPr>
            <a:xfrm flipH="false" flipV="false" rot="701560">
              <a:off x="197157" y="8873457"/>
              <a:ext cx="1762790" cy="2126173"/>
            </a:xfrm>
            <a:custGeom>
              <a:avLst/>
              <a:gdLst/>
              <a:ahLst/>
              <a:cxnLst/>
              <a:rect r="r" b="b" t="t" l="l"/>
              <a:pathLst>
                <a:path h="2126173" w="1762790">
                  <a:moveTo>
                    <a:pt x="0" y="0"/>
                  </a:moveTo>
                  <a:lnTo>
                    <a:pt x="1762791" y="0"/>
                  </a:lnTo>
                  <a:lnTo>
                    <a:pt x="1762791" y="2126173"/>
                  </a:lnTo>
                  <a:lnTo>
                    <a:pt x="0" y="2126173"/>
                  </a:lnTo>
                  <a:lnTo>
                    <a:pt x="0" y="0"/>
                  </a:lnTo>
                  <a:close/>
                </a:path>
              </a:pathLst>
            </a:custGeom>
            <a:blipFill>
              <a:blip r:embed="rId2">
                <a:alphaModFix amt="34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2250332">
              <a:off x="22140847" y="891104"/>
              <a:ext cx="1157983" cy="1396690"/>
            </a:xfrm>
            <a:custGeom>
              <a:avLst/>
              <a:gdLst/>
              <a:ahLst/>
              <a:cxnLst/>
              <a:rect r="r" b="b" t="t" l="l"/>
              <a:pathLst>
                <a:path h="1396690" w="1157983">
                  <a:moveTo>
                    <a:pt x="0" y="0"/>
                  </a:moveTo>
                  <a:lnTo>
                    <a:pt x="1157984" y="0"/>
                  </a:lnTo>
                  <a:lnTo>
                    <a:pt x="1157984" y="1396691"/>
                  </a:lnTo>
                  <a:lnTo>
                    <a:pt x="0" y="1396691"/>
                  </a:lnTo>
                  <a:lnTo>
                    <a:pt x="0" y="0"/>
                  </a:lnTo>
                  <a:close/>
                </a:path>
              </a:pathLst>
            </a:custGeom>
            <a:blipFill>
              <a:blip r:embed="rId2">
                <a:alphaModFix amt="34000"/>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701560">
              <a:off x="21052452" y="9468395"/>
              <a:ext cx="1762790" cy="2126173"/>
            </a:xfrm>
            <a:custGeom>
              <a:avLst/>
              <a:gdLst/>
              <a:ahLst/>
              <a:cxnLst/>
              <a:rect r="r" b="b" t="t" l="l"/>
              <a:pathLst>
                <a:path h="2126173" w="1762790">
                  <a:moveTo>
                    <a:pt x="0" y="0"/>
                  </a:moveTo>
                  <a:lnTo>
                    <a:pt x="1762791" y="0"/>
                  </a:lnTo>
                  <a:lnTo>
                    <a:pt x="1762791" y="2126173"/>
                  </a:lnTo>
                  <a:lnTo>
                    <a:pt x="0" y="2126173"/>
                  </a:lnTo>
                  <a:lnTo>
                    <a:pt x="0" y="0"/>
                  </a:lnTo>
                  <a:close/>
                </a:path>
              </a:pathLst>
            </a:custGeom>
            <a:blipFill>
              <a:blip r:embed="rId2">
                <a:alphaModFix amt="34000"/>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2279228">
              <a:off x="4803749" y="156972"/>
              <a:ext cx="872157" cy="1051944"/>
            </a:xfrm>
            <a:custGeom>
              <a:avLst/>
              <a:gdLst/>
              <a:ahLst/>
              <a:cxnLst/>
              <a:rect r="r" b="b" t="t" l="l"/>
              <a:pathLst>
                <a:path h="1051944" w="872157">
                  <a:moveTo>
                    <a:pt x="0" y="0"/>
                  </a:moveTo>
                  <a:lnTo>
                    <a:pt x="872158" y="0"/>
                  </a:lnTo>
                  <a:lnTo>
                    <a:pt x="872158" y="1051944"/>
                  </a:lnTo>
                  <a:lnTo>
                    <a:pt x="0" y="1051944"/>
                  </a:lnTo>
                  <a:lnTo>
                    <a:pt x="0" y="0"/>
                  </a:lnTo>
                  <a:close/>
                </a:path>
              </a:pathLst>
            </a:custGeom>
            <a:blipFill>
              <a:blip r:embed="rId2">
                <a:alphaModFix amt="34000"/>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701560">
              <a:off x="16308552" y="2540853"/>
              <a:ext cx="1091352" cy="1316324"/>
            </a:xfrm>
            <a:custGeom>
              <a:avLst/>
              <a:gdLst/>
              <a:ahLst/>
              <a:cxnLst/>
              <a:rect r="r" b="b" t="t" l="l"/>
              <a:pathLst>
                <a:path h="1316324" w="1091352">
                  <a:moveTo>
                    <a:pt x="0" y="0"/>
                  </a:moveTo>
                  <a:lnTo>
                    <a:pt x="1091353" y="0"/>
                  </a:lnTo>
                  <a:lnTo>
                    <a:pt x="1091353" y="1316324"/>
                  </a:lnTo>
                  <a:lnTo>
                    <a:pt x="0" y="1316324"/>
                  </a:lnTo>
                  <a:lnTo>
                    <a:pt x="0" y="0"/>
                  </a:lnTo>
                  <a:close/>
                </a:path>
              </a:pathLst>
            </a:custGeom>
            <a:blipFill>
              <a:blip r:embed="rId2">
                <a:alphaModFix amt="34000"/>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2250332">
              <a:off x="10617995" y="11563283"/>
              <a:ext cx="1157983" cy="1396690"/>
            </a:xfrm>
            <a:custGeom>
              <a:avLst/>
              <a:gdLst/>
              <a:ahLst/>
              <a:cxnLst/>
              <a:rect r="r" b="b" t="t" l="l"/>
              <a:pathLst>
                <a:path h="1396690" w="1157983">
                  <a:moveTo>
                    <a:pt x="0" y="0"/>
                  </a:moveTo>
                  <a:lnTo>
                    <a:pt x="1157983" y="0"/>
                  </a:lnTo>
                  <a:lnTo>
                    <a:pt x="1157983" y="1396690"/>
                  </a:lnTo>
                  <a:lnTo>
                    <a:pt x="0" y="1396690"/>
                  </a:lnTo>
                  <a:lnTo>
                    <a:pt x="0" y="0"/>
                  </a:lnTo>
                  <a:close/>
                </a:path>
              </a:pathLst>
            </a:custGeom>
            <a:blipFill>
              <a:blip r:embed="rId2">
                <a:alphaModFix amt="34000"/>
                <a:extLst>
                  <a:ext uri="{96DAC541-7B7A-43D3-8B79-37D633B846F1}">
                    <asvg:svgBlip xmlns:asvg="http://schemas.microsoft.com/office/drawing/2016/SVG/main" r:embed="rId3"/>
                  </a:ext>
                </a:extLst>
              </a:blip>
              <a:stretch>
                <a:fillRect l="0" t="0" r="0" b="0"/>
              </a:stretch>
            </a:blipFill>
          </p:spPr>
        </p:sp>
      </p:grpSp>
      <p:grpSp>
        <p:nvGrpSpPr>
          <p:cNvPr name="Group 9" id="9"/>
          <p:cNvGrpSpPr/>
          <p:nvPr/>
        </p:nvGrpSpPr>
        <p:grpSpPr>
          <a:xfrm rot="0">
            <a:off x="1863516" y="4035875"/>
            <a:ext cx="7197591" cy="911301"/>
            <a:chOff x="0" y="0"/>
            <a:chExt cx="1895662" cy="240013"/>
          </a:xfrm>
        </p:grpSpPr>
        <p:sp>
          <p:nvSpPr>
            <p:cNvPr name="Freeform 10" id="10"/>
            <p:cNvSpPr/>
            <p:nvPr/>
          </p:nvSpPr>
          <p:spPr>
            <a:xfrm flipH="false" flipV="false" rot="0">
              <a:off x="0" y="0"/>
              <a:ext cx="1895662" cy="240013"/>
            </a:xfrm>
            <a:custGeom>
              <a:avLst/>
              <a:gdLst/>
              <a:ahLst/>
              <a:cxnLst/>
              <a:rect r="r" b="b" t="t" l="l"/>
              <a:pathLst>
                <a:path h="240013" w="1895662">
                  <a:moveTo>
                    <a:pt x="0" y="0"/>
                  </a:moveTo>
                  <a:lnTo>
                    <a:pt x="1895662" y="0"/>
                  </a:lnTo>
                  <a:lnTo>
                    <a:pt x="1895662" y="240013"/>
                  </a:lnTo>
                  <a:lnTo>
                    <a:pt x="0" y="240013"/>
                  </a:lnTo>
                  <a:close/>
                </a:path>
              </a:pathLst>
            </a:custGeom>
            <a:solidFill>
              <a:srgbClr val="231076"/>
            </a:solidFill>
          </p:spPr>
        </p:sp>
        <p:sp>
          <p:nvSpPr>
            <p:cNvPr name="TextBox 11" id="11"/>
            <p:cNvSpPr txBox="true"/>
            <p:nvPr/>
          </p:nvSpPr>
          <p:spPr>
            <a:xfrm>
              <a:off x="0" y="-57150"/>
              <a:ext cx="1895662" cy="297163"/>
            </a:xfrm>
            <a:prstGeom prst="rect">
              <a:avLst/>
            </a:prstGeom>
          </p:spPr>
          <p:txBody>
            <a:bodyPr anchor="ctr" rtlCol="false" tIns="241300" lIns="241300" bIns="241300" rIns="241300"/>
            <a:lstStyle/>
            <a:p>
              <a:pPr algn="just">
                <a:lnSpc>
                  <a:spcPts val="3919"/>
                </a:lnSpc>
              </a:pPr>
              <a:r>
                <a:rPr lang="en-US" b="true" sz="2799">
                  <a:solidFill>
                    <a:srgbClr val="FFFFFF"/>
                  </a:solidFill>
                  <a:latin typeface="TT Chocolates Bold"/>
                  <a:ea typeface="TT Chocolates Bold"/>
                  <a:cs typeface="TT Chocolates Bold"/>
                  <a:sym typeface="TT Chocolates Bold"/>
                </a:rPr>
                <a:t>01. Introduction</a:t>
              </a:r>
            </a:p>
          </p:txBody>
        </p:sp>
      </p:grpSp>
      <p:sp>
        <p:nvSpPr>
          <p:cNvPr name="TextBox 12" id="12"/>
          <p:cNvSpPr txBox="true"/>
          <p:nvPr/>
        </p:nvSpPr>
        <p:spPr>
          <a:xfrm rot="0">
            <a:off x="3429304" y="317606"/>
            <a:ext cx="11263606" cy="2288624"/>
          </a:xfrm>
          <a:prstGeom prst="rect">
            <a:avLst/>
          </a:prstGeom>
        </p:spPr>
        <p:txBody>
          <a:bodyPr anchor="t" rtlCol="false" tIns="0" lIns="0" bIns="0" rIns="0">
            <a:spAutoFit/>
          </a:bodyPr>
          <a:lstStyle/>
          <a:p>
            <a:pPr algn="ctr">
              <a:lnSpc>
                <a:spcPts val="18706"/>
              </a:lnSpc>
            </a:pPr>
            <a:r>
              <a:rPr lang="en-US" sz="13361">
                <a:solidFill>
                  <a:srgbClr val="231076"/>
                </a:solidFill>
                <a:latin typeface="Anton"/>
                <a:ea typeface="Anton"/>
                <a:cs typeface="Anton"/>
                <a:sym typeface="Anton"/>
              </a:rPr>
              <a:t>TABLE</a:t>
            </a:r>
          </a:p>
        </p:txBody>
      </p:sp>
      <p:sp>
        <p:nvSpPr>
          <p:cNvPr name="TextBox 13" id="13"/>
          <p:cNvSpPr txBox="true"/>
          <p:nvPr/>
        </p:nvSpPr>
        <p:spPr>
          <a:xfrm rot="0">
            <a:off x="5795181" y="2382537"/>
            <a:ext cx="6863424" cy="936625"/>
          </a:xfrm>
          <a:prstGeom prst="rect">
            <a:avLst/>
          </a:prstGeom>
        </p:spPr>
        <p:txBody>
          <a:bodyPr anchor="t" rtlCol="false" tIns="0" lIns="0" bIns="0" rIns="0">
            <a:spAutoFit/>
          </a:bodyPr>
          <a:lstStyle/>
          <a:p>
            <a:pPr algn="ctr">
              <a:lnSpc>
                <a:spcPts val="7699"/>
              </a:lnSpc>
            </a:pPr>
            <a:r>
              <a:rPr lang="en-US" sz="5499" spc="236">
                <a:solidFill>
                  <a:srgbClr val="231076"/>
                </a:solidFill>
                <a:latin typeface="Questrial"/>
                <a:ea typeface="Questrial"/>
                <a:cs typeface="Questrial"/>
                <a:sym typeface="Questrial"/>
              </a:rPr>
              <a:t>of contents</a:t>
            </a:r>
          </a:p>
        </p:txBody>
      </p:sp>
      <p:grpSp>
        <p:nvGrpSpPr>
          <p:cNvPr name="Group 14" id="14"/>
          <p:cNvGrpSpPr/>
          <p:nvPr/>
        </p:nvGrpSpPr>
        <p:grpSpPr>
          <a:xfrm rot="0">
            <a:off x="1863516" y="5049277"/>
            <a:ext cx="7197591" cy="918162"/>
            <a:chOff x="0" y="0"/>
            <a:chExt cx="1895662" cy="241820"/>
          </a:xfrm>
        </p:grpSpPr>
        <p:sp>
          <p:nvSpPr>
            <p:cNvPr name="Freeform 15" id="15"/>
            <p:cNvSpPr/>
            <p:nvPr/>
          </p:nvSpPr>
          <p:spPr>
            <a:xfrm flipH="false" flipV="false" rot="0">
              <a:off x="0" y="0"/>
              <a:ext cx="1895662" cy="241820"/>
            </a:xfrm>
            <a:custGeom>
              <a:avLst/>
              <a:gdLst/>
              <a:ahLst/>
              <a:cxnLst/>
              <a:rect r="r" b="b" t="t" l="l"/>
              <a:pathLst>
                <a:path h="241820" w="1895662">
                  <a:moveTo>
                    <a:pt x="0" y="0"/>
                  </a:moveTo>
                  <a:lnTo>
                    <a:pt x="1895662" y="0"/>
                  </a:lnTo>
                  <a:lnTo>
                    <a:pt x="1895662" y="241820"/>
                  </a:lnTo>
                  <a:lnTo>
                    <a:pt x="0" y="241820"/>
                  </a:lnTo>
                  <a:close/>
                </a:path>
              </a:pathLst>
            </a:custGeom>
            <a:solidFill>
              <a:srgbClr val="231076"/>
            </a:solidFill>
          </p:spPr>
        </p:sp>
        <p:sp>
          <p:nvSpPr>
            <p:cNvPr name="TextBox 16" id="16"/>
            <p:cNvSpPr txBox="true"/>
            <p:nvPr/>
          </p:nvSpPr>
          <p:spPr>
            <a:xfrm>
              <a:off x="0" y="-57150"/>
              <a:ext cx="1895662" cy="298970"/>
            </a:xfrm>
            <a:prstGeom prst="rect">
              <a:avLst/>
            </a:prstGeom>
          </p:spPr>
          <p:txBody>
            <a:bodyPr anchor="ctr" rtlCol="false" tIns="241300" lIns="241300" bIns="241300" rIns="241300"/>
            <a:lstStyle/>
            <a:p>
              <a:pPr algn="just">
                <a:lnSpc>
                  <a:spcPts val="3919"/>
                </a:lnSpc>
              </a:pPr>
              <a:r>
                <a:rPr lang="en-US" b="true" sz="2799">
                  <a:solidFill>
                    <a:srgbClr val="FFFFFF"/>
                  </a:solidFill>
                  <a:latin typeface="TT Chocolates Bold"/>
                  <a:ea typeface="TT Chocolates Bold"/>
                  <a:cs typeface="TT Chocolates Bold"/>
                  <a:sym typeface="TT Chocolates Bold"/>
                </a:rPr>
                <a:t>02. Business Understanding</a:t>
              </a:r>
            </a:p>
          </p:txBody>
        </p:sp>
      </p:grpSp>
      <p:grpSp>
        <p:nvGrpSpPr>
          <p:cNvPr name="Group 17" id="17"/>
          <p:cNvGrpSpPr/>
          <p:nvPr/>
        </p:nvGrpSpPr>
        <p:grpSpPr>
          <a:xfrm rot="0">
            <a:off x="1863516" y="6125771"/>
            <a:ext cx="7197591" cy="911301"/>
            <a:chOff x="0" y="0"/>
            <a:chExt cx="1895662" cy="240013"/>
          </a:xfrm>
        </p:grpSpPr>
        <p:sp>
          <p:nvSpPr>
            <p:cNvPr name="Freeform 18" id="18"/>
            <p:cNvSpPr/>
            <p:nvPr/>
          </p:nvSpPr>
          <p:spPr>
            <a:xfrm flipH="false" flipV="false" rot="0">
              <a:off x="0" y="0"/>
              <a:ext cx="1895662" cy="240013"/>
            </a:xfrm>
            <a:custGeom>
              <a:avLst/>
              <a:gdLst/>
              <a:ahLst/>
              <a:cxnLst/>
              <a:rect r="r" b="b" t="t" l="l"/>
              <a:pathLst>
                <a:path h="240013" w="1895662">
                  <a:moveTo>
                    <a:pt x="0" y="0"/>
                  </a:moveTo>
                  <a:lnTo>
                    <a:pt x="1895662" y="0"/>
                  </a:lnTo>
                  <a:lnTo>
                    <a:pt x="1895662" y="240013"/>
                  </a:lnTo>
                  <a:lnTo>
                    <a:pt x="0" y="240013"/>
                  </a:lnTo>
                  <a:close/>
                </a:path>
              </a:pathLst>
            </a:custGeom>
            <a:solidFill>
              <a:srgbClr val="231076"/>
            </a:solidFill>
          </p:spPr>
        </p:sp>
        <p:sp>
          <p:nvSpPr>
            <p:cNvPr name="TextBox 19" id="19"/>
            <p:cNvSpPr txBox="true"/>
            <p:nvPr/>
          </p:nvSpPr>
          <p:spPr>
            <a:xfrm>
              <a:off x="0" y="-57150"/>
              <a:ext cx="1895662" cy="297163"/>
            </a:xfrm>
            <a:prstGeom prst="rect">
              <a:avLst/>
            </a:prstGeom>
          </p:spPr>
          <p:txBody>
            <a:bodyPr anchor="ctr" rtlCol="false" tIns="241300" lIns="241300" bIns="241300" rIns="241300"/>
            <a:lstStyle/>
            <a:p>
              <a:pPr algn="just">
                <a:lnSpc>
                  <a:spcPts val="3919"/>
                </a:lnSpc>
              </a:pPr>
              <a:r>
                <a:rPr lang="en-US" b="true" sz="2799">
                  <a:solidFill>
                    <a:srgbClr val="FFFFFF"/>
                  </a:solidFill>
                  <a:latin typeface="TT Chocolates Bold"/>
                  <a:ea typeface="TT Chocolates Bold"/>
                  <a:cs typeface="TT Chocolates Bold"/>
                  <a:sym typeface="TT Chocolates Bold"/>
                </a:rPr>
                <a:t>03. Dataset Overview</a:t>
              </a:r>
            </a:p>
          </p:txBody>
        </p:sp>
      </p:grpSp>
      <p:grpSp>
        <p:nvGrpSpPr>
          <p:cNvPr name="Group 20" id="20"/>
          <p:cNvGrpSpPr/>
          <p:nvPr/>
        </p:nvGrpSpPr>
        <p:grpSpPr>
          <a:xfrm rot="0">
            <a:off x="9226893" y="5056138"/>
            <a:ext cx="7197591" cy="911301"/>
            <a:chOff x="0" y="0"/>
            <a:chExt cx="1895662" cy="240013"/>
          </a:xfrm>
        </p:grpSpPr>
        <p:sp>
          <p:nvSpPr>
            <p:cNvPr name="Freeform 21" id="21"/>
            <p:cNvSpPr/>
            <p:nvPr/>
          </p:nvSpPr>
          <p:spPr>
            <a:xfrm flipH="false" flipV="false" rot="0">
              <a:off x="0" y="0"/>
              <a:ext cx="1895662" cy="240013"/>
            </a:xfrm>
            <a:custGeom>
              <a:avLst/>
              <a:gdLst/>
              <a:ahLst/>
              <a:cxnLst/>
              <a:rect r="r" b="b" t="t" l="l"/>
              <a:pathLst>
                <a:path h="240013" w="1895662">
                  <a:moveTo>
                    <a:pt x="0" y="0"/>
                  </a:moveTo>
                  <a:lnTo>
                    <a:pt x="1895662" y="0"/>
                  </a:lnTo>
                  <a:lnTo>
                    <a:pt x="1895662" y="240013"/>
                  </a:lnTo>
                  <a:lnTo>
                    <a:pt x="0" y="240013"/>
                  </a:lnTo>
                  <a:close/>
                </a:path>
              </a:pathLst>
            </a:custGeom>
            <a:solidFill>
              <a:srgbClr val="231076"/>
            </a:solidFill>
          </p:spPr>
        </p:sp>
        <p:sp>
          <p:nvSpPr>
            <p:cNvPr name="TextBox 22" id="22"/>
            <p:cNvSpPr txBox="true"/>
            <p:nvPr/>
          </p:nvSpPr>
          <p:spPr>
            <a:xfrm>
              <a:off x="0" y="-57150"/>
              <a:ext cx="1895662" cy="297163"/>
            </a:xfrm>
            <a:prstGeom prst="rect">
              <a:avLst/>
            </a:prstGeom>
          </p:spPr>
          <p:txBody>
            <a:bodyPr anchor="ctr" rtlCol="false" tIns="241300" lIns="241300" bIns="241300" rIns="241300"/>
            <a:lstStyle/>
            <a:p>
              <a:pPr algn="just">
                <a:lnSpc>
                  <a:spcPts val="3919"/>
                </a:lnSpc>
              </a:pPr>
              <a:r>
                <a:rPr lang="en-US" b="true" sz="2799">
                  <a:solidFill>
                    <a:srgbClr val="FFFFFF"/>
                  </a:solidFill>
                  <a:latin typeface="TT Chocolates Bold"/>
                  <a:ea typeface="TT Chocolates Bold"/>
                  <a:cs typeface="TT Chocolates Bold"/>
                  <a:sym typeface="TT Chocolates Bold"/>
                </a:rPr>
                <a:t>06. SQL Analysis, Insight, &amp; Visualization</a:t>
              </a:r>
            </a:p>
          </p:txBody>
        </p:sp>
      </p:grpSp>
      <p:grpSp>
        <p:nvGrpSpPr>
          <p:cNvPr name="Group 23" id="23"/>
          <p:cNvGrpSpPr/>
          <p:nvPr/>
        </p:nvGrpSpPr>
        <p:grpSpPr>
          <a:xfrm rot="0">
            <a:off x="9252795" y="6125771"/>
            <a:ext cx="7197591" cy="911301"/>
            <a:chOff x="0" y="0"/>
            <a:chExt cx="1895662" cy="240013"/>
          </a:xfrm>
        </p:grpSpPr>
        <p:sp>
          <p:nvSpPr>
            <p:cNvPr name="Freeform 24" id="24"/>
            <p:cNvSpPr/>
            <p:nvPr/>
          </p:nvSpPr>
          <p:spPr>
            <a:xfrm flipH="false" flipV="false" rot="0">
              <a:off x="0" y="0"/>
              <a:ext cx="1895662" cy="240013"/>
            </a:xfrm>
            <a:custGeom>
              <a:avLst/>
              <a:gdLst/>
              <a:ahLst/>
              <a:cxnLst/>
              <a:rect r="r" b="b" t="t" l="l"/>
              <a:pathLst>
                <a:path h="240013" w="1895662">
                  <a:moveTo>
                    <a:pt x="0" y="0"/>
                  </a:moveTo>
                  <a:lnTo>
                    <a:pt x="1895662" y="0"/>
                  </a:lnTo>
                  <a:lnTo>
                    <a:pt x="1895662" y="240013"/>
                  </a:lnTo>
                  <a:lnTo>
                    <a:pt x="0" y="240013"/>
                  </a:lnTo>
                  <a:close/>
                </a:path>
              </a:pathLst>
            </a:custGeom>
            <a:solidFill>
              <a:srgbClr val="231076"/>
            </a:solidFill>
          </p:spPr>
        </p:sp>
        <p:sp>
          <p:nvSpPr>
            <p:cNvPr name="TextBox 25" id="25"/>
            <p:cNvSpPr txBox="true"/>
            <p:nvPr/>
          </p:nvSpPr>
          <p:spPr>
            <a:xfrm>
              <a:off x="0" y="-57150"/>
              <a:ext cx="1895662" cy="297163"/>
            </a:xfrm>
            <a:prstGeom prst="rect">
              <a:avLst/>
            </a:prstGeom>
          </p:spPr>
          <p:txBody>
            <a:bodyPr anchor="ctr" rtlCol="false" tIns="241300" lIns="241300" bIns="241300" rIns="241300"/>
            <a:lstStyle/>
            <a:p>
              <a:pPr algn="just">
                <a:lnSpc>
                  <a:spcPts val="3919"/>
                </a:lnSpc>
              </a:pPr>
              <a:r>
                <a:rPr lang="en-US" b="true" sz="2799">
                  <a:solidFill>
                    <a:srgbClr val="FFFFFF"/>
                  </a:solidFill>
                  <a:latin typeface="TT Chocolates Bold"/>
                  <a:ea typeface="TT Chocolates Bold"/>
                  <a:cs typeface="TT Chocolates Bold"/>
                  <a:sym typeface="TT Chocolates Bold"/>
                </a:rPr>
                <a:t>07. Recommendation</a:t>
              </a:r>
            </a:p>
          </p:txBody>
        </p:sp>
      </p:grpSp>
      <p:grpSp>
        <p:nvGrpSpPr>
          <p:cNvPr name="Group 26" id="26"/>
          <p:cNvGrpSpPr/>
          <p:nvPr/>
        </p:nvGrpSpPr>
        <p:grpSpPr>
          <a:xfrm rot="0">
            <a:off x="9252795" y="4035875"/>
            <a:ext cx="7197591" cy="911301"/>
            <a:chOff x="0" y="0"/>
            <a:chExt cx="1895662" cy="240013"/>
          </a:xfrm>
        </p:grpSpPr>
        <p:sp>
          <p:nvSpPr>
            <p:cNvPr name="Freeform 27" id="27"/>
            <p:cNvSpPr/>
            <p:nvPr/>
          </p:nvSpPr>
          <p:spPr>
            <a:xfrm flipH="false" flipV="false" rot="0">
              <a:off x="0" y="0"/>
              <a:ext cx="1895662" cy="240013"/>
            </a:xfrm>
            <a:custGeom>
              <a:avLst/>
              <a:gdLst/>
              <a:ahLst/>
              <a:cxnLst/>
              <a:rect r="r" b="b" t="t" l="l"/>
              <a:pathLst>
                <a:path h="240013" w="1895662">
                  <a:moveTo>
                    <a:pt x="0" y="0"/>
                  </a:moveTo>
                  <a:lnTo>
                    <a:pt x="1895662" y="0"/>
                  </a:lnTo>
                  <a:lnTo>
                    <a:pt x="1895662" y="240013"/>
                  </a:lnTo>
                  <a:lnTo>
                    <a:pt x="0" y="240013"/>
                  </a:lnTo>
                  <a:close/>
                </a:path>
              </a:pathLst>
            </a:custGeom>
            <a:solidFill>
              <a:srgbClr val="231076"/>
            </a:solidFill>
          </p:spPr>
        </p:sp>
        <p:sp>
          <p:nvSpPr>
            <p:cNvPr name="TextBox 28" id="28"/>
            <p:cNvSpPr txBox="true"/>
            <p:nvPr/>
          </p:nvSpPr>
          <p:spPr>
            <a:xfrm>
              <a:off x="0" y="-57150"/>
              <a:ext cx="1895662" cy="297163"/>
            </a:xfrm>
            <a:prstGeom prst="rect">
              <a:avLst/>
            </a:prstGeom>
          </p:spPr>
          <p:txBody>
            <a:bodyPr anchor="ctr" rtlCol="false" tIns="241300" lIns="241300" bIns="241300" rIns="241300"/>
            <a:lstStyle/>
            <a:p>
              <a:pPr algn="just">
                <a:lnSpc>
                  <a:spcPts val="3919"/>
                </a:lnSpc>
              </a:pPr>
              <a:r>
                <a:rPr lang="en-US" b="true" sz="2799">
                  <a:solidFill>
                    <a:srgbClr val="FFFFFF"/>
                  </a:solidFill>
                  <a:latin typeface="TT Chocolates Bold"/>
                  <a:ea typeface="TT Chocolates Bold"/>
                  <a:cs typeface="TT Chocolates Bold"/>
                  <a:sym typeface="TT Chocolates Bold"/>
                </a:rPr>
                <a:t>05. Business Metrics</a:t>
              </a:r>
            </a:p>
          </p:txBody>
        </p:sp>
      </p:grpSp>
      <p:grpSp>
        <p:nvGrpSpPr>
          <p:cNvPr name="Group 29" id="29"/>
          <p:cNvGrpSpPr/>
          <p:nvPr/>
        </p:nvGrpSpPr>
        <p:grpSpPr>
          <a:xfrm rot="0">
            <a:off x="9252795" y="7141847"/>
            <a:ext cx="7197591" cy="911301"/>
            <a:chOff x="0" y="0"/>
            <a:chExt cx="1895662" cy="240013"/>
          </a:xfrm>
        </p:grpSpPr>
        <p:sp>
          <p:nvSpPr>
            <p:cNvPr name="Freeform 30" id="30"/>
            <p:cNvSpPr/>
            <p:nvPr/>
          </p:nvSpPr>
          <p:spPr>
            <a:xfrm flipH="false" flipV="false" rot="0">
              <a:off x="0" y="0"/>
              <a:ext cx="1895662" cy="240013"/>
            </a:xfrm>
            <a:custGeom>
              <a:avLst/>
              <a:gdLst/>
              <a:ahLst/>
              <a:cxnLst/>
              <a:rect r="r" b="b" t="t" l="l"/>
              <a:pathLst>
                <a:path h="240013" w="1895662">
                  <a:moveTo>
                    <a:pt x="0" y="0"/>
                  </a:moveTo>
                  <a:lnTo>
                    <a:pt x="1895662" y="0"/>
                  </a:lnTo>
                  <a:lnTo>
                    <a:pt x="1895662" y="240013"/>
                  </a:lnTo>
                  <a:lnTo>
                    <a:pt x="0" y="240013"/>
                  </a:lnTo>
                  <a:close/>
                </a:path>
              </a:pathLst>
            </a:custGeom>
            <a:solidFill>
              <a:srgbClr val="231076"/>
            </a:solidFill>
          </p:spPr>
        </p:sp>
        <p:sp>
          <p:nvSpPr>
            <p:cNvPr name="TextBox 31" id="31"/>
            <p:cNvSpPr txBox="true"/>
            <p:nvPr/>
          </p:nvSpPr>
          <p:spPr>
            <a:xfrm>
              <a:off x="0" y="-57150"/>
              <a:ext cx="1895662" cy="297163"/>
            </a:xfrm>
            <a:prstGeom prst="rect">
              <a:avLst/>
            </a:prstGeom>
          </p:spPr>
          <p:txBody>
            <a:bodyPr anchor="ctr" rtlCol="false" tIns="241300" lIns="241300" bIns="241300" rIns="241300"/>
            <a:lstStyle/>
            <a:p>
              <a:pPr algn="just">
                <a:lnSpc>
                  <a:spcPts val="3919"/>
                </a:lnSpc>
              </a:pPr>
              <a:r>
                <a:rPr lang="en-US" b="true" sz="2799">
                  <a:solidFill>
                    <a:srgbClr val="FFFFFF"/>
                  </a:solidFill>
                  <a:latin typeface="TT Chocolates Bold"/>
                  <a:ea typeface="TT Chocolates Bold"/>
                  <a:cs typeface="TT Chocolates Bold"/>
                  <a:sym typeface="TT Chocolates Bold"/>
                </a:rPr>
                <a:t>08. Conclusion</a:t>
              </a:r>
            </a:p>
          </p:txBody>
        </p:sp>
      </p:grpSp>
      <p:grpSp>
        <p:nvGrpSpPr>
          <p:cNvPr name="Group 32" id="32"/>
          <p:cNvGrpSpPr/>
          <p:nvPr/>
        </p:nvGrpSpPr>
        <p:grpSpPr>
          <a:xfrm rot="0">
            <a:off x="1863516" y="7152314"/>
            <a:ext cx="7197591" cy="911301"/>
            <a:chOff x="0" y="0"/>
            <a:chExt cx="1895662" cy="240013"/>
          </a:xfrm>
        </p:grpSpPr>
        <p:sp>
          <p:nvSpPr>
            <p:cNvPr name="Freeform 33" id="33"/>
            <p:cNvSpPr/>
            <p:nvPr/>
          </p:nvSpPr>
          <p:spPr>
            <a:xfrm flipH="false" flipV="false" rot="0">
              <a:off x="0" y="0"/>
              <a:ext cx="1895662" cy="240013"/>
            </a:xfrm>
            <a:custGeom>
              <a:avLst/>
              <a:gdLst/>
              <a:ahLst/>
              <a:cxnLst/>
              <a:rect r="r" b="b" t="t" l="l"/>
              <a:pathLst>
                <a:path h="240013" w="1895662">
                  <a:moveTo>
                    <a:pt x="0" y="0"/>
                  </a:moveTo>
                  <a:lnTo>
                    <a:pt x="1895662" y="0"/>
                  </a:lnTo>
                  <a:lnTo>
                    <a:pt x="1895662" y="240013"/>
                  </a:lnTo>
                  <a:lnTo>
                    <a:pt x="0" y="240013"/>
                  </a:lnTo>
                  <a:close/>
                </a:path>
              </a:pathLst>
            </a:custGeom>
            <a:solidFill>
              <a:srgbClr val="231076"/>
            </a:solidFill>
          </p:spPr>
        </p:sp>
        <p:sp>
          <p:nvSpPr>
            <p:cNvPr name="TextBox 34" id="34"/>
            <p:cNvSpPr txBox="true"/>
            <p:nvPr/>
          </p:nvSpPr>
          <p:spPr>
            <a:xfrm>
              <a:off x="0" y="-57150"/>
              <a:ext cx="1895662" cy="297163"/>
            </a:xfrm>
            <a:prstGeom prst="rect">
              <a:avLst/>
            </a:prstGeom>
          </p:spPr>
          <p:txBody>
            <a:bodyPr anchor="ctr" rtlCol="false" tIns="241300" lIns="241300" bIns="241300" rIns="241300"/>
            <a:lstStyle/>
            <a:p>
              <a:pPr algn="just">
                <a:lnSpc>
                  <a:spcPts val="3919"/>
                </a:lnSpc>
              </a:pPr>
              <a:r>
                <a:rPr lang="en-US" b="true" sz="2799">
                  <a:solidFill>
                    <a:srgbClr val="FFFFFF"/>
                  </a:solidFill>
                  <a:latin typeface="TT Chocolates Bold"/>
                  <a:ea typeface="TT Chocolates Bold"/>
                  <a:cs typeface="TT Chocolates Bold"/>
                  <a:sym typeface="TT Chocolates Bold"/>
                </a:rPr>
                <a:t>04. Python &amp; EDA</a:t>
              </a:r>
            </a:p>
          </p:txBody>
        </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BFBF9"/>
        </a:solidFill>
      </p:bgPr>
    </p:bg>
    <p:spTree>
      <p:nvGrpSpPr>
        <p:cNvPr id="1" name=""/>
        <p:cNvGrpSpPr/>
        <p:nvPr/>
      </p:nvGrpSpPr>
      <p:grpSpPr>
        <a:xfrm>
          <a:off x="0" y="0"/>
          <a:ext cx="0" cy="0"/>
          <a:chOff x="0" y="0"/>
          <a:chExt cx="0" cy="0"/>
        </a:xfrm>
      </p:grpSpPr>
      <p:grpSp>
        <p:nvGrpSpPr>
          <p:cNvPr name="Group 2" id="2"/>
          <p:cNvGrpSpPr/>
          <p:nvPr/>
        </p:nvGrpSpPr>
        <p:grpSpPr>
          <a:xfrm rot="0">
            <a:off x="14732226" y="-594167"/>
            <a:ext cx="4030556" cy="11475333"/>
            <a:chOff x="0" y="0"/>
            <a:chExt cx="366364" cy="1043069"/>
          </a:xfrm>
        </p:grpSpPr>
        <p:sp>
          <p:nvSpPr>
            <p:cNvPr name="Freeform 3" id="3"/>
            <p:cNvSpPr/>
            <p:nvPr/>
          </p:nvSpPr>
          <p:spPr>
            <a:xfrm flipH="false" flipV="false" rot="0">
              <a:off x="0" y="0"/>
              <a:ext cx="366364" cy="1043069"/>
            </a:xfrm>
            <a:custGeom>
              <a:avLst/>
              <a:gdLst/>
              <a:ahLst/>
              <a:cxnLst/>
              <a:rect r="r" b="b" t="t" l="l"/>
              <a:pathLst>
                <a:path h="1043069" w="366364">
                  <a:moveTo>
                    <a:pt x="0" y="0"/>
                  </a:moveTo>
                  <a:lnTo>
                    <a:pt x="366364" y="0"/>
                  </a:lnTo>
                  <a:lnTo>
                    <a:pt x="366364" y="1043069"/>
                  </a:lnTo>
                  <a:lnTo>
                    <a:pt x="0" y="1043069"/>
                  </a:lnTo>
                  <a:close/>
                </a:path>
              </a:pathLst>
            </a:custGeom>
            <a:solidFill>
              <a:srgbClr val="8574D1"/>
            </a:solidFill>
          </p:spPr>
        </p:sp>
        <p:sp>
          <p:nvSpPr>
            <p:cNvPr name="TextBox 4" id="4"/>
            <p:cNvSpPr txBox="true"/>
            <p:nvPr/>
          </p:nvSpPr>
          <p:spPr>
            <a:xfrm>
              <a:off x="0" y="-9525"/>
              <a:ext cx="366364" cy="1052594"/>
            </a:xfrm>
            <a:prstGeom prst="rect">
              <a:avLst/>
            </a:prstGeom>
          </p:spPr>
          <p:txBody>
            <a:bodyPr anchor="ctr" rtlCol="false" tIns="50800" lIns="50800" bIns="50800" rIns="50800"/>
            <a:lstStyle/>
            <a:p>
              <a:pPr algn="ctr">
                <a:lnSpc>
                  <a:spcPts val="2952"/>
                </a:lnSpc>
              </a:pPr>
            </a:p>
          </p:txBody>
        </p:sp>
      </p:grpSp>
      <p:sp>
        <p:nvSpPr>
          <p:cNvPr name="Freeform 5" id="5"/>
          <p:cNvSpPr/>
          <p:nvPr/>
        </p:nvSpPr>
        <p:spPr>
          <a:xfrm flipH="false" flipV="false" rot="0">
            <a:off x="-983410" y="7579936"/>
            <a:ext cx="3527569" cy="3301230"/>
          </a:xfrm>
          <a:custGeom>
            <a:avLst/>
            <a:gdLst/>
            <a:ahLst/>
            <a:cxnLst/>
            <a:rect r="r" b="b" t="t" l="l"/>
            <a:pathLst>
              <a:path h="3301230" w="3527569">
                <a:moveTo>
                  <a:pt x="0" y="0"/>
                </a:moveTo>
                <a:lnTo>
                  <a:pt x="3527569" y="0"/>
                </a:lnTo>
                <a:lnTo>
                  <a:pt x="3527569" y="3301231"/>
                </a:lnTo>
                <a:lnTo>
                  <a:pt x="0" y="3301231"/>
                </a:lnTo>
                <a:lnTo>
                  <a:pt x="0" y="0"/>
                </a:lnTo>
                <a:close/>
              </a:path>
            </a:pathLst>
          </a:custGeom>
          <a:blipFill>
            <a:blip r:embed="rId2">
              <a:alphaModFix amt="38000"/>
            </a:blip>
            <a:stretch>
              <a:fillRect l="0" t="0" r="0" b="0"/>
            </a:stretch>
          </a:blipFill>
        </p:spPr>
      </p:sp>
      <p:sp>
        <p:nvSpPr>
          <p:cNvPr name="Freeform 6" id="6"/>
          <p:cNvSpPr/>
          <p:nvPr/>
        </p:nvSpPr>
        <p:spPr>
          <a:xfrm flipH="true" flipV="false" rot="0">
            <a:off x="13036518" y="2207260"/>
            <a:ext cx="5108607" cy="6385758"/>
          </a:xfrm>
          <a:custGeom>
            <a:avLst/>
            <a:gdLst/>
            <a:ahLst/>
            <a:cxnLst/>
            <a:rect r="r" b="b" t="t" l="l"/>
            <a:pathLst>
              <a:path h="6385758" w="5108607">
                <a:moveTo>
                  <a:pt x="5108607" y="0"/>
                </a:moveTo>
                <a:lnTo>
                  <a:pt x="0" y="0"/>
                </a:lnTo>
                <a:lnTo>
                  <a:pt x="0" y="6385758"/>
                </a:lnTo>
                <a:lnTo>
                  <a:pt x="5108607" y="6385758"/>
                </a:lnTo>
                <a:lnTo>
                  <a:pt x="5108607" y="0"/>
                </a:lnTo>
                <a:close/>
              </a:path>
            </a:pathLst>
          </a:custGeom>
          <a:blipFill>
            <a:blip r:embed="rId3"/>
            <a:stretch>
              <a:fillRect l="0" t="0" r="0" b="0"/>
            </a:stretch>
          </a:blipFill>
        </p:spPr>
      </p:sp>
      <p:sp>
        <p:nvSpPr>
          <p:cNvPr name="TextBox 7" id="7"/>
          <p:cNvSpPr txBox="true"/>
          <p:nvPr/>
        </p:nvSpPr>
        <p:spPr>
          <a:xfrm rot="0">
            <a:off x="1028700" y="923925"/>
            <a:ext cx="10043297" cy="936625"/>
          </a:xfrm>
          <a:prstGeom prst="rect">
            <a:avLst/>
          </a:prstGeom>
        </p:spPr>
        <p:txBody>
          <a:bodyPr anchor="t" rtlCol="false" tIns="0" lIns="0" bIns="0" rIns="0">
            <a:spAutoFit/>
          </a:bodyPr>
          <a:lstStyle/>
          <a:p>
            <a:pPr algn="l">
              <a:lnSpc>
                <a:spcPts val="7699"/>
              </a:lnSpc>
            </a:pPr>
            <a:r>
              <a:rPr lang="en-US" sz="5499" b="true">
                <a:solidFill>
                  <a:srgbClr val="0E0340"/>
                </a:solidFill>
                <a:latin typeface="TT Chocolates Bold"/>
                <a:ea typeface="TT Chocolates Bold"/>
                <a:cs typeface="TT Chocolates Bold"/>
                <a:sym typeface="TT Chocolates Bold"/>
              </a:rPr>
              <a:t>01. Introduction</a:t>
            </a:r>
          </a:p>
        </p:txBody>
      </p:sp>
      <p:sp>
        <p:nvSpPr>
          <p:cNvPr name="TextBox 8" id="8"/>
          <p:cNvSpPr txBox="true"/>
          <p:nvPr/>
        </p:nvSpPr>
        <p:spPr>
          <a:xfrm rot="0">
            <a:off x="1028700" y="3022382"/>
            <a:ext cx="11514833" cy="5324475"/>
          </a:xfrm>
          <a:prstGeom prst="rect">
            <a:avLst/>
          </a:prstGeom>
        </p:spPr>
        <p:txBody>
          <a:bodyPr anchor="t" rtlCol="false" tIns="0" lIns="0" bIns="0" rIns="0">
            <a:spAutoFit/>
          </a:bodyPr>
          <a:lstStyle/>
          <a:p>
            <a:pPr algn="just">
              <a:lnSpc>
                <a:spcPts val="4200"/>
              </a:lnSpc>
            </a:pPr>
            <a:r>
              <a:rPr lang="en-US" sz="3000">
                <a:solidFill>
                  <a:srgbClr val="0E0340"/>
                </a:solidFill>
                <a:latin typeface="Questrial"/>
                <a:ea typeface="Questrial"/>
                <a:cs typeface="Questrial"/>
                <a:sym typeface="Questrial"/>
              </a:rPr>
              <a:t>Brazilian E-Commerce Public Dataset by Olist merupakan kumpulan data transaksi e-commerce nyata yang berasal dari salah satu platform marketplace terbesar di Brasil, Olist. Dataset ini mencakup sekitar 100.000 pesanan yang terjadi pada periode 2016 hingga 2018 di berbagai marketplace di Brasil.</a:t>
            </a:r>
          </a:p>
          <a:p>
            <a:pPr algn="just">
              <a:lnSpc>
                <a:spcPts val="4200"/>
              </a:lnSpc>
            </a:pPr>
          </a:p>
          <a:p>
            <a:pPr algn="just">
              <a:lnSpc>
                <a:spcPts val="4200"/>
              </a:lnSpc>
            </a:pPr>
            <a:r>
              <a:rPr lang="en-US" sz="3000">
                <a:solidFill>
                  <a:srgbClr val="0E0340"/>
                </a:solidFill>
                <a:latin typeface="Questrial"/>
                <a:ea typeface="Questrial"/>
                <a:cs typeface="Questrial"/>
                <a:sym typeface="Questrial"/>
              </a:rPr>
              <a:t>Dataset ini bersifat multi-tabel (relational dataset) yang terdiri dari beberapa file yang saling terhubung, seperti informasi pesanan, pelanggan, produk, pembayaran, pengiriman, hingga ulasan pelanggan.</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BFBF9"/>
        </a:solidFill>
      </p:bgPr>
    </p:bg>
    <p:spTree>
      <p:nvGrpSpPr>
        <p:cNvPr id="1" name=""/>
        <p:cNvGrpSpPr/>
        <p:nvPr/>
      </p:nvGrpSpPr>
      <p:grpSpPr>
        <a:xfrm>
          <a:off x="0" y="0"/>
          <a:ext cx="0" cy="0"/>
          <a:chOff x="0" y="0"/>
          <a:chExt cx="0" cy="0"/>
        </a:xfrm>
      </p:grpSpPr>
      <p:grpSp>
        <p:nvGrpSpPr>
          <p:cNvPr name="Group 2" id="2"/>
          <p:cNvGrpSpPr/>
          <p:nvPr/>
        </p:nvGrpSpPr>
        <p:grpSpPr>
          <a:xfrm rot="0">
            <a:off x="0" y="628584"/>
            <a:ext cx="18288000" cy="1944952"/>
            <a:chOff x="0" y="0"/>
            <a:chExt cx="4816593" cy="512251"/>
          </a:xfrm>
        </p:grpSpPr>
        <p:sp>
          <p:nvSpPr>
            <p:cNvPr name="Freeform 3" id="3"/>
            <p:cNvSpPr/>
            <p:nvPr/>
          </p:nvSpPr>
          <p:spPr>
            <a:xfrm flipH="false" flipV="false" rot="0">
              <a:off x="0" y="0"/>
              <a:ext cx="4816592" cy="512251"/>
            </a:xfrm>
            <a:custGeom>
              <a:avLst/>
              <a:gdLst/>
              <a:ahLst/>
              <a:cxnLst/>
              <a:rect r="r" b="b" t="t" l="l"/>
              <a:pathLst>
                <a:path h="512251" w="4816592">
                  <a:moveTo>
                    <a:pt x="0" y="0"/>
                  </a:moveTo>
                  <a:lnTo>
                    <a:pt x="4816592" y="0"/>
                  </a:lnTo>
                  <a:lnTo>
                    <a:pt x="4816592" y="512251"/>
                  </a:lnTo>
                  <a:lnTo>
                    <a:pt x="0" y="512251"/>
                  </a:lnTo>
                  <a:close/>
                </a:path>
              </a:pathLst>
            </a:custGeom>
            <a:solidFill>
              <a:srgbClr val="231076">
                <a:alpha val="73725"/>
              </a:srgbClr>
            </a:solidFill>
          </p:spPr>
        </p:sp>
        <p:sp>
          <p:nvSpPr>
            <p:cNvPr name="TextBox 4" id="4"/>
            <p:cNvSpPr txBox="true"/>
            <p:nvPr/>
          </p:nvSpPr>
          <p:spPr>
            <a:xfrm>
              <a:off x="0" y="-47625"/>
              <a:ext cx="4816593" cy="559876"/>
            </a:xfrm>
            <a:prstGeom prst="rect">
              <a:avLst/>
            </a:prstGeom>
          </p:spPr>
          <p:txBody>
            <a:bodyPr anchor="ctr" rtlCol="false" tIns="50800" lIns="50800" bIns="50800" rIns="50800"/>
            <a:lstStyle/>
            <a:p>
              <a:pPr algn="ctr">
                <a:lnSpc>
                  <a:spcPts val="2659"/>
                </a:lnSpc>
                <a:spcBef>
                  <a:spcPct val="0"/>
                </a:spcBef>
              </a:pPr>
            </a:p>
          </p:txBody>
        </p:sp>
      </p:grpSp>
      <p:sp>
        <p:nvSpPr>
          <p:cNvPr name="TextBox 5" id="5"/>
          <p:cNvSpPr txBox="true"/>
          <p:nvPr/>
        </p:nvSpPr>
        <p:spPr>
          <a:xfrm rot="0">
            <a:off x="3553071" y="1080360"/>
            <a:ext cx="16218413" cy="936625"/>
          </a:xfrm>
          <a:prstGeom prst="rect">
            <a:avLst/>
          </a:prstGeom>
        </p:spPr>
        <p:txBody>
          <a:bodyPr anchor="t" rtlCol="false" tIns="0" lIns="0" bIns="0" rIns="0">
            <a:spAutoFit/>
          </a:bodyPr>
          <a:lstStyle/>
          <a:p>
            <a:pPr algn="l">
              <a:lnSpc>
                <a:spcPts val="7699"/>
              </a:lnSpc>
            </a:pPr>
            <a:r>
              <a:rPr lang="en-US" sz="5499" b="true">
                <a:solidFill>
                  <a:srgbClr val="FFFFFF"/>
                </a:solidFill>
                <a:latin typeface="TT Chocolates Bold"/>
                <a:ea typeface="TT Chocolates Bold"/>
                <a:cs typeface="TT Chocolates Bold"/>
                <a:sym typeface="TT Chocolates Bold"/>
              </a:rPr>
              <a:t>02. Business Understanding</a:t>
            </a:r>
          </a:p>
        </p:txBody>
      </p:sp>
      <p:sp>
        <p:nvSpPr>
          <p:cNvPr name="Freeform 6" id="6"/>
          <p:cNvSpPr/>
          <p:nvPr/>
        </p:nvSpPr>
        <p:spPr>
          <a:xfrm flipH="false" flipV="false" rot="-698484">
            <a:off x="14747052" y="7153349"/>
            <a:ext cx="3261578" cy="3101464"/>
          </a:xfrm>
          <a:custGeom>
            <a:avLst/>
            <a:gdLst/>
            <a:ahLst/>
            <a:cxnLst/>
            <a:rect r="r" b="b" t="t" l="l"/>
            <a:pathLst>
              <a:path h="3101464" w="3261578">
                <a:moveTo>
                  <a:pt x="0" y="0"/>
                </a:moveTo>
                <a:lnTo>
                  <a:pt x="3261578" y="0"/>
                </a:lnTo>
                <a:lnTo>
                  <a:pt x="3261578" y="3101464"/>
                </a:lnTo>
                <a:lnTo>
                  <a:pt x="0" y="3101464"/>
                </a:lnTo>
                <a:lnTo>
                  <a:pt x="0" y="0"/>
                </a:lnTo>
                <a:close/>
              </a:path>
            </a:pathLst>
          </a:custGeom>
          <a:blipFill>
            <a:blip r:embed="rId2">
              <a:alphaModFix amt="72000"/>
              <a:extLst>
                <a:ext uri="{96DAC541-7B7A-43D3-8B79-37D633B846F1}">
                  <asvg:svgBlip xmlns:asvg="http://schemas.microsoft.com/office/drawing/2016/SVG/main" r:embed="rId3"/>
                </a:ext>
              </a:extLst>
            </a:blip>
            <a:stretch>
              <a:fillRect l="0" t="0" r="0" b="0"/>
            </a:stretch>
          </a:blipFill>
        </p:spPr>
      </p:sp>
      <p:sp>
        <p:nvSpPr>
          <p:cNvPr name="TextBox 7" id="7"/>
          <p:cNvSpPr txBox="true"/>
          <p:nvPr/>
        </p:nvSpPr>
        <p:spPr>
          <a:xfrm rot="0">
            <a:off x="603705" y="3176738"/>
            <a:ext cx="3991481" cy="620531"/>
          </a:xfrm>
          <a:prstGeom prst="rect">
            <a:avLst/>
          </a:prstGeom>
        </p:spPr>
        <p:txBody>
          <a:bodyPr anchor="t" rtlCol="false" tIns="0" lIns="0" bIns="0" rIns="0">
            <a:spAutoFit/>
          </a:bodyPr>
          <a:lstStyle/>
          <a:p>
            <a:pPr algn="l">
              <a:lnSpc>
                <a:spcPts val="5172"/>
              </a:lnSpc>
            </a:pPr>
            <a:r>
              <a:rPr lang="en-US" sz="3694" b="true">
                <a:solidFill>
                  <a:srgbClr val="0E0340"/>
                </a:solidFill>
                <a:latin typeface="TT Chocolates Bold"/>
                <a:ea typeface="TT Chocolates Bold"/>
                <a:cs typeface="TT Chocolates Bold"/>
                <a:sym typeface="TT Chocolates Bold"/>
              </a:rPr>
              <a:t>Bussines Problem</a:t>
            </a:r>
          </a:p>
        </p:txBody>
      </p:sp>
      <p:sp>
        <p:nvSpPr>
          <p:cNvPr name="TextBox 8" id="8"/>
          <p:cNvSpPr txBox="true"/>
          <p:nvPr/>
        </p:nvSpPr>
        <p:spPr>
          <a:xfrm rot="0">
            <a:off x="603705" y="3974237"/>
            <a:ext cx="5444965" cy="4113633"/>
          </a:xfrm>
          <a:prstGeom prst="rect">
            <a:avLst/>
          </a:prstGeom>
        </p:spPr>
        <p:txBody>
          <a:bodyPr anchor="t" rtlCol="false" tIns="0" lIns="0" bIns="0" rIns="0">
            <a:spAutoFit/>
          </a:bodyPr>
          <a:lstStyle/>
          <a:p>
            <a:pPr algn="just">
              <a:lnSpc>
                <a:spcPts val="3234"/>
              </a:lnSpc>
            </a:pPr>
            <a:r>
              <a:rPr lang="en-US" sz="2310">
                <a:solidFill>
                  <a:srgbClr val="0E0340"/>
                </a:solidFill>
                <a:latin typeface="Questrial"/>
                <a:ea typeface="Questrial"/>
                <a:cs typeface="Questrial"/>
                <a:sym typeface="Questrial"/>
              </a:rPr>
              <a:t>Perusahaan menghadapi tantangan dalam meningkatkan kepuasan pelanggan dan performa bisnis yang mungkin dipengaruhi oleh keterlambatan pengiriman, perbedaan performa produk dan seller, dan rendahnya review pelanggan. Selain itu, data transaksi belum dimanfaatkan secara optimal untuk memahami perilaku dan loyalitas pelanggan.</a:t>
            </a:r>
          </a:p>
        </p:txBody>
      </p:sp>
      <p:sp>
        <p:nvSpPr>
          <p:cNvPr name="TextBox 9" id="9"/>
          <p:cNvSpPr txBox="true"/>
          <p:nvPr/>
        </p:nvSpPr>
        <p:spPr>
          <a:xfrm rot="0">
            <a:off x="6626401" y="3176738"/>
            <a:ext cx="5310628" cy="620531"/>
          </a:xfrm>
          <a:prstGeom prst="rect">
            <a:avLst/>
          </a:prstGeom>
        </p:spPr>
        <p:txBody>
          <a:bodyPr anchor="t" rtlCol="false" tIns="0" lIns="0" bIns="0" rIns="0">
            <a:spAutoFit/>
          </a:bodyPr>
          <a:lstStyle/>
          <a:p>
            <a:pPr algn="l">
              <a:lnSpc>
                <a:spcPts val="5172"/>
              </a:lnSpc>
            </a:pPr>
            <a:r>
              <a:rPr lang="en-US" sz="3694" b="true">
                <a:solidFill>
                  <a:srgbClr val="0E0340"/>
                </a:solidFill>
                <a:latin typeface="TT Chocolates Bold"/>
                <a:ea typeface="TT Chocolates Bold"/>
                <a:cs typeface="TT Chocolates Bold"/>
                <a:sym typeface="TT Chocolates Bold"/>
              </a:rPr>
              <a:t>Goal</a:t>
            </a:r>
          </a:p>
        </p:txBody>
      </p:sp>
      <p:sp>
        <p:nvSpPr>
          <p:cNvPr name="TextBox 10" id="10"/>
          <p:cNvSpPr txBox="true"/>
          <p:nvPr/>
        </p:nvSpPr>
        <p:spPr>
          <a:xfrm rot="0">
            <a:off x="6598223" y="3998994"/>
            <a:ext cx="5310628" cy="4113633"/>
          </a:xfrm>
          <a:prstGeom prst="rect">
            <a:avLst/>
          </a:prstGeom>
        </p:spPr>
        <p:txBody>
          <a:bodyPr anchor="t" rtlCol="false" tIns="0" lIns="0" bIns="0" rIns="0">
            <a:spAutoFit/>
          </a:bodyPr>
          <a:lstStyle/>
          <a:p>
            <a:pPr algn="just">
              <a:lnSpc>
                <a:spcPts val="3234"/>
              </a:lnSpc>
            </a:pPr>
            <a:r>
              <a:rPr lang="en-US" sz="2310">
                <a:solidFill>
                  <a:srgbClr val="0E0340"/>
                </a:solidFill>
                <a:latin typeface="Questrial"/>
                <a:ea typeface="Questrial"/>
                <a:cs typeface="Questrial"/>
                <a:sym typeface="Questrial"/>
              </a:rPr>
              <a:t>Membantu perusahaan mengidentifikasi pola transaksi, perilaku pelanggan, performa produk, dan layanan pengiriman melalui pemanfaatan data transaksi guna mendukung strategi pemasaran, evaluasi seller, dan loyalitas pelanggan serta optimalisasi stok produk tertentu untuk meningkatkan revenue perusahaan.</a:t>
            </a:r>
          </a:p>
        </p:txBody>
      </p:sp>
      <p:sp>
        <p:nvSpPr>
          <p:cNvPr name="TextBox 11" id="11"/>
          <p:cNvSpPr txBox="true"/>
          <p:nvPr/>
        </p:nvSpPr>
        <p:spPr>
          <a:xfrm rot="0">
            <a:off x="12699029" y="3176738"/>
            <a:ext cx="5321679" cy="620531"/>
          </a:xfrm>
          <a:prstGeom prst="rect">
            <a:avLst/>
          </a:prstGeom>
        </p:spPr>
        <p:txBody>
          <a:bodyPr anchor="t" rtlCol="false" tIns="0" lIns="0" bIns="0" rIns="0">
            <a:spAutoFit/>
          </a:bodyPr>
          <a:lstStyle/>
          <a:p>
            <a:pPr algn="l">
              <a:lnSpc>
                <a:spcPts val="5172"/>
              </a:lnSpc>
            </a:pPr>
            <a:r>
              <a:rPr lang="en-US" sz="3694" b="true">
                <a:solidFill>
                  <a:srgbClr val="0E0340"/>
                </a:solidFill>
                <a:latin typeface="TT Chocolates Bold"/>
                <a:ea typeface="TT Chocolates Bold"/>
                <a:cs typeface="TT Chocolates Bold"/>
                <a:sym typeface="TT Chocolates Bold"/>
              </a:rPr>
              <a:t>Objective</a:t>
            </a:r>
          </a:p>
        </p:txBody>
      </p:sp>
      <p:sp>
        <p:nvSpPr>
          <p:cNvPr name="TextBox 12" id="12"/>
          <p:cNvSpPr txBox="true"/>
          <p:nvPr/>
        </p:nvSpPr>
        <p:spPr>
          <a:xfrm rot="0">
            <a:off x="12489479" y="3998994"/>
            <a:ext cx="5232580" cy="2881941"/>
          </a:xfrm>
          <a:prstGeom prst="rect">
            <a:avLst/>
          </a:prstGeom>
        </p:spPr>
        <p:txBody>
          <a:bodyPr anchor="t" rtlCol="false" tIns="0" lIns="0" bIns="0" rIns="0">
            <a:spAutoFit/>
          </a:bodyPr>
          <a:lstStyle/>
          <a:p>
            <a:pPr algn="just">
              <a:lnSpc>
                <a:spcPts val="3234"/>
              </a:lnSpc>
            </a:pPr>
            <a:r>
              <a:rPr lang="en-US" sz="2310">
                <a:solidFill>
                  <a:srgbClr val="0E0340"/>
                </a:solidFill>
                <a:latin typeface="Questrial"/>
                <a:ea typeface="Questrial"/>
                <a:cs typeface="Questrial"/>
                <a:sym typeface="Questrial"/>
              </a:rPr>
              <a:t>Menganalisis data transaksi, data pelanggan, data review, serta data pengiriman untuk mengevaluasi perilaku pengguna, performa produk, serta layanan pengiriman guna mendukung peningkatan profit perusahaan</a:t>
            </a:r>
          </a:p>
        </p:txBody>
      </p:sp>
      <p:sp>
        <p:nvSpPr>
          <p:cNvPr name="Freeform 13" id="13"/>
          <p:cNvSpPr/>
          <p:nvPr/>
        </p:nvSpPr>
        <p:spPr>
          <a:xfrm flipH="false" flipV="false" rot="701560">
            <a:off x="592367" y="808232"/>
            <a:ext cx="835423" cy="1007637"/>
          </a:xfrm>
          <a:custGeom>
            <a:avLst/>
            <a:gdLst/>
            <a:ahLst/>
            <a:cxnLst/>
            <a:rect r="r" b="b" t="t" l="l"/>
            <a:pathLst>
              <a:path h="1007637" w="835423">
                <a:moveTo>
                  <a:pt x="0" y="0"/>
                </a:moveTo>
                <a:lnTo>
                  <a:pt x="835423" y="0"/>
                </a:lnTo>
                <a:lnTo>
                  <a:pt x="835423" y="1007637"/>
                </a:lnTo>
                <a:lnTo>
                  <a:pt x="0" y="1007637"/>
                </a:lnTo>
                <a:lnTo>
                  <a:pt x="0" y="0"/>
                </a:lnTo>
                <a:close/>
              </a:path>
            </a:pathLst>
          </a:custGeom>
          <a:blipFill>
            <a:blip r:embed="rId4">
              <a:alphaModFix amt="34000"/>
              <a:extLst>
                <a:ext uri="{96DAC541-7B7A-43D3-8B79-37D633B846F1}">
                  <asvg:svgBlip xmlns:asvg="http://schemas.microsoft.com/office/drawing/2016/SVG/main" r:embed="rId5"/>
                </a:ext>
              </a:extLst>
            </a:blip>
            <a:stretch>
              <a:fillRect l="0" t="0" r="0" b="0"/>
            </a:stretch>
          </a:blipFill>
        </p:spPr>
      </p:sp>
      <p:sp>
        <p:nvSpPr>
          <p:cNvPr name="Freeform 14" id="14"/>
          <p:cNvSpPr/>
          <p:nvPr/>
        </p:nvSpPr>
        <p:spPr>
          <a:xfrm flipH="false" flipV="false" rot="701560">
            <a:off x="1560719" y="1386250"/>
            <a:ext cx="835423" cy="1007637"/>
          </a:xfrm>
          <a:custGeom>
            <a:avLst/>
            <a:gdLst/>
            <a:ahLst/>
            <a:cxnLst/>
            <a:rect r="r" b="b" t="t" l="l"/>
            <a:pathLst>
              <a:path h="1007637" w="835423">
                <a:moveTo>
                  <a:pt x="0" y="0"/>
                </a:moveTo>
                <a:lnTo>
                  <a:pt x="835423" y="0"/>
                </a:lnTo>
                <a:lnTo>
                  <a:pt x="835423" y="1007637"/>
                </a:lnTo>
                <a:lnTo>
                  <a:pt x="0" y="1007637"/>
                </a:lnTo>
                <a:lnTo>
                  <a:pt x="0" y="0"/>
                </a:lnTo>
                <a:close/>
              </a:path>
            </a:pathLst>
          </a:custGeom>
          <a:blipFill>
            <a:blip r:embed="rId4">
              <a:alphaModFix amt="19999"/>
              <a:extLst>
                <a:ext uri="{96DAC541-7B7A-43D3-8B79-37D633B846F1}">
                  <asvg:svgBlip xmlns:asvg="http://schemas.microsoft.com/office/drawing/2016/SVG/main" r:embed="rId5"/>
                </a:ext>
              </a:extLst>
            </a:blip>
            <a:stretch>
              <a:fillRect l="0" t="0" r="0" b="0"/>
            </a:stretch>
          </a:blipFill>
        </p:spPr>
      </p:sp>
      <p:sp>
        <p:nvSpPr>
          <p:cNvPr name="AutoShape 15" id="15"/>
          <p:cNvSpPr/>
          <p:nvPr/>
        </p:nvSpPr>
        <p:spPr>
          <a:xfrm flipH="true">
            <a:off x="6321998" y="4040912"/>
            <a:ext cx="0" cy="4046958"/>
          </a:xfrm>
          <a:prstGeom prst="line">
            <a:avLst/>
          </a:prstGeom>
          <a:ln cap="flat" w="38100">
            <a:solidFill>
              <a:srgbClr val="602E9E">
                <a:alpha val="67843"/>
              </a:srgbClr>
            </a:solidFill>
            <a:prstDash val="sysDash"/>
            <a:headEnd type="none" len="sm" w="sm"/>
            <a:tailEnd type="none" len="sm" w="sm"/>
          </a:ln>
        </p:spPr>
      </p:sp>
      <p:sp>
        <p:nvSpPr>
          <p:cNvPr name="AutoShape 16" id="16"/>
          <p:cNvSpPr/>
          <p:nvPr/>
        </p:nvSpPr>
        <p:spPr>
          <a:xfrm>
            <a:off x="12213254" y="4040912"/>
            <a:ext cx="0" cy="3661151"/>
          </a:xfrm>
          <a:prstGeom prst="line">
            <a:avLst/>
          </a:prstGeom>
          <a:ln cap="flat" w="38100">
            <a:solidFill>
              <a:srgbClr val="602E9E">
                <a:alpha val="67843"/>
              </a:srgbClr>
            </a:solidFill>
            <a:prstDash val="sysDash"/>
            <a:headEnd type="none" len="sm" w="sm"/>
            <a:tailEnd type="none" len="sm" w="sm"/>
          </a:ln>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BFBF9"/>
        </a:solidFill>
      </p:bgPr>
    </p:bg>
    <p:spTree>
      <p:nvGrpSpPr>
        <p:cNvPr id="1" name=""/>
        <p:cNvGrpSpPr/>
        <p:nvPr/>
      </p:nvGrpSpPr>
      <p:grpSpPr>
        <a:xfrm>
          <a:off x="0" y="0"/>
          <a:ext cx="0" cy="0"/>
          <a:chOff x="0" y="0"/>
          <a:chExt cx="0" cy="0"/>
        </a:xfrm>
      </p:grpSpPr>
      <p:sp>
        <p:nvSpPr>
          <p:cNvPr name="Freeform 2" id="2"/>
          <p:cNvSpPr/>
          <p:nvPr/>
        </p:nvSpPr>
        <p:spPr>
          <a:xfrm flipH="false" flipV="false" rot="0">
            <a:off x="-281653" y="-631119"/>
            <a:ext cx="13034119" cy="11209343"/>
          </a:xfrm>
          <a:custGeom>
            <a:avLst/>
            <a:gdLst/>
            <a:ahLst/>
            <a:cxnLst/>
            <a:rect r="r" b="b" t="t" l="l"/>
            <a:pathLst>
              <a:path h="11209343" w="13034119">
                <a:moveTo>
                  <a:pt x="0" y="0"/>
                </a:moveTo>
                <a:lnTo>
                  <a:pt x="13034119" y="0"/>
                </a:lnTo>
                <a:lnTo>
                  <a:pt x="13034119" y="11209342"/>
                </a:lnTo>
                <a:lnTo>
                  <a:pt x="0" y="11209342"/>
                </a:lnTo>
                <a:lnTo>
                  <a:pt x="0" y="0"/>
                </a:lnTo>
                <a:close/>
              </a:path>
            </a:pathLst>
          </a:custGeom>
          <a:blipFill>
            <a:blip r:embed="rId2">
              <a:alphaModFix amt="39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131764" y="0"/>
            <a:ext cx="12300260" cy="10578223"/>
          </a:xfrm>
          <a:custGeom>
            <a:avLst/>
            <a:gdLst/>
            <a:ahLst/>
            <a:cxnLst/>
            <a:rect r="r" b="b" t="t" l="l"/>
            <a:pathLst>
              <a:path h="10578223" w="12300260">
                <a:moveTo>
                  <a:pt x="0" y="0"/>
                </a:moveTo>
                <a:lnTo>
                  <a:pt x="12300260" y="0"/>
                </a:lnTo>
                <a:lnTo>
                  <a:pt x="12300260" y="10578223"/>
                </a:lnTo>
                <a:lnTo>
                  <a:pt x="0" y="10578223"/>
                </a:lnTo>
                <a:lnTo>
                  <a:pt x="0" y="0"/>
                </a:lnTo>
                <a:close/>
              </a:path>
            </a:pathLst>
          </a:custGeom>
          <a:blipFill>
            <a:blip r:embed="rId4">
              <a:alphaModFix amt="49000"/>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2651327" y="1993137"/>
            <a:ext cx="4226556" cy="5175740"/>
          </a:xfrm>
          <a:custGeom>
            <a:avLst/>
            <a:gdLst/>
            <a:ahLst/>
            <a:cxnLst/>
            <a:rect r="r" b="b" t="t" l="l"/>
            <a:pathLst>
              <a:path h="5175740" w="4226556">
                <a:moveTo>
                  <a:pt x="0" y="0"/>
                </a:moveTo>
                <a:lnTo>
                  <a:pt x="4226556" y="0"/>
                </a:lnTo>
                <a:lnTo>
                  <a:pt x="4226556" y="5175740"/>
                </a:lnTo>
                <a:lnTo>
                  <a:pt x="0" y="5175740"/>
                </a:lnTo>
                <a:lnTo>
                  <a:pt x="0" y="0"/>
                </a:lnTo>
                <a:close/>
              </a:path>
            </a:pathLst>
          </a:custGeom>
          <a:blipFill>
            <a:blip r:embed="rId6"/>
            <a:stretch>
              <a:fillRect l="0" t="0" r="0" b="0"/>
            </a:stretch>
          </a:blipFill>
          <a:ln w="38100" cap="sq">
            <a:solidFill>
              <a:srgbClr val="000000"/>
            </a:solidFill>
            <a:prstDash val="solid"/>
            <a:miter/>
          </a:ln>
        </p:spPr>
      </p:sp>
      <p:sp>
        <p:nvSpPr>
          <p:cNvPr name="Freeform 5" id="5"/>
          <p:cNvSpPr/>
          <p:nvPr/>
        </p:nvSpPr>
        <p:spPr>
          <a:xfrm flipH="false" flipV="false" rot="701560">
            <a:off x="17108261" y="8754481"/>
            <a:ext cx="835423" cy="1007637"/>
          </a:xfrm>
          <a:custGeom>
            <a:avLst/>
            <a:gdLst/>
            <a:ahLst/>
            <a:cxnLst/>
            <a:rect r="r" b="b" t="t" l="l"/>
            <a:pathLst>
              <a:path h="1007637" w="835423">
                <a:moveTo>
                  <a:pt x="0" y="0"/>
                </a:moveTo>
                <a:lnTo>
                  <a:pt x="835422" y="0"/>
                </a:lnTo>
                <a:lnTo>
                  <a:pt x="835422" y="1007638"/>
                </a:lnTo>
                <a:lnTo>
                  <a:pt x="0" y="1007638"/>
                </a:lnTo>
                <a:lnTo>
                  <a:pt x="0" y="0"/>
                </a:lnTo>
                <a:close/>
              </a:path>
            </a:pathLst>
          </a:custGeom>
          <a:blipFill>
            <a:blip r:embed="rId7">
              <a:alphaModFix amt="34000"/>
              <a:extLst>
                <a:ext uri="{96DAC541-7B7A-43D3-8B79-37D633B846F1}">
                  <asvg:svgBlip xmlns:asvg="http://schemas.microsoft.com/office/drawing/2016/SVG/main" r:embed="rId8"/>
                </a:ext>
              </a:extLst>
            </a:blip>
            <a:stretch>
              <a:fillRect l="0" t="0" r="0" b="0"/>
            </a:stretch>
          </a:blipFill>
        </p:spPr>
      </p:sp>
      <p:sp>
        <p:nvSpPr>
          <p:cNvPr name="Freeform 6" id="6"/>
          <p:cNvSpPr/>
          <p:nvPr/>
        </p:nvSpPr>
        <p:spPr>
          <a:xfrm flipH="false" flipV="false" rot="0">
            <a:off x="-281653" y="5143500"/>
            <a:ext cx="2373406" cy="5604671"/>
          </a:xfrm>
          <a:custGeom>
            <a:avLst/>
            <a:gdLst/>
            <a:ahLst/>
            <a:cxnLst/>
            <a:rect r="r" b="b" t="t" l="l"/>
            <a:pathLst>
              <a:path h="5604671" w="2373406">
                <a:moveTo>
                  <a:pt x="0" y="0"/>
                </a:moveTo>
                <a:lnTo>
                  <a:pt x="2373407" y="0"/>
                </a:lnTo>
                <a:lnTo>
                  <a:pt x="2373407" y="5604671"/>
                </a:lnTo>
                <a:lnTo>
                  <a:pt x="0" y="5604671"/>
                </a:lnTo>
                <a:lnTo>
                  <a:pt x="0" y="0"/>
                </a:lnTo>
                <a:close/>
              </a:path>
            </a:pathLst>
          </a:custGeom>
          <a:blipFill>
            <a:blip r:embed="rId9">
              <a:extLst>
                <a:ext uri="{96DAC541-7B7A-43D3-8B79-37D633B846F1}">
                  <asvg:svgBlip xmlns:asvg="http://schemas.microsoft.com/office/drawing/2016/SVG/main" r:embed="rId10"/>
                </a:ext>
              </a:extLst>
            </a:blip>
            <a:stretch>
              <a:fillRect l="-174007" t="0" r="0" b="0"/>
            </a:stretch>
          </a:blipFill>
        </p:spPr>
      </p:sp>
      <p:sp>
        <p:nvSpPr>
          <p:cNvPr name="Freeform 7" id="7"/>
          <p:cNvSpPr/>
          <p:nvPr/>
        </p:nvSpPr>
        <p:spPr>
          <a:xfrm flipH="false" flipV="false" rot="0">
            <a:off x="7407264" y="1844549"/>
            <a:ext cx="10118708" cy="7363167"/>
          </a:xfrm>
          <a:custGeom>
            <a:avLst/>
            <a:gdLst/>
            <a:ahLst/>
            <a:cxnLst/>
            <a:rect r="r" b="b" t="t" l="l"/>
            <a:pathLst>
              <a:path h="7363167" w="10118708">
                <a:moveTo>
                  <a:pt x="0" y="0"/>
                </a:moveTo>
                <a:lnTo>
                  <a:pt x="10118708" y="0"/>
                </a:lnTo>
                <a:lnTo>
                  <a:pt x="10118708" y="7363167"/>
                </a:lnTo>
                <a:lnTo>
                  <a:pt x="0" y="7363167"/>
                </a:lnTo>
                <a:lnTo>
                  <a:pt x="0" y="0"/>
                </a:lnTo>
                <a:close/>
              </a:path>
            </a:pathLst>
          </a:custGeom>
          <a:blipFill>
            <a:blip r:embed="rId11"/>
            <a:stretch>
              <a:fillRect l="0" t="0" r="0" b="0"/>
            </a:stretch>
          </a:blipFill>
          <a:ln w="38100" cap="sq">
            <a:solidFill>
              <a:srgbClr val="000000"/>
            </a:solidFill>
            <a:prstDash val="solid"/>
            <a:miter/>
          </a:ln>
        </p:spPr>
      </p:sp>
      <p:sp>
        <p:nvSpPr>
          <p:cNvPr name="TextBox 8" id="8"/>
          <p:cNvSpPr txBox="true"/>
          <p:nvPr/>
        </p:nvSpPr>
        <p:spPr>
          <a:xfrm rot="0">
            <a:off x="8944838" y="586931"/>
            <a:ext cx="8581134" cy="845439"/>
          </a:xfrm>
          <a:prstGeom prst="rect">
            <a:avLst/>
          </a:prstGeom>
        </p:spPr>
        <p:txBody>
          <a:bodyPr anchor="t" rtlCol="false" tIns="0" lIns="0" bIns="0" rIns="0">
            <a:spAutoFit/>
          </a:bodyPr>
          <a:lstStyle/>
          <a:p>
            <a:pPr algn="r">
              <a:lnSpc>
                <a:spcPts val="6678"/>
              </a:lnSpc>
            </a:pPr>
            <a:r>
              <a:rPr lang="en-US" sz="5300" b="true">
                <a:solidFill>
                  <a:srgbClr val="0E0340"/>
                </a:solidFill>
                <a:latin typeface="TT Chocolates Bold"/>
                <a:ea typeface="TT Chocolates Bold"/>
                <a:cs typeface="TT Chocolates Bold"/>
                <a:sym typeface="TT Chocolates Bold"/>
              </a:rPr>
              <a:t>03. Dataset Overview</a:t>
            </a:r>
          </a:p>
        </p:txBody>
      </p:sp>
      <p:sp>
        <p:nvSpPr>
          <p:cNvPr name="TextBox 9" id="9"/>
          <p:cNvSpPr txBox="true"/>
          <p:nvPr/>
        </p:nvSpPr>
        <p:spPr>
          <a:xfrm rot="0">
            <a:off x="2681868" y="7381760"/>
            <a:ext cx="3296014" cy="381737"/>
          </a:xfrm>
          <a:prstGeom prst="rect">
            <a:avLst/>
          </a:prstGeom>
        </p:spPr>
        <p:txBody>
          <a:bodyPr anchor="t" rtlCol="false" tIns="0" lIns="0" bIns="0" rIns="0">
            <a:spAutoFit/>
          </a:bodyPr>
          <a:lstStyle/>
          <a:p>
            <a:pPr algn="l">
              <a:lnSpc>
                <a:spcPts val="3109"/>
              </a:lnSpc>
              <a:spcBef>
                <a:spcPct val="0"/>
              </a:spcBef>
            </a:pPr>
            <a:r>
              <a:rPr lang="en-US" b="true" sz="2220">
                <a:solidFill>
                  <a:srgbClr val="000000"/>
                </a:solidFill>
                <a:latin typeface="Canva Sans Bold"/>
                <a:ea typeface="Canva Sans Bold"/>
                <a:cs typeface="Canva Sans Bold"/>
                <a:sym typeface="Canva Sans Bold"/>
              </a:rPr>
              <a:t>Format File : CSV</a:t>
            </a:r>
          </a:p>
        </p:txBody>
      </p:sp>
      <p:sp>
        <p:nvSpPr>
          <p:cNvPr name="TextBox 10" id="10"/>
          <p:cNvSpPr txBox="true"/>
          <p:nvPr/>
        </p:nvSpPr>
        <p:spPr>
          <a:xfrm rot="0">
            <a:off x="2651327" y="7935349"/>
            <a:ext cx="4236736" cy="1553199"/>
          </a:xfrm>
          <a:prstGeom prst="rect">
            <a:avLst/>
          </a:prstGeom>
        </p:spPr>
        <p:txBody>
          <a:bodyPr anchor="t" rtlCol="false" tIns="0" lIns="0" bIns="0" rIns="0">
            <a:spAutoFit/>
          </a:bodyPr>
          <a:lstStyle/>
          <a:p>
            <a:pPr algn="l">
              <a:lnSpc>
                <a:spcPts val="3109"/>
              </a:lnSpc>
            </a:pPr>
            <a:r>
              <a:rPr lang="en-US" sz="2220" b="true">
                <a:solidFill>
                  <a:srgbClr val="000000"/>
                </a:solidFill>
                <a:latin typeface="Canva Sans Bold"/>
                <a:ea typeface="Canva Sans Bold"/>
                <a:cs typeface="Canva Sans Bold"/>
                <a:sym typeface="Canva Sans Bold"/>
              </a:rPr>
              <a:t>Sumber : Brazilian E-Commerce Public Dataset by Olist</a:t>
            </a:r>
          </a:p>
          <a:p>
            <a:pPr algn="l">
              <a:lnSpc>
                <a:spcPts val="3109"/>
              </a:lnSpc>
              <a:spcBef>
                <a:spcPct val="0"/>
              </a:spcBef>
            </a:pP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BFBF9"/>
        </a:solidFill>
      </p:bgPr>
    </p:bg>
    <p:spTree>
      <p:nvGrpSpPr>
        <p:cNvPr id="1" name=""/>
        <p:cNvGrpSpPr/>
        <p:nvPr/>
      </p:nvGrpSpPr>
      <p:grpSpPr>
        <a:xfrm>
          <a:off x="0" y="0"/>
          <a:ext cx="0" cy="0"/>
          <a:chOff x="0" y="0"/>
          <a:chExt cx="0" cy="0"/>
        </a:xfrm>
      </p:grpSpPr>
      <p:sp>
        <p:nvSpPr>
          <p:cNvPr name="Freeform 2" id="2"/>
          <p:cNvSpPr/>
          <p:nvPr/>
        </p:nvSpPr>
        <p:spPr>
          <a:xfrm flipH="false" flipV="false" rot="0">
            <a:off x="2789028" y="1752745"/>
            <a:ext cx="12940006" cy="7785570"/>
          </a:xfrm>
          <a:custGeom>
            <a:avLst/>
            <a:gdLst/>
            <a:ahLst/>
            <a:cxnLst/>
            <a:rect r="r" b="b" t="t" l="l"/>
            <a:pathLst>
              <a:path h="7785570" w="12940006">
                <a:moveTo>
                  <a:pt x="0" y="0"/>
                </a:moveTo>
                <a:lnTo>
                  <a:pt x="12940006" y="0"/>
                </a:lnTo>
                <a:lnTo>
                  <a:pt x="12940006" y="7785570"/>
                </a:lnTo>
                <a:lnTo>
                  <a:pt x="0" y="7785570"/>
                </a:lnTo>
                <a:lnTo>
                  <a:pt x="0" y="0"/>
                </a:lnTo>
                <a:close/>
              </a:path>
            </a:pathLst>
          </a:custGeom>
          <a:blipFill>
            <a:blip r:embed="rId2"/>
            <a:stretch>
              <a:fillRect l="0" t="0" r="0" b="0"/>
            </a:stretch>
          </a:blipFill>
          <a:ln w="38100" cap="sq">
            <a:solidFill>
              <a:srgbClr val="231076"/>
            </a:solidFill>
            <a:prstDash val="solid"/>
            <a:miter/>
          </a:ln>
        </p:spPr>
      </p:sp>
      <p:grpSp>
        <p:nvGrpSpPr>
          <p:cNvPr name="Group 3" id="3"/>
          <p:cNvGrpSpPr/>
          <p:nvPr/>
        </p:nvGrpSpPr>
        <p:grpSpPr>
          <a:xfrm rot="0">
            <a:off x="0" y="0"/>
            <a:ext cx="1305076" cy="10519025"/>
            <a:chOff x="0" y="0"/>
            <a:chExt cx="118627" cy="956143"/>
          </a:xfrm>
        </p:grpSpPr>
        <p:sp>
          <p:nvSpPr>
            <p:cNvPr name="Freeform 4" id="4"/>
            <p:cNvSpPr/>
            <p:nvPr/>
          </p:nvSpPr>
          <p:spPr>
            <a:xfrm flipH="false" flipV="false" rot="0">
              <a:off x="0" y="0"/>
              <a:ext cx="118627" cy="956143"/>
            </a:xfrm>
            <a:custGeom>
              <a:avLst/>
              <a:gdLst/>
              <a:ahLst/>
              <a:cxnLst/>
              <a:rect r="r" b="b" t="t" l="l"/>
              <a:pathLst>
                <a:path h="956143" w="118627">
                  <a:moveTo>
                    <a:pt x="0" y="0"/>
                  </a:moveTo>
                  <a:lnTo>
                    <a:pt x="118627" y="0"/>
                  </a:lnTo>
                  <a:lnTo>
                    <a:pt x="118627" y="956143"/>
                  </a:lnTo>
                  <a:lnTo>
                    <a:pt x="0" y="956143"/>
                  </a:lnTo>
                  <a:close/>
                </a:path>
              </a:pathLst>
            </a:custGeom>
            <a:solidFill>
              <a:srgbClr val="8574D1">
                <a:alpha val="83922"/>
              </a:srgbClr>
            </a:solidFill>
          </p:spPr>
        </p:sp>
        <p:sp>
          <p:nvSpPr>
            <p:cNvPr name="TextBox 5" id="5"/>
            <p:cNvSpPr txBox="true"/>
            <p:nvPr/>
          </p:nvSpPr>
          <p:spPr>
            <a:xfrm>
              <a:off x="0" y="-9525"/>
              <a:ext cx="118627" cy="965668"/>
            </a:xfrm>
            <a:prstGeom prst="rect">
              <a:avLst/>
            </a:prstGeom>
          </p:spPr>
          <p:txBody>
            <a:bodyPr anchor="ctr" rtlCol="false" tIns="50800" lIns="50800" bIns="50800" rIns="50800"/>
            <a:lstStyle/>
            <a:p>
              <a:pPr algn="ctr">
                <a:lnSpc>
                  <a:spcPts val="2952"/>
                </a:lnSpc>
              </a:pPr>
            </a:p>
          </p:txBody>
        </p:sp>
      </p:grpSp>
      <p:sp>
        <p:nvSpPr>
          <p:cNvPr name="Freeform 6" id="6"/>
          <p:cNvSpPr/>
          <p:nvPr/>
        </p:nvSpPr>
        <p:spPr>
          <a:xfrm flipH="false" flipV="false" rot="1614821">
            <a:off x="-609391" y="7684903"/>
            <a:ext cx="2523857" cy="2392478"/>
          </a:xfrm>
          <a:custGeom>
            <a:avLst/>
            <a:gdLst/>
            <a:ahLst/>
            <a:cxnLst/>
            <a:rect r="r" b="b" t="t" l="l"/>
            <a:pathLst>
              <a:path h="2392478" w="2523857">
                <a:moveTo>
                  <a:pt x="0" y="0"/>
                </a:moveTo>
                <a:lnTo>
                  <a:pt x="2523858" y="0"/>
                </a:lnTo>
                <a:lnTo>
                  <a:pt x="2523858" y="2392478"/>
                </a:lnTo>
                <a:lnTo>
                  <a:pt x="0" y="2392478"/>
                </a:lnTo>
                <a:lnTo>
                  <a:pt x="0" y="0"/>
                </a:lnTo>
                <a:close/>
              </a:path>
            </a:pathLst>
          </a:custGeom>
          <a:blipFill>
            <a:blip r:embed="rId3">
              <a:alphaModFix amt="68000"/>
              <a:extLst>
                <a:ext uri="{96DAC541-7B7A-43D3-8B79-37D633B846F1}">
                  <asvg:svgBlip xmlns:asvg="http://schemas.microsoft.com/office/drawing/2016/SVG/main" r:embed="rId4"/>
                </a:ext>
              </a:extLst>
            </a:blip>
            <a:stretch>
              <a:fillRect l="0" t="0" r="0" b="0"/>
            </a:stretch>
          </a:blipFill>
        </p:spPr>
      </p:sp>
      <p:sp>
        <p:nvSpPr>
          <p:cNvPr name="TextBox 7" id="7"/>
          <p:cNvSpPr txBox="true"/>
          <p:nvPr/>
        </p:nvSpPr>
        <p:spPr>
          <a:xfrm rot="0">
            <a:off x="1305076" y="679132"/>
            <a:ext cx="7402558" cy="622935"/>
          </a:xfrm>
          <a:prstGeom prst="rect">
            <a:avLst/>
          </a:prstGeom>
        </p:spPr>
        <p:txBody>
          <a:bodyPr anchor="t" rtlCol="false" tIns="0" lIns="0" bIns="0" rIns="0">
            <a:spAutoFit/>
          </a:bodyPr>
          <a:lstStyle/>
          <a:p>
            <a:pPr algn="ctr">
              <a:lnSpc>
                <a:spcPts val="5039"/>
              </a:lnSpc>
              <a:spcBef>
                <a:spcPct val="0"/>
              </a:spcBef>
            </a:pPr>
            <a:r>
              <a:rPr lang="en-US" b="true" sz="3599">
                <a:solidFill>
                  <a:srgbClr val="000000"/>
                </a:solidFill>
                <a:latin typeface="TT Chocolates Bold"/>
                <a:ea typeface="TT Chocolates Bold"/>
                <a:cs typeface="TT Chocolates Bold"/>
                <a:sym typeface="TT Chocolates Bold"/>
              </a:rPr>
              <a:t>Keterkaitan Primary Key Antar Tabel</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E0DAEE"/>
        </a:solidFill>
      </p:bgPr>
    </p:bg>
    <p:spTree>
      <p:nvGrpSpPr>
        <p:cNvPr id="1" name=""/>
        <p:cNvGrpSpPr/>
        <p:nvPr/>
      </p:nvGrpSpPr>
      <p:grpSpPr>
        <a:xfrm>
          <a:off x="0" y="0"/>
          <a:ext cx="0" cy="0"/>
          <a:chOff x="0" y="0"/>
          <a:chExt cx="0" cy="0"/>
        </a:xfrm>
      </p:grpSpPr>
      <p:grpSp>
        <p:nvGrpSpPr>
          <p:cNvPr name="Group 2" id="2"/>
          <p:cNvGrpSpPr/>
          <p:nvPr/>
        </p:nvGrpSpPr>
        <p:grpSpPr>
          <a:xfrm rot="0">
            <a:off x="12028714" y="3722115"/>
            <a:ext cx="7780564" cy="7780564"/>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4" id="4"/>
            <p:cNvSpPr txBox="true"/>
            <p:nvPr/>
          </p:nvSpPr>
          <p:spPr>
            <a:xfrm>
              <a:off x="76200" y="19050"/>
              <a:ext cx="660400" cy="717550"/>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true" flipV="false" rot="0">
            <a:off x="5889171" y="7910666"/>
            <a:ext cx="7315200" cy="2576332"/>
          </a:xfrm>
          <a:custGeom>
            <a:avLst/>
            <a:gdLst/>
            <a:ahLst/>
            <a:cxnLst/>
            <a:rect r="r" b="b" t="t" l="l"/>
            <a:pathLst>
              <a:path h="2576332" w="7315200">
                <a:moveTo>
                  <a:pt x="7315200" y="0"/>
                </a:moveTo>
                <a:lnTo>
                  <a:pt x="0" y="0"/>
                </a:lnTo>
                <a:lnTo>
                  <a:pt x="0" y="2576332"/>
                </a:lnTo>
                <a:lnTo>
                  <a:pt x="7315200" y="2576332"/>
                </a:lnTo>
                <a:lnTo>
                  <a:pt x="731520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10577900" y="374458"/>
            <a:ext cx="9957707" cy="1308484"/>
            <a:chOff x="0" y="0"/>
            <a:chExt cx="3092749" cy="406400"/>
          </a:xfrm>
        </p:grpSpPr>
        <p:sp>
          <p:nvSpPr>
            <p:cNvPr name="Freeform 7" id="7"/>
            <p:cNvSpPr/>
            <p:nvPr/>
          </p:nvSpPr>
          <p:spPr>
            <a:xfrm flipH="false" flipV="false" rot="0">
              <a:off x="0" y="0"/>
              <a:ext cx="3092749" cy="406400"/>
            </a:xfrm>
            <a:custGeom>
              <a:avLst/>
              <a:gdLst/>
              <a:ahLst/>
              <a:cxnLst/>
              <a:rect r="r" b="b" t="t" l="l"/>
              <a:pathLst>
                <a:path h="406400" w="3092749">
                  <a:moveTo>
                    <a:pt x="2889549" y="0"/>
                  </a:moveTo>
                  <a:cubicBezTo>
                    <a:pt x="3001773" y="0"/>
                    <a:pt x="3092749" y="90976"/>
                    <a:pt x="3092749" y="203200"/>
                  </a:cubicBezTo>
                  <a:cubicBezTo>
                    <a:pt x="3092749" y="315424"/>
                    <a:pt x="3001773" y="406400"/>
                    <a:pt x="2889549" y="406400"/>
                  </a:cubicBezTo>
                  <a:lnTo>
                    <a:pt x="203200" y="406400"/>
                  </a:lnTo>
                  <a:cubicBezTo>
                    <a:pt x="90976" y="406400"/>
                    <a:pt x="0" y="315424"/>
                    <a:pt x="0" y="203200"/>
                  </a:cubicBezTo>
                  <a:cubicBezTo>
                    <a:pt x="0" y="90976"/>
                    <a:pt x="90976" y="0"/>
                    <a:pt x="203200" y="0"/>
                  </a:cubicBezTo>
                  <a:close/>
                </a:path>
              </a:pathLst>
            </a:custGeom>
            <a:solidFill>
              <a:srgbClr val="28094B"/>
            </a:solidFill>
          </p:spPr>
        </p:sp>
        <p:sp>
          <p:nvSpPr>
            <p:cNvPr name="TextBox 8" id="8"/>
            <p:cNvSpPr txBox="true"/>
            <p:nvPr/>
          </p:nvSpPr>
          <p:spPr>
            <a:xfrm>
              <a:off x="0" y="-57150"/>
              <a:ext cx="3092749" cy="463550"/>
            </a:xfrm>
            <a:prstGeom prst="rect">
              <a:avLst/>
            </a:prstGeom>
          </p:spPr>
          <p:txBody>
            <a:bodyPr anchor="ctr" rtlCol="false" tIns="50800" lIns="50800" bIns="50800" rIns="50800"/>
            <a:lstStyle/>
            <a:p>
              <a:pPr algn="ctr">
                <a:lnSpc>
                  <a:spcPts val="2659"/>
                </a:lnSpc>
              </a:pPr>
            </a:p>
          </p:txBody>
        </p:sp>
      </p:grpSp>
      <p:sp>
        <p:nvSpPr>
          <p:cNvPr name="Freeform 9" id="9"/>
          <p:cNvSpPr/>
          <p:nvPr/>
        </p:nvSpPr>
        <p:spPr>
          <a:xfrm flipH="false" flipV="false" rot="0">
            <a:off x="10041862" y="6583697"/>
            <a:ext cx="1623476" cy="2057400"/>
          </a:xfrm>
          <a:custGeom>
            <a:avLst/>
            <a:gdLst/>
            <a:ahLst/>
            <a:cxnLst/>
            <a:rect r="r" b="b" t="t" l="l"/>
            <a:pathLst>
              <a:path h="2057400" w="1623476">
                <a:moveTo>
                  <a:pt x="0" y="0"/>
                </a:moveTo>
                <a:lnTo>
                  <a:pt x="1623476" y="0"/>
                </a:lnTo>
                <a:lnTo>
                  <a:pt x="1623476" y="2057400"/>
                </a:lnTo>
                <a:lnTo>
                  <a:pt x="0" y="20574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0" id="10"/>
          <p:cNvSpPr txBox="true"/>
          <p:nvPr/>
        </p:nvSpPr>
        <p:spPr>
          <a:xfrm rot="0">
            <a:off x="11899605" y="514985"/>
            <a:ext cx="7909674" cy="913130"/>
          </a:xfrm>
          <a:prstGeom prst="rect">
            <a:avLst/>
          </a:prstGeom>
        </p:spPr>
        <p:txBody>
          <a:bodyPr anchor="t" rtlCol="false" tIns="0" lIns="0" bIns="0" rIns="0">
            <a:spAutoFit/>
          </a:bodyPr>
          <a:lstStyle/>
          <a:p>
            <a:pPr algn="l">
              <a:lnSpc>
                <a:spcPts val="7420"/>
              </a:lnSpc>
            </a:pPr>
            <a:r>
              <a:rPr lang="en-US" sz="5300" b="true">
                <a:solidFill>
                  <a:srgbClr val="FFFFFF"/>
                </a:solidFill>
                <a:latin typeface="TT Chocolates Bold"/>
                <a:ea typeface="TT Chocolates Bold"/>
                <a:cs typeface="TT Chocolates Bold"/>
                <a:sym typeface="TT Chocolates Bold"/>
              </a:rPr>
              <a:t>04. Python &amp; EDA</a:t>
            </a:r>
          </a:p>
        </p:txBody>
      </p:sp>
      <p:sp>
        <p:nvSpPr>
          <p:cNvPr name="Freeform 11" id="11"/>
          <p:cNvSpPr/>
          <p:nvPr/>
        </p:nvSpPr>
        <p:spPr>
          <a:xfrm flipH="false" flipV="false" rot="0">
            <a:off x="1028700" y="3715481"/>
            <a:ext cx="5800588" cy="3668748"/>
          </a:xfrm>
          <a:custGeom>
            <a:avLst/>
            <a:gdLst/>
            <a:ahLst/>
            <a:cxnLst/>
            <a:rect r="r" b="b" t="t" l="l"/>
            <a:pathLst>
              <a:path h="3668748" w="5800588">
                <a:moveTo>
                  <a:pt x="0" y="0"/>
                </a:moveTo>
                <a:lnTo>
                  <a:pt x="5800588" y="0"/>
                </a:lnTo>
                <a:lnTo>
                  <a:pt x="5800588" y="3668748"/>
                </a:lnTo>
                <a:lnTo>
                  <a:pt x="0" y="3668748"/>
                </a:lnTo>
                <a:lnTo>
                  <a:pt x="0" y="0"/>
                </a:lnTo>
                <a:close/>
              </a:path>
            </a:pathLst>
          </a:custGeom>
          <a:blipFill>
            <a:blip r:embed="rId6"/>
            <a:stretch>
              <a:fillRect l="0" t="0" r="0" b="0"/>
            </a:stretch>
          </a:blipFill>
        </p:spPr>
      </p:sp>
      <p:sp>
        <p:nvSpPr>
          <p:cNvPr name="Freeform 12" id="12"/>
          <p:cNvSpPr/>
          <p:nvPr/>
        </p:nvSpPr>
        <p:spPr>
          <a:xfrm flipH="false" flipV="false" rot="0">
            <a:off x="1028700" y="604742"/>
            <a:ext cx="5800588" cy="2948579"/>
          </a:xfrm>
          <a:custGeom>
            <a:avLst/>
            <a:gdLst/>
            <a:ahLst/>
            <a:cxnLst/>
            <a:rect r="r" b="b" t="t" l="l"/>
            <a:pathLst>
              <a:path h="2948579" w="5800588">
                <a:moveTo>
                  <a:pt x="0" y="0"/>
                </a:moveTo>
                <a:lnTo>
                  <a:pt x="5800588" y="0"/>
                </a:lnTo>
                <a:lnTo>
                  <a:pt x="5800588" y="2948579"/>
                </a:lnTo>
                <a:lnTo>
                  <a:pt x="0" y="2948579"/>
                </a:lnTo>
                <a:lnTo>
                  <a:pt x="0" y="0"/>
                </a:lnTo>
                <a:close/>
              </a:path>
            </a:pathLst>
          </a:custGeom>
          <a:blipFill>
            <a:blip r:embed="rId7"/>
            <a:stretch>
              <a:fillRect l="0" t="0" r="-11610" b="0"/>
            </a:stretch>
          </a:blipFill>
        </p:spPr>
      </p:sp>
      <p:sp>
        <p:nvSpPr>
          <p:cNvPr name="Freeform 13" id="13"/>
          <p:cNvSpPr/>
          <p:nvPr/>
        </p:nvSpPr>
        <p:spPr>
          <a:xfrm flipH="false" flipV="false" rot="0">
            <a:off x="1028700" y="7545150"/>
            <a:ext cx="5800588" cy="2340853"/>
          </a:xfrm>
          <a:custGeom>
            <a:avLst/>
            <a:gdLst/>
            <a:ahLst/>
            <a:cxnLst/>
            <a:rect r="r" b="b" t="t" l="l"/>
            <a:pathLst>
              <a:path h="2340853" w="5800588">
                <a:moveTo>
                  <a:pt x="0" y="0"/>
                </a:moveTo>
                <a:lnTo>
                  <a:pt x="5800588" y="0"/>
                </a:lnTo>
                <a:lnTo>
                  <a:pt x="5800588" y="2340853"/>
                </a:lnTo>
                <a:lnTo>
                  <a:pt x="0" y="2340853"/>
                </a:lnTo>
                <a:lnTo>
                  <a:pt x="0" y="0"/>
                </a:lnTo>
                <a:close/>
              </a:path>
            </a:pathLst>
          </a:custGeom>
          <a:blipFill>
            <a:blip r:embed="rId8"/>
            <a:stretch>
              <a:fillRect l="0" t="0" r="-11337" b="0"/>
            </a:stretch>
          </a:blipFill>
        </p:spPr>
      </p:sp>
      <p:grpSp>
        <p:nvGrpSpPr>
          <p:cNvPr name="Group 14" id="14"/>
          <p:cNvGrpSpPr/>
          <p:nvPr/>
        </p:nvGrpSpPr>
        <p:grpSpPr>
          <a:xfrm rot="0">
            <a:off x="7439552" y="6123108"/>
            <a:ext cx="5596510" cy="3626137"/>
            <a:chOff x="0" y="0"/>
            <a:chExt cx="1523157" cy="986896"/>
          </a:xfrm>
        </p:grpSpPr>
        <p:sp>
          <p:nvSpPr>
            <p:cNvPr name="Freeform 15" id="15"/>
            <p:cNvSpPr/>
            <p:nvPr/>
          </p:nvSpPr>
          <p:spPr>
            <a:xfrm flipH="false" flipV="false" rot="0">
              <a:off x="0" y="0"/>
              <a:ext cx="1523157" cy="986896"/>
            </a:xfrm>
            <a:custGeom>
              <a:avLst/>
              <a:gdLst/>
              <a:ahLst/>
              <a:cxnLst/>
              <a:rect r="r" b="b" t="t" l="l"/>
              <a:pathLst>
                <a:path h="986896" w="1523157">
                  <a:moveTo>
                    <a:pt x="70551" y="0"/>
                  </a:moveTo>
                  <a:lnTo>
                    <a:pt x="1452606" y="0"/>
                  </a:lnTo>
                  <a:cubicBezTo>
                    <a:pt x="1491570" y="0"/>
                    <a:pt x="1523157" y="31587"/>
                    <a:pt x="1523157" y="70551"/>
                  </a:cubicBezTo>
                  <a:lnTo>
                    <a:pt x="1523157" y="916346"/>
                  </a:lnTo>
                  <a:cubicBezTo>
                    <a:pt x="1523157" y="955310"/>
                    <a:pt x="1491570" y="986896"/>
                    <a:pt x="1452606" y="986896"/>
                  </a:cubicBezTo>
                  <a:lnTo>
                    <a:pt x="70551" y="986896"/>
                  </a:lnTo>
                  <a:cubicBezTo>
                    <a:pt x="31587" y="986896"/>
                    <a:pt x="0" y="955310"/>
                    <a:pt x="0" y="916346"/>
                  </a:cubicBezTo>
                  <a:lnTo>
                    <a:pt x="0" y="70551"/>
                  </a:lnTo>
                  <a:cubicBezTo>
                    <a:pt x="0" y="31587"/>
                    <a:pt x="31587" y="0"/>
                    <a:pt x="70551" y="0"/>
                  </a:cubicBezTo>
                  <a:close/>
                </a:path>
              </a:pathLst>
            </a:custGeom>
            <a:solidFill>
              <a:srgbClr val="8574D1">
                <a:alpha val="81961"/>
              </a:srgbClr>
            </a:solidFill>
          </p:spPr>
        </p:sp>
        <p:sp>
          <p:nvSpPr>
            <p:cNvPr name="TextBox 16" id="16"/>
            <p:cNvSpPr txBox="true"/>
            <p:nvPr/>
          </p:nvSpPr>
          <p:spPr>
            <a:xfrm>
              <a:off x="0" y="-47625"/>
              <a:ext cx="1523157" cy="1034521"/>
            </a:xfrm>
            <a:prstGeom prst="rect">
              <a:avLst/>
            </a:prstGeom>
          </p:spPr>
          <p:txBody>
            <a:bodyPr anchor="ctr" rtlCol="false" tIns="50800" lIns="50800" bIns="50800" rIns="50800"/>
            <a:lstStyle/>
            <a:p>
              <a:pPr algn="ctr">
                <a:lnSpc>
                  <a:spcPts val="2659"/>
                </a:lnSpc>
              </a:pPr>
            </a:p>
          </p:txBody>
        </p:sp>
      </p:grpSp>
      <p:grpSp>
        <p:nvGrpSpPr>
          <p:cNvPr name="Group 17" id="17"/>
          <p:cNvGrpSpPr/>
          <p:nvPr/>
        </p:nvGrpSpPr>
        <p:grpSpPr>
          <a:xfrm rot="0">
            <a:off x="7657127" y="6708748"/>
            <a:ext cx="5161360" cy="2755399"/>
            <a:chOff x="0" y="0"/>
            <a:chExt cx="1404725" cy="749915"/>
          </a:xfrm>
        </p:grpSpPr>
        <p:sp>
          <p:nvSpPr>
            <p:cNvPr name="Freeform 18" id="18"/>
            <p:cNvSpPr/>
            <p:nvPr/>
          </p:nvSpPr>
          <p:spPr>
            <a:xfrm flipH="false" flipV="false" rot="0">
              <a:off x="0" y="0"/>
              <a:ext cx="1404725" cy="749915"/>
            </a:xfrm>
            <a:custGeom>
              <a:avLst/>
              <a:gdLst/>
              <a:ahLst/>
              <a:cxnLst/>
              <a:rect r="r" b="b" t="t" l="l"/>
              <a:pathLst>
                <a:path h="749915" w="1404725">
                  <a:moveTo>
                    <a:pt x="76499" y="0"/>
                  </a:moveTo>
                  <a:lnTo>
                    <a:pt x="1328227" y="0"/>
                  </a:lnTo>
                  <a:cubicBezTo>
                    <a:pt x="1348515" y="0"/>
                    <a:pt x="1367973" y="8060"/>
                    <a:pt x="1382319" y="22406"/>
                  </a:cubicBezTo>
                  <a:cubicBezTo>
                    <a:pt x="1396666" y="36752"/>
                    <a:pt x="1404725" y="56210"/>
                    <a:pt x="1404725" y="76499"/>
                  </a:cubicBezTo>
                  <a:lnTo>
                    <a:pt x="1404725" y="673416"/>
                  </a:lnTo>
                  <a:cubicBezTo>
                    <a:pt x="1404725" y="715665"/>
                    <a:pt x="1370476" y="749915"/>
                    <a:pt x="1328227" y="749915"/>
                  </a:cubicBezTo>
                  <a:lnTo>
                    <a:pt x="76499" y="749915"/>
                  </a:lnTo>
                  <a:cubicBezTo>
                    <a:pt x="34250" y="749915"/>
                    <a:pt x="0" y="715665"/>
                    <a:pt x="0" y="673416"/>
                  </a:cubicBezTo>
                  <a:lnTo>
                    <a:pt x="0" y="76499"/>
                  </a:lnTo>
                  <a:cubicBezTo>
                    <a:pt x="0" y="56210"/>
                    <a:pt x="8060" y="36752"/>
                    <a:pt x="22406" y="22406"/>
                  </a:cubicBezTo>
                  <a:cubicBezTo>
                    <a:pt x="36752" y="8060"/>
                    <a:pt x="56210" y="0"/>
                    <a:pt x="76499" y="0"/>
                  </a:cubicBezTo>
                  <a:close/>
                </a:path>
              </a:pathLst>
            </a:custGeom>
            <a:solidFill>
              <a:srgbClr val="E0DAED">
                <a:alpha val="81961"/>
              </a:srgbClr>
            </a:solidFill>
          </p:spPr>
        </p:sp>
        <p:sp>
          <p:nvSpPr>
            <p:cNvPr name="TextBox 19" id="19"/>
            <p:cNvSpPr txBox="true"/>
            <p:nvPr/>
          </p:nvSpPr>
          <p:spPr>
            <a:xfrm>
              <a:off x="0" y="-47625"/>
              <a:ext cx="1404725" cy="797540"/>
            </a:xfrm>
            <a:prstGeom prst="rect">
              <a:avLst/>
            </a:prstGeom>
          </p:spPr>
          <p:txBody>
            <a:bodyPr anchor="ctr" rtlCol="false" tIns="50800" lIns="50800" bIns="50800" rIns="50800"/>
            <a:lstStyle/>
            <a:p>
              <a:pPr algn="ctr">
                <a:lnSpc>
                  <a:spcPts val="2659"/>
                </a:lnSpc>
              </a:pPr>
            </a:p>
          </p:txBody>
        </p:sp>
      </p:grpSp>
      <p:sp>
        <p:nvSpPr>
          <p:cNvPr name="TextBox 20" id="20"/>
          <p:cNvSpPr txBox="true"/>
          <p:nvPr/>
        </p:nvSpPr>
        <p:spPr>
          <a:xfrm rot="0">
            <a:off x="7688995" y="6847866"/>
            <a:ext cx="5129492" cy="3639132"/>
          </a:xfrm>
          <a:prstGeom prst="rect">
            <a:avLst/>
          </a:prstGeom>
        </p:spPr>
        <p:txBody>
          <a:bodyPr anchor="t" rtlCol="false" tIns="0" lIns="0" bIns="0" rIns="0">
            <a:spAutoFit/>
          </a:bodyPr>
          <a:lstStyle/>
          <a:p>
            <a:pPr algn="l" marL="498172" indent="-249086" lvl="1">
              <a:lnSpc>
                <a:spcPts val="3230"/>
              </a:lnSpc>
              <a:buFont typeface="Arial"/>
              <a:buChar char="•"/>
            </a:pPr>
            <a:r>
              <a:rPr lang="en-US" sz="2307">
                <a:solidFill>
                  <a:srgbClr val="000000"/>
                </a:solidFill>
                <a:latin typeface="Canva Sans"/>
                <a:ea typeface="Canva Sans"/>
                <a:cs typeface="Canva Sans"/>
                <a:sym typeface="Canva Sans"/>
              </a:rPr>
              <a:t>Load data dari Github pd.read_csv(..</a:t>
            </a:r>
          </a:p>
          <a:p>
            <a:pPr algn="l" marL="498172" indent="-249086" lvl="1">
              <a:lnSpc>
                <a:spcPts val="3230"/>
              </a:lnSpc>
              <a:buFont typeface="Arial"/>
              <a:buChar char="•"/>
            </a:pPr>
            <a:r>
              <a:rPr lang="en-US" sz="2307">
                <a:solidFill>
                  <a:srgbClr val="000000"/>
                </a:solidFill>
                <a:latin typeface="Canva Sans"/>
                <a:ea typeface="Canva Sans"/>
                <a:cs typeface="Canva Sans"/>
                <a:sym typeface="Canva Sans"/>
              </a:rPr>
              <a:t>Potong rows &gt; 100k pada tabel order_items dan order_payments menjadi 100k</a:t>
            </a:r>
          </a:p>
          <a:p>
            <a:pPr algn="l" marL="498172" indent="-249086" lvl="1">
              <a:lnSpc>
                <a:spcPts val="3230"/>
              </a:lnSpc>
              <a:buFont typeface="Arial"/>
              <a:buChar char="•"/>
            </a:pPr>
            <a:r>
              <a:rPr lang="en-US" sz="2307">
                <a:solidFill>
                  <a:srgbClr val="000000"/>
                </a:solidFill>
                <a:latin typeface="Canva Sans"/>
                <a:ea typeface="Canva Sans"/>
                <a:cs typeface="Canva Sans"/>
                <a:sym typeface="Canva Sans"/>
              </a:rPr>
              <a:t>Rename Tabel</a:t>
            </a:r>
          </a:p>
          <a:p>
            <a:pPr algn="l">
              <a:lnSpc>
                <a:spcPts val="3230"/>
              </a:lnSpc>
              <a:spcBef>
                <a:spcPct val="0"/>
              </a:spcBef>
            </a:pPr>
          </a:p>
          <a:p>
            <a:pPr algn="l">
              <a:lnSpc>
                <a:spcPts val="3230"/>
              </a:lnSpc>
              <a:spcBef>
                <a:spcPct val="0"/>
              </a:spcBef>
            </a:pPr>
          </a:p>
          <a:p>
            <a:pPr algn="l">
              <a:lnSpc>
                <a:spcPts val="3230"/>
              </a:lnSpc>
              <a:spcBef>
                <a:spcPct val="0"/>
              </a:spcBef>
            </a:pPr>
          </a:p>
        </p:txBody>
      </p:sp>
      <p:sp>
        <p:nvSpPr>
          <p:cNvPr name="TextBox 21" id="21"/>
          <p:cNvSpPr txBox="true"/>
          <p:nvPr/>
        </p:nvSpPr>
        <p:spPr>
          <a:xfrm rot="0">
            <a:off x="8016095" y="6243531"/>
            <a:ext cx="4443424" cy="434683"/>
          </a:xfrm>
          <a:prstGeom prst="rect">
            <a:avLst/>
          </a:prstGeom>
        </p:spPr>
        <p:txBody>
          <a:bodyPr anchor="t" rtlCol="false" tIns="0" lIns="0" bIns="0" rIns="0">
            <a:spAutoFit/>
          </a:bodyPr>
          <a:lstStyle/>
          <a:p>
            <a:pPr algn="ctr">
              <a:lnSpc>
                <a:spcPts val="3560"/>
              </a:lnSpc>
              <a:spcBef>
                <a:spcPct val="0"/>
              </a:spcBef>
            </a:pPr>
            <a:r>
              <a:rPr lang="en-US" b="true" sz="2543">
                <a:solidFill>
                  <a:srgbClr val="0E0340"/>
                </a:solidFill>
                <a:latin typeface="Canva Sans Bold"/>
                <a:ea typeface="Canva Sans Bold"/>
                <a:cs typeface="Canva Sans Bold"/>
                <a:sym typeface="Canva Sans Bold"/>
              </a:rPr>
              <a:t>Load Data dan Potong Rows</a:t>
            </a:r>
          </a:p>
        </p:txBody>
      </p:sp>
      <p:grpSp>
        <p:nvGrpSpPr>
          <p:cNvPr name="Group 22" id="22"/>
          <p:cNvGrpSpPr/>
          <p:nvPr/>
        </p:nvGrpSpPr>
        <p:grpSpPr>
          <a:xfrm rot="0">
            <a:off x="7439552" y="1904295"/>
            <a:ext cx="5524279" cy="3870573"/>
            <a:chOff x="0" y="0"/>
            <a:chExt cx="1408548" cy="986896"/>
          </a:xfrm>
        </p:grpSpPr>
        <p:sp>
          <p:nvSpPr>
            <p:cNvPr name="Freeform 23" id="23"/>
            <p:cNvSpPr/>
            <p:nvPr/>
          </p:nvSpPr>
          <p:spPr>
            <a:xfrm flipH="false" flipV="false" rot="0">
              <a:off x="0" y="0"/>
              <a:ext cx="1408548" cy="986896"/>
            </a:xfrm>
            <a:custGeom>
              <a:avLst/>
              <a:gdLst/>
              <a:ahLst/>
              <a:cxnLst/>
              <a:rect r="r" b="b" t="t" l="l"/>
              <a:pathLst>
                <a:path h="986896" w="1408548">
                  <a:moveTo>
                    <a:pt x="71473" y="0"/>
                  </a:moveTo>
                  <a:lnTo>
                    <a:pt x="1337075" y="0"/>
                  </a:lnTo>
                  <a:cubicBezTo>
                    <a:pt x="1376549" y="0"/>
                    <a:pt x="1408548" y="32000"/>
                    <a:pt x="1408548" y="71473"/>
                  </a:cubicBezTo>
                  <a:lnTo>
                    <a:pt x="1408548" y="915423"/>
                  </a:lnTo>
                  <a:cubicBezTo>
                    <a:pt x="1408548" y="954897"/>
                    <a:pt x="1376549" y="986896"/>
                    <a:pt x="1337075" y="986896"/>
                  </a:cubicBezTo>
                  <a:lnTo>
                    <a:pt x="71473" y="986896"/>
                  </a:lnTo>
                  <a:cubicBezTo>
                    <a:pt x="32000" y="986896"/>
                    <a:pt x="0" y="954897"/>
                    <a:pt x="0" y="915423"/>
                  </a:cubicBezTo>
                  <a:lnTo>
                    <a:pt x="0" y="71473"/>
                  </a:lnTo>
                  <a:cubicBezTo>
                    <a:pt x="0" y="32000"/>
                    <a:pt x="32000" y="0"/>
                    <a:pt x="71473" y="0"/>
                  </a:cubicBezTo>
                  <a:close/>
                </a:path>
              </a:pathLst>
            </a:custGeom>
            <a:solidFill>
              <a:srgbClr val="8574D1">
                <a:alpha val="81961"/>
              </a:srgbClr>
            </a:solidFill>
          </p:spPr>
        </p:sp>
        <p:sp>
          <p:nvSpPr>
            <p:cNvPr name="TextBox 24" id="24"/>
            <p:cNvSpPr txBox="true"/>
            <p:nvPr/>
          </p:nvSpPr>
          <p:spPr>
            <a:xfrm>
              <a:off x="0" y="-47625"/>
              <a:ext cx="1408548" cy="1034521"/>
            </a:xfrm>
            <a:prstGeom prst="rect">
              <a:avLst/>
            </a:prstGeom>
          </p:spPr>
          <p:txBody>
            <a:bodyPr anchor="ctr" rtlCol="false" tIns="50800" lIns="50800" bIns="50800" rIns="50800"/>
            <a:lstStyle/>
            <a:p>
              <a:pPr algn="ctr">
                <a:lnSpc>
                  <a:spcPts val="2659"/>
                </a:lnSpc>
              </a:pPr>
            </a:p>
          </p:txBody>
        </p:sp>
      </p:grpSp>
      <p:grpSp>
        <p:nvGrpSpPr>
          <p:cNvPr name="Group 25" id="25"/>
          <p:cNvGrpSpPr/>
          <p:nvPr/>
        </p:nvGrpSpPr>
        <p:grpSpPr>
          <a:xfrm rot="0">
            <a:off x="7648135" y="2529413"/>
            <a:ext cx="5041443" cy="2941140"/>
            <a:chOff x="0" y="0"/>
            <a:chExt cx="1285438" cy="749915"/>
          </a:xfrm>
        </p:grpSpPr>
        <p:sp>
          <p:nvSpPr>
            <p:cNvPr name="Freeform 26" id="26"/>
            <p:cNvSpPr/>
            <p:nvPr/>
          </p:nvSpPr>
          <p:spPr>
            <a:xfrm flipH="false" flipV="false" rot="0">
              <a:off x="0" y="0"/>
              <a:ext cx="1285438" cy="749915"/>
            </a:xfrm>
            <a:custGeom>
              <a:avLst/>
              <a:gdLst/>
              <a:ahLst/>
              <a:cxnLst/>
              <a:rect r="r" b="b" t="t" l="l"/>
              <a:pathLst>
                <a:path h="749915" w="1285438">
                  <a:moveTo>
                    <a:pt x="78318" y="0"/>
                  </a:moveTo>
                  <a:lnTo>
                    <a:pt x="1207119" y="0"/>
                  </a:lnTo>
                  <a:cubicBezTo>
                    <a:pt x="1250373" y="0"/>
                    <a:pt x="1285438" y="35064"/>
                    <a:pt x="1285438" y="78318"/>
                  </a:cubicBezTo>
                  <a:lnTo>
                    <a:pt x="1285438" y="671596"/>
                  </a:lnTo>
                  <a:cubicBezTo>
                    <a:pt x="1285438" y="714850"/>
                    <a:pt x="1250373" y="749915"/>
                    <a:pt x="1207119" y="749915"/>
                  </a:cubicBezTo>
                  <a:lnTo>
                    <a:pt x="78318" y="749915"/>
                  </a:lnTo>
                  <a:cubicBezTo>
                    <a:pt x="35064" y="749915"/>
                    <a:pt x="0" y="714850"/>
                    <a:pt x="0" y="671596"/>
                  </a:cubicBezTo>
                  <a:lnTo>
                    <a:pt x="0" y="78318"/>
                  </a:lnTo>
                  <a:cubicBezTo>
                    <a:pt x="0" y="35064"/>
                    <a:pt x="35064" y="0"/>
                    <a:pt x="78318" y="0"/>
                  </a:cubicBezTo>
                  <a:close/>
                </a:path>
              </a:pathLst>
            </a:custGeom>
            <a:solidFill>
              <a:srgbClr val="E0DAED">
                <a:alpha val="81961"/>
              </a:srgbClr>
            </a:solidFill>
          </p:spPr>
        </p:sp>
        <p:sp>
          <p:nvSpPr>
            <p:cNvPr name="TextBox 27" id="27"/>
            <p:cNvSpPr txBox="true"/>
            <p:nvPr/>
          </p:nvSpPr>
          <p:spPr>
            <a:xfrm>
              <a:off x="0" y="-47625"/>
              <a:ext cx="1285438" cy="797540"/>
            </a:xfrm>
            <a:prstGeom prst="rect">
              <a:avLst/>
            </a:prstGeom>
          </p:spPr>
          <p:txBody>
            <a:bodyPr anchor="ctr" rtlCol="false" tIns="50800" lIns="50800" bIns="50800" rIns="50800"/>
            <a:lstStyle/>
            <a:p>
              <a:pPr algn="ctr">
                <a:lnSpc>
                  <a:spcPts val="2659"/>
                </a:lnSpc>
              </a:pPr>
            </a:p>
          </p:txBody>
        </p:sp>
      </p:grpSp>
      <p:sp>
        <p:nvSpPr>
          <p:cNvPr name="TextBox 28" id="28"/>
          <p:cNvSpPr txBox="true"/>
          <p:nvPr/>
        </p:nvSpPr>
        <p:spPr>
          <a:xfrm rot="0">
            <a:off x="7724978" y="2690644"/>
            <a:ext cx="5041443" cy="3438801"/>
          </a:xfrm>
          <a:prstGeom prst="rect">
            <a:avLst/>
          </a:prstGeom>
        </p:spPr>
        <p:txBody>
          <a:bodyPr anchor="t" rtlCol="false" tIns="0" lIns="0" bIns="0" rIns="0">
            <a:spAutoFit/>
          </a:bodyPr>
          <a:lstStyle/>
          <a:p>
            <a:pPr algn="l" marL="531754" indent="-265877" lvl="1">
              <a:lnSpc>
                <a:spcPts val="3448"/>
              </a:lnSpc>
              <a:buFont typeface="Arial"/>
              <a:buChar char="•"/>
            </a:pPr>
            <a:r>
              <a:rPr lang="en-US" sz="2462">
                <a:solidFill>
                  <a:srgbClr val="000000"/>
                </a:solidFill>
                <a:latin typeface="Canva Sans"/>
                <a:ea typeface="Canva Sans"/>
                <a:cs typeface="Canva Sans"/>
                <a:sym typeface="Canva Sans"/>
              </a:rPr>
              <a:t>import pandas, numpy, matplot</a:t>
            </a:r>
            <a:r>
              <a:rPr lang="en-US" sz="2462">
                <a:solidFill>
                  <a:srgbClr val="000000"/>
                </a:solidFill>
                <a:latin typeface="Canva Sans"/>
                <a:ea typeface="Canva Sans"/>
                <a:cs typeface="Canva Sans"/>
                <a:sym typeface="Canva Sans"/>
              </a:rPr>
              <a:t>lib, seaborn</a:t>
            </a:r>
          </a:p>
          <a:p>
            <a:pPr algn="l" marL="531754" indent="-265877" lvl="1">
              <a:lnSpc>
                <a:spcPts val="3448"/>
              </a:lnSpc>
              <a:buFont typeface="Arial"/>
              <a:buChar char="•"/>
            </a:pPr>
            <a:r>
              <a:rPr lang="en-US" sz="2462">
                <a:solidFill>
                  <a:srgbClr val="000000"/>
                </a:solidFill>
                <a:latin typeface="Canva Sans"/>
                <a:ea typeface="Canva Sans"/>
                <a:cs typeface="Canva Sans"/>
                <a:sym typeface="Canva Sans"/>
              </a:rPr>
              <a:t>!pip install sqlalchemy psycopg2-binary</a:t>
            </a:r>
          </a:p>
          <a:p>
            <a:pPr algn="l" marL="531754" indent="-265877" lvl="1">
              <a:lnSpc>
                <a:spcPts val="3448"/>
              </a:lnSpc>
              <a:buFont typeface="Arial"/>
              <a:buChar char="•"/>
            </a:pPr>
            <a:r>
              <a:rPr lang="en-US" sz="2462">
                <a:solidFill>
                  <a:srgbClr val="000000"/>
                </a:solidFill>
                <a:latin typeface="Canva Sans"/>
                <a:ea typeface="Canva Sans"/>
                <a:cs typeface="Canva Sans"/>
                <a:sym typeface="Canva Sans"/>
              </a:rPr>
              <a:t>from sqlalchemy import create_ engine</a:t>
            </a:r>
          </a:p>
          <a:p>
            <a:pPr algn="l">
              <a:lnSpc>
                <a:spcPts val="3448"/>
              </a:lnSpc>
              <a:spcBef>
                <a:spcPct val="0"/>
              </a:spcBef>
            </a:pPr>
          </a:p>
          <a:p>
            <a:pPr algn="l">
              <a:lnSpc>
                <a:spcPts val="3448"/>
              </a:lnSpc>
              <a:spcBef>
                <a:spcPct val="0"/>
              </a:spcBef>
            </a:pPr>
          </a:p>
        </p:txBody>
      </p:sp>
      <p:sp>
        <p:nvSpPr>
          <p:cNvPr name="TextBox 29" id="29"/>
          <p:cNvSpPr txBox="true"/>
          <p:nvPr/>
        </p:nvSpPr>
        <p:spPr>
          <a:xfrm rot="0">
            <a:off x="7802054" y="1982958"/>
            <a:ext cx="4887291" cy="470300"/>
          </a:xfrm>
          <a:prstGeom prst="rect">
            <a:avLst/>
          </a:prstGeom>
        </p:spPr>
        <p:txBody>
          <a:bodyPr anchor="t" rtlCol="false" tIns="0" lIns="0" bIns="0" rIns="0">
            <a:spAutoFit/>
          </a:bodyPr>
          <a:lstStyle/>
          <a:p>
            <a:pPr algn="ctr">
              <a:lnSpc>
                <a:spcPts val="3800"/>
              </a:lnSpc>
              <a:spcBef>
                <a:spcPct val="0"/>
              </a:spcBef>
            </a:pPr>
            <a:r>
              <a:rPr lang="en-US" b="true" sz="2714">
                <a:solidFill>
                  <a:srgbClr val="0E0340"/>
                </a:solidFill>
                <a:latin typeface="Canva Sans Bold"/>
                <a:ea typeface="Canva Sans Bold"/>
                <a:cs typeface="Canva Sans Bold"/>
                <a:sym typeface="Canva Sans Bold"/>
              </a:rPr>
              <a:t>Import Data</a:t>
            </a:r>
          </a:p>
        </p:txBody>
      </p:sp>
      <p:sp>
        <p:nvSpPr>
          <p:cNvPr name="Freeform 30" id="30"/>
          <p:cNvSpPr/>
          <p:nvPr/>
        </p:nvSpPr>
        <p:spPr>
          <a:xfrm flipH="true" flipV="false" rot="527341">
            <a:off x="13513135" y="4891899"/>
            <a:ext cx="7468825" cy="5268473"/>
          </a:xfrm>
          <a:custGeom>
            <a:avLst/>
            <a:gdLst/>
            <a:ahLst/>
            <a:cxnLst/>
            <a:rect r="r" b="b" t="t" l="l"/>
            <a:pathLst>
              <a:path h="5268473" w="7468825">
                <a:moveTo>
                  <a:pt x="7468825" y="0"/>
                </a:moveTo>
                <a:lnTo>
                  <a:pt x="0" y="0"/>
                </a:lnTo>
                <a:lnTo>
                  <a:pt x="0" y="5268473"/>
                </a:lnTo>
                <a:lnTo>
                  <a:pt x="7468825" y="5268473"/>
                </a:lnTo>
                <a:lnTo>
                  <a:pt x="7468825" y="0"/>
                </a:lnTo>
                <a:close/>
              </a:path>
            </a:pathLst>
          </a:custGeom>
          <a:blipFill>
            <a:blip r:embed="rId9"/>
            <a:stretch>
              <a:fillRect l="-764" t="0" r="-239" b="-231"/>
            </a:stretch>
          </a:blipFill>
        </p:spPr>
      </p:sp>
      <p:sp>
        <p:nvSpPr>
          <p:cNvPr name="Freeform 31" id="31"/>
          <p:cNvSpPr/>
          <p:nvPr/>
        </p:nvSpPr>
        <p:spPr>
          <a:xfrm flipH="false" flipV="false" rot="-883367">
            <a:off x="14908216" y="5307565"/>
            <a:ext cx="1297076" cy="1643759"/>
          </a:xfrm>
          <a:custGeom>
            <a:avLst/>
            <a:gdLst/>
            <a:ahLst/>
            <a:cxnLst/>
            <a:rect r="r" b="b" t="t" l="l"/>
            <a:pathLst>
              <a:path h="1643759" w="1297076">
                <a:moveTo>
                  <a:pt x="0" y="0"/>
                </a:moveTo>
                <a:lnTo>
                  <a:pt x="1297076" y="0"/>
                </a:lnTo>
                <a:lnTo>
                  <a:pt x="1297076" y="1643760"/>
                </a:lnTo>
                <a:lnTo>
                  <a:pt x="0" y="164376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E0DAEE"/>
        </a:solidFill>
      </p:bgPr>
    </p:bg>
    <p:spTree>
      <p:nvGrpSpPr>
        <p:cNvPr id="1" name=""/>
        <p:cNvGrpSpPr/>
        <p:nvPr/>
      </p:nvGrpSpPr>
      <p:grpSpPr>
        <a:xfrm>
          <a:off x="0" y="0"/>
          <a:ext cx="0" cy="0"/>
          <a:chOff x="0" y="0"/>
          <a:chExt cx="0" cy="0"/>
        </a:xfrm>
      </p:grpSpPr>
      <p:grpSp>
        <p:nvGrpSpPr>
          <p:cNvPr name="Group 2" id="2"/>
          <p:cNvGrpSpPr/>
          <p:nvPr/>
        </p:nvGrpSpPr>
        <p:grpSpPr>
          <a:xfrm rot="0">
            <a:off x="12028714" y="3722115"/>
            <a:ext cx="7780564" cy="7780564"/>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4" id="4"/>
            <p:cNvSpPr txBox="true"/>
            <p:nvPr/>
          </p:nvSpPr>
          <p:spPr>
            <a:xfrm>
              <a:off x="76200" y="19050"/>
              <a:ext cx="660400" cy="717550"/>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true" flipV="false" rot="0">
            <a:off x="5889171" y="7910666"/>
            <a:ext cx="7315200" cy="2576332"/>
          </a:xfrm>
          <a:custGeom>
            <a:avLst/>
            <a:gdLst/>
            <a:ahLst/>
            <a:cxnLst/>
            <a:rect r="r" b="b" t="t" l="l"/>
            <a:pathLst>
              <a:path h="2576332" w="7315200">
                <a:moveTo>
                  <a:pt x="7315200" y="0"/>
                </a:moveTo>
                <a:lnTo>
                  <a:pt x="0" y="0"/>
                </a:lnTo>
                <a:lnTo>
                  <a:pt x="0" y="2576332"/>
                </a:lnTo>
                <a:lnTo>
                  <a:pt x="7315200" y="2576332"/>
                </a:lnTo>
                <a:lnTo>
                  <a:pt x="731520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10577900" y="374458"/>
            <a:ext cx="9957707" cy="1308484"/>
            <a:chOff x="0" y="0"/>
            <a:chExt cx="3092749" cy="406400"/>
          </a:xfrm>
        </p:grpSpPr>
        <p:sp>
          <p:nvSpPr>
            <p:cNvPr name="Freeform 7" id="7"/>
            <p:cNvSpPr/>
            <p:nvPr/>
          </p:nvSpPr>
          <p:spPr>
            <a:xfrm flipH="false" flipV="false" rot="0">
              <a:off x="0" y="0"/>
              <a:ext cx="3092749" cy="406400"/>
            </a:xfrm>
            <a:custGeom>
              <a:avLst/>
              <a:gdLst/>
              <a:ahLst/>
              <a:cxnLst/>
              <a:rect r="r" b="b" t="t" l="l"/>
              <a:pathLst>
                <a:path h="406400" w="3092749">
                  <a:moveTo>
                    <a:pt x="2889549" y="0"/>
                  </a:moveTo>
                  <a:cubicBezTo>
                    <a:pt x="3001773" y="0"/>
                    <a:pt x="3092749" y="90976"/>
                    <a:pt x="3092749" y="203200"/>
                  </a:cubicBezTo>
                  <a:cubicBezTo>
                    <a:pt x="3092749" y="315424"/>
                    <a:pt x="3001773" y="406400"/>
                    <a:pt x="2889549" y="406400"/>
                  </a:cubicBezTo>
                  <a:lnTo>
                    <a:pt x="203200" y="406400"/>
                  </a:lnTo>
                  <a:cubicBezTo>
                    <a:pt x="90976" y="406400"/>
                    <a:pt x="0" y="315424"/>
                    <a:pt x="0" y="203200"/>
                  </a:cubicBezTo>
                  <a:cubicBezTo>
                    <a:pt x="0" y="90976"/>
                    <a:pt x="90976" y="0"/>
                    <a:pt x="203200" y="0"/>
                  </a:cubicBezTo>
                  <a:close/>
                </a:path>
              </a:pathLst>
            </a:custGeom>
            <a:solidFill>
              <a:srgbClr val="28094B"/>
            </a:solidFill>
          </p:spPr>
        </p:sp>
        <p:sp>
          <p:nvSpPr>
            <p:cNvPr name="TextBox 8" id="8"/>
            <p:cNvSpPr txBox="true"/>
            <p:nvPr/>
          </p:nvSpPr>
          <p:spPr>
            <a:xfrm>
              <a:off x="0" y="-57150"/>
              <a:ext cx="3092749" cy="463550"/>
            </a:xfrm>
            <a:prstGeom prst="rect">
              <a:avLst/>
            </a:prstGeom>
          </p:spPr>
          <p:txBody>
            <a:bodyPr anchor="ctr" rtlCol="false" tIns="50800" lIns="50800" bIns="50800" rIns="50800"/>
            <a:lstStyle/>
            <a:p>
              <a:pPr algn="ctr">
                <a:lnSpc>
                  <a:spcPts val="2659"/>
                </a:lnSpc>
              </a:pPr>
            </a:p>
          </p:txBody>
        </p:sp>
      </p:grpSp>
      <p:sp>
        <p:nvSpPr>
          <p:cNvPr name="Freeform 9" id="9"/>
          <p:cNvSpPr/>
          <p:nvPr/>
        </p:nvSpPr>
        <p:spPr>
          <a:xfrm flipH="false" flipV="false" rot="0">
            <a:off x="10114183" y="6809503"/>
            <a:ext cx="1623476" cy="2057400"/>
          </a:xfrm>
          <a:custGeom>
            <a:avLst/>
            <a:gdLst/>
            <a:ahLst/>
            <a:cxnLst/>
            <a:rect r="r" b="b" t="t" l="l"/>
            <a:pathLst>
              <a:path h="2057400" w="1623476">
                <a:moveTo>
                  <a:pt x="0" y="0"/>
                </a:moveTo>
                <a:lnTo>
                  <a:pt x="1623475" y="0"/>
                </a:lnTo>
                <a:lnTo>
                  <a:pt x="1623475" y="2057400"/>
                </a:lnTo>
                <a:lnTo>
                  <a:pt x="0" y="20574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false" rot="513860">
            <a:off x="15151478" y="2133377"/>
            <a:ext cx="2093791" cy="2653422"/>
          </a:xfrm>
          <a:custGeom>
            <a:avLst/>
            <a:gdLst/>
            <a:ahLst/>
            <a:cxnLst/>
            <a:rect r="r" b="b" t="t" l="l"/>
            <a:pathLst>
              <a:path h="2653422" w="2093791">
                <a:moveTo>
                  <a:pt x="0" y="0"/>
                </a:moveTo>
                <a:lnTo>
                  <a:pt x="2093791" y="0"/>
                </a:lnTo>
                <a:lnTo>
                  <a:pt x="2093791" y="2653422"/>
                </a:lnTo>
                <a:lnTo>
                  <a:pt x="0" y="265342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1" id="11"/>
          <p:cNvSpPr txBox="true"/>
          <p:nvPr/>
        </p:nvSpPr>
        <p:spPr>
          <a:xfrm rot="0">
            <a:off x="11899605" y="514985"/>
            <a:ext cx="7909674" cy="913130"/>
          </a:xfrm>
          <a:prstGeom prst="rect">
            <a:avLst/>
          </a:prstGeom>
        </p:spPr>
        <p:txBody>
          <a:bodyPr anchor="t" rtlCol="false" tIns="0" lIns="0" bIns="0" rIns="0">
            <a:spAutoFit/>
          </a:bodyPr>
          <a:lstStyle/>
          <a:p>
            <a:pPr algn="l">
              <a:lnSpc>
                <a:spcPts val="7420"/>
              </a:lnSpc>
            </a:pPr>
            <a:r>
              <a:rPr lang="en-US" sz="5300" b="true">
                <a:solidFill>
                  <a:srgbClr val="FFFFFF"/>
                </a:solidFill>
                <a:latin typeface="TT Chocolates Bold"/>
                <a:ea typeface="TT Chocolates Bold"/>
                <a:cs typeface="TT Chocolates Bold"/>
                <a:sym typeface="TT Chocolates Bold"/>
              </a:rPr>
              <a:t>04. Python &amp; EDA</a:t>
            </a:r>
          </a:p>
        </p:txBody>
      </p:sp>
      <p:grpSp>
        <p:nvGrpSpPr>
          <p:cNvPr name="Group 12" id="12"/>
          <p:cNvGrpSpPr/>
          <p:nvPr/>
        </p:nvGrpSpPr>
        <p:grpSpPr>
          <a:xfrm rot="0">
            <a:off x="1247775" y="575094"/>
            <a:ext cx="6223899" cy="3382226"/>
            <a:chOff x="0" y="0"/>
            <a:chExt cx="1956298" cy="1063103"/>
          </a:xfrm>
        </p:grpSpPr>
        <p:sp>
          <p:nvSpPr>
            <p:cNvPr name="Freeform 13" id="13"/>
            <p:cNvSpPr/>
            <p:nvPr/>
          </p:nvSpPr>
          <p:spPr>
            <a:xfrm flipH="false" flipV="false" rot="0">
              <a:off x="0" y="0"/>
              <a:ext cx="1956298" cy="1063103"/>
            </a:xfrm>
            <a:custGeom>
              <a:avLst/>
              <a:gdLst/>
              <a:ahLst/>
              <a:cxnLst/>
              <a:rect r="r" b="b" t="t" l="l"/>
              <a:pathLst>
                <a:path h="1063103" w="1956298">
                  <a:moveTo>
                    <a:pt x="63439" y="0"/>
                  </a:moveTo>
                  <a:lnTo>
                    <a:pt x="1892859" y="0"/>
                  </a:lnTo>
                  <a:cubicBezTo>
                    <a:pt x="1909684" y="0"/>
                    <a:pt x="1925820" y="6684"/>
                    <a:pt x="1937718" y="18581"/>
                  </a:cubicBezTo>
                  <a:cubicBezTo>
                    <a:pt x="1949615" y="30478"/>
                    <a:pt x="1956298" y="46614"/>
                    <a:pt x="1956298" y="63439"/>
                  </a:cubicBezTo>
                  <a:lnTo>
                    <a:pt x="1956298" y="999664"/>
                  </a:lnTo>
                  <a:cubicBezTo>
                    <a:pt x="1956298" y="1016489"/>
                    <a:pt x="1949615" y="1032625"/>
                    <a:pt x="1937718" y="1044522"/>
                  </a:cubicBezTo>
                  <a:cubicBezTo>
                    <a:pt x="1925820" y="1056419"/>
                    <a:pt x="1909684" y="1063103"/>
                    <a:pt x="1892859" y="1063103"/>
                  </a:cubicBezTo>
                  <a:lnTo>
                    <a:pt x="63439" y="1063103"/>
                  </a:lnTo>
                  <a:cubicBezTo>
                    <a:pt x="46614" y="1063103"/>
                    <a:pt x="30478" y="1056419"/>
                    <a:pt x="18581" y="1044522"/>
                  </a:cubicBezTo>
                  <a:cubicBezTo>
                    <a:pt x="6684" y="1032625"/>
                    <a:pt x="0" y="1016489"/>
                    <a:pt x="0" y="999664"/>
                  </a:cubicBezTo>
                  <a:lnTo>
                    <a:pt x="0" y="63439"/>
                  </a:lnTo>
                  <a:cubicBezTo>
                    <a:pt x="0" y="46614"/>
                    <a:pt x="6684" y="30478"/>
                    <a:pt x="18581" y="18581"/>
                  </a:cubicBezTo>
                  <a:cubicBezTo>
                    <a:pt x="30478" y="6684"/>
                    <a:pt x="46614" y="0"/>
                    <a:pt x="63439" y="0"/>
                  </a:cubicBezTo>
                  <a:close/>
                </a:path>
              </a:pathLst>
            </a:custGeom>
            <a:solidFill>
              <a:srgbClr val="8574D1">
                <a:alpha val="81961"/>
              </a:srgbClr>
            </a:solidFill>
          </p:spPr>
        </p:sp>
        <p:sp>
          <p:nvSpPr>
            <p:cNvPr name="TextBox 14" id="14"/>
            <p:cNvSpPr txBox="true"/>
            <p:nvPr/>
          </p:nvSpPr>
          <p:spPr>
            <a:xfrm>
              <a:off x="0" y="-47625"/>
              <a:ext cx="1956298" cy="1110728"/>
            </a:xfrm>
            <a:prstGeom prst="rect">
              <a:avLst/>
            </a:prstGeom>
          </p:spPr>
          <p:txBody>
            <a:bodyPr anchor="ctr" rtlCol="false" tIns="50800" lIns="50800" bIns="50800" rIns="50800"/>
            <a:lstStyle/>
            <a:p>
              <a:pPr algn="ctr">
                <a:lnSpc>
                  <a:spcPts val="2659"/>
                </a:lnSpc>
              </a:pPr>
            </a:p>
          </p:txBody>
        </p:sp>
      </p:grpSp>
      <p:grpSp>
        <p:nvGrpSpPr>
          <p:cNvPr name="Group 15" id="15"/>
          <p:cNvGrpSpPr/>
          <p:nvPr/>
        </p:nvGrpSpPr>
        <p:grpSpPr>
          <a:xfrm rot="0">
            <a:off x="1461108" y="1121229"/>
            <a:ext cx="5778183" cy="2183752"/>
            <a:chOff x="0" y="0"/>
            <a:chExt cx="1816201" cy="686398"/>
          </a:xfrm>
        </p:grpSpPr>
        <p:sp>
          <p:nvSpPr>
            <p:cNvPr name="Freeform 16" id="16"/>
            <p:cNvSpPr/>
            <p:nvPr/>
          </p:nvSpPr>
          <p:spPr>
            <a:xfrm flipH="false" flipV="false" rot="0">
              <a:off x="0" y="0"/>
              <a:ext cx="1816201" cy="686398"/>
            </a:xfrm>
            <a:custGeom>
              <a:avLst/>
              <a:gdLst/>
              <a:ahLst/>
              <a:cxnLst/>
              <a:rect r="r" b="b" t="t" l="l"/>
              <a:pathLst>
                <a:path h="686398" w="1816201">
                  <a:moveTo>
                    <a:pt x="68333" y="0"/>
                  </a:moveTo>
                  <a:lnTo>
                    <a:pt x="1747868" y="0"/>
                  </a:lnTo>
                  <a:cubicBezTo>
                    <a:pt x="1765991" y="0"/>
                    <a:pt x="1783372" y="7199"/>
                    <a:pt x="1796187" y="20014"/>
                  </a:cubicBezTo>
                  <a:cubicBezTo>
                    <a:pt x="1809001" y="32829"/>
                    <a:pt x="1816201" y="50210"/>
                    <a:pt x="1816201" y="68333"/>
                  </a:cubicBezTo>
                  <a:lnTo>
                    <a:pt x="1816201" y="618065"/>
                  </a:lnTo>
                  <a:cubicBezTo>
                    <a:pt x="1816201" y="655804"/>
                    <a:pt x="1785607" y="686398"/>
                    <a:pt x="1747868" y="686398"/>
                  </a:cubicBezTo>
                  <a:lnTo>
                    <a:pt x="68333" y="686398"/>
                  </a:lnTo>
                  <a:cubicBezTo>
                    <a:pt x="50210" y="686398"/>
                    <a:pt x="32829" y="679199"/>
                    <a:pt x="20014" y="666384"/>
                  </a:cubicBezTo>
                  <a:cubicBezTo>
                    <a:pt x="7199" y="653569"/>
                    <a:pt x="0" y="636188"/>
                    <a:pt x="0" y="618065"/>
                  </a:cubicBezTo>
                  <a:lnTo>
                    <a:pt x="0" y="68333"/>
                  </a:lnTo>
                  <a:cubicBezTo>
                    <a:pt x="0" y="50210"/>
                    <a:pt x="7199" y="32829"/>
                    <a:pt x="20014" y="20014"/>
                  </a:cubicBezTo>
                  <a:cubicBezTo>
                    <a:pt x="32829" y="7199"/>
                    <a:pt x="50210" y="0"/>
                    <a:pt x="68333" y="0"/>
                  </a:cubicBezTo>
                  <a:close/>
                </a:path>
              </a:pathLst>
            </a:custGeom>
            <a:solidFill>
              <a:srgbClr val="E0DAED">
                <a:alpha val="81961"/>
              </a:srgbClr>
            </a:solidFill>
          </p:spPr>
        </p:sp>
        <p:sp>
          <p:nvSpPr>
            <p:cNvPr name="TextBox 17" id="17"/>
            <p:cNvSpPr txBox="true"/>
            <p:nvPr/>
          </p:nvSpPr>
          <p:spPr>
            <a:xfrm>
              <a:off x="0" y="-47625"/>
              <a:ext cx="1816201" cy="734023"/>
            </a:xfrm>
            <a:prstGeom prst="rect">
              <a:avLst/>
            </a:prstGeom>
          </p:spPr>
          <p:txBody>
            <a:bodyPr anchor="ctr" rtlCol="false" tIns="50800" lIns="50800" bIns="50800" rIns="50800"/>
            <a:lstStyle/>
            <a:p>
              <a:pPr algn="ctr">
                <a:lnSpc>
                  <a:spcPts val="2659"/>
                </a:lnSpc>
              </a:pPr>
            </a:p>
          </p:txBody>
        </p:sp>
      </p:grpSp>
      <p:sp>
        <p:nvSpPr>
          <p:cNvPr name="Freeform 18" id="18"/>
          <p:cNvSpPr/>
          <p:nvPr/>
        </p:nvSpPr>
        <p:spPr>
          <a:xfrm flipH="false" flipV="false" rot="0">
            <a:off x="1247775" y="4468076"/>
            <a:ext cx="6223899" cy="5349756"/>
          </a:xfrm>
          <a:custGeom>
            <a:avLst/>
            <a:gdLst/>
            <a:ahLst/>
            <a:cxnLst/>
            <a:rect r="r" b="b" t="t" l="l"/>
            <a:pathLst>
              <a:path h="5349756" w="6223899">
                <a:moveTo>
                  <a:pt x="0" y="0"/>
                </a:moveTo>
                <a:lnTo>
                  <a:pt x="6223899" y="0"/>
                </a:lnTo>
                <a:lnTo>
                  <a:pt x="6223899" y="5349756"/>
                </a:lnTo>
                <a:lnTo>
                  <a:pt x="0" y="5349756"/>
                </a:lnTo>
                <a:lnTo>
                  <a:pt x="0" y="0"/>
                </a:lnTo>
                <a:close/>
              </a:path>
            </a:pathLst>
          </a:custGeom>
          <a:blipFill>
            <a:blip r:embed="rId6"/>
            <a:stretch>
              <a:fillRect l="0" t="0" r="0" b="0"/>
            </a:stretch>
          </a:blipFill>
        </p:spPr>
      </p:sp>
      <p:sp>
        <p:nvSpPr>
          <p:cNvPr name="TextBox 19" id="19"/>
          <p:cNvSpPr txBox="true"/>
          <p:nvPr/>
        </p:nvSpPr>
        <p:spPr>
          <a:xfrm rot="0">
            <a:off x="1028700" y="660192"/>
            <a:ext cx="6223899" cy="373244"/>
          </a:xfrm>
          <a:prstGeom prst="rect">
            <a:avLst/>
          </a:prstGeom>
        </p:spPr>
        <p:txBody>
          <a:bodyPr anchor="t" rtlCol="false" tIns="0" lIns="0" bIns="0" rIns="0">
            <a:spAutoFit/>
          </a:bodyPr>
          <a:lstStyle/>
          <a:p>
            <a:pPr algn="ctr">
              <a:lnSpc>
                <a:spcPts val="3082"/>
              </a:lnSpc>
              <a:spcBef>
                <a:spcPct val="0"/>
              </a:spcBef>
            </a:pPr>
            <a:r>
              <a:rPr lang="en-US" b="true" sz="2202">
                <a:solidFill>
                  <a:srgbClr val="0E0340"/>
                </a:solidFill>
                <a:latin typeface="Canva Sans Bold"/>
                <a:ea typeface="Canva Sans Bold"/>
                <a:cs typeface="Canva Sans Bold"/>
                <a:sym typeface="Canva Sans Bold"/>
              </a:rPr>
              <a:t>Koneksi ke DBeaver</a:t>
            </a:r>
          </a:p>
        </p:txBody>
      </p:sp>
      <p:sp>
        <p:nvSpPr>
          <p:cNvPr name="TextBox 20" id="20"/>
          <p:cNvSpPr txBox="true"/>
          <p:nvPr/>
        </p:nvSpPr>
        <p:spPr>
          <a:xfrm rot="0">
            <a:off x="1423008" y="1313830"/>
            <a:ext cx="5873433" cy="1743302"/>
          </a:xfrm>
          <a:prstGeom prst="rect">
            <a:avLst/>
          </a:prstGeom>
        </p:spPr>
        <p:txBody>
          <a:bodyPr anchor="t" rtlCol="false" tIns="0" lIns="0" bIns="0" rIns="0">
            <a:spAutoFit/>
          </a:bodyPr>
          <a:lstStyle/>
          <a:p>
            <a:pPr algn="l" marL="430557" indent="-215278" lvl="1">
              <a:lnSpc>
                <a:spcPts val="2791"/>
              </a:lnSpc>
              <a:buFont typeface="Arial"/>
              <a:buChar char="•"/>
            </a:pPr>
            <a:r>
              <a:rPr lang="en-US" sz="1994">
                <a:solidFill>
                  <a:srgbClr val="000000"/>
                </a:solidFill>
                <a:latin typeface="Canva Sans"/>
                <a:ea typeface="Canva Sans"/>
                <a:cs typeface="Canva Sans"/>
                <a:sym typeface="Canva Sans"/>
              </a:rPr>
              <a:t>from </a:t>
            </a:r>
            <a:r>
              <a:rPr lang="en-US" sz="1994">
                <a:solidFill>
                  <a:srgbClr val="000000"/>
                </a:solidFill>
                <a:latin typeface="Canva Sans"/>
                <a:ea typeface="Canva Sans"/>
                <a:cs typeface="Canva Sans"/>
                <a:sym typeface="Canva Sans"/>
              </a:rPr>
              <a:t>sqlalchemy import create_engine</a:t>
            </a:r>
          </a:p>
          <a:p>
            <a:pPr algn="l">
              <a:lnSpc>
                <a:spcPts val="2791"/>
              </a:lnSpc>
            </a:pPr>
            <a:r>
              <a:rPr lang="en-US" sz="1994">
                <a:solidFill>
                  <a:srgbClr val="000000"/>
                </a:solidFill>
                <a:latin typeface="Canva Sans"/>
                <a:ea typeface="Canva Sans"/>
                <a:cs typeface="Canva Sans"/>
                <a:sym typeface="Canva Sans"/>
              </a:rPr>
              <a:t>       </a:t>
            </a:r>
            <a:r>
              <a:rPr lang="en-US" sz="1994">
                <a:solidFill>
                  <a:srgbClr val="000000"/>
                </a:solidFill>
                <a:latin typeface="Canva Sans"/>
                <a:ea typeface="Canva Sans"/>
                <a:cs typeface="Canva Sans"/>
                <a:sym typeface="Canva Sans"/>
              </a:rPr>
              <a:t>from sqlalchemy.engine import URL</a:t>
            </a:r>
          </a:p>
          <a:p>
            <a:pPr algn="l">
              <a:lnSpc>
                <a:spcPts val="2791"/>
              </a:lnSpc>
            </a:pPr>
            <a:r>
              <a:rPr lang="en-US" sz="1994">
                <a:solidFill>
                  <a:srgbClr val="000000"/>
                </a:solidFill>
                <a:latin typeface="Canva Sans"/>
                <a:ea typeface="Canva Sans"/>
                <a:cs typeface="Canva Sans"/>
                <a:sym typeface="Canva Sans"/>
              </a:rPr>
              <a:t>       </a:t>
            </a:r>
            <a:r>
              <a:rPr lang="en-US" sz="1994">
                <a:solidFill>
                  <a:srgbClr val="000000"/>
                </a:solidFill>
                <a:latin typeface="Canva Sans"/>
                <a:ea typeface="Canva Sans"/>
                <a:cs typeface="Canva Sans"/>
                <a:sym typeface="Canva Sans"/>
              </a:rPr>
              <a:t>URL = .....</a:t>
            </a:r>
          </a:p>
          <a:p>
            <a:pPr algn="l">
              <a:lnSpc>
                <a:spcPts val="2791"/>
              </a:lnSpc>
            </a:pPr>
            <a:r>
              <a:rPr lang="en-US" sz="1994">
                <a:solidFill>
                  <a:srgbClr val="000000"/>
                </a:solidFill>
                <a:latin typeface="Canva Sans"/>
                <a:ea typeface="Canva Sans"/>
                <a:cs typeface="Canva Sans"/>
                <a:sym typeface="Canva Sans"/>
              </a:rPr>
              <a:t>       </a:t>
            </a:r>
            <a:r>
              <a:rPr lang="en-US" sz="1994">
                <a:solidFill>
                  <a:srgbClr val="000000"/>
                </a:solidFill>
                <a:latin typeface="Canva Sans"/>
                <a:ea typeface="Canva Sans"/>
                <a:cs typeface="Canva Sans"/>
                <a:sym typeface="Canva Sans"/>
              </a:rPr>
              <a:t>engine = create_engine(url)</a:t>
            </a:r>
          </a:p>
          <a:p>
            <a:pPr algn="l">
              <a:lnSpc>
                <a:spcPts val="2791"/>
              </a:lnSpc>
            </a:pPr>
          </a:p>
        </p:txBody>
      </p:sp>
      <p:sp>
        <p:nvSpPr>
          <p:cNvPr name="TextBox 21" id="21"/>
          <p:cNvSpPr txBox="true"/>
          <p:nvPr/>
        </p:nvSpPr>
        <p:spPr>
          <a:xfrm rot="0">
            <a:off x="1247775" y="3421988"/>
            <a:ext cx="6223899" cy="373202"/>
          </a:xfrm>
          <a:prstGeom prst="rect">
            <a:avLst/>
          </a:prstGeom>
        </p:spPr>
        <p:txBody>
          <a:bodyPr anchor="t" rtlCol="false" tIns="0" lIns="0" bIns="0" rIns="0">
            <a:spAutoFit/>
          </a:bodyPr>
          <a:lstStyle/>
          <a:p>
            <a:pPr algn="ctr">
              <a:lnSpc>
                <a:spcPts val="3085"/>
              </a:lnSpc>
              <a:spcBef>
                <a:spcPct val="0"/>
              </a:spcBef>
            </a:pPr>
            <a:r>
              <a:rPr lang="en-US" b="true" sz="2203">
                <a:solidFill>
                  <a:srgbClr val="000000"/>
                </a:solidFill>
                <a:latin typeface="Canva Sans Bold"/>
                <a:ea typeface="Canva Sans Bold"/>
                <a:cs typeface="Canva Sans Bold"/>
                <a:sym typeface="Canva Sans Bold"/>
              </a:rPr>
              <a:t>Simpan ke  Database</a:t>
            </a:r>
          </a:p>
        </p:txBody>
      </p:sp>
      <p:grpSp>
        <p:nvGrpSpPr>
          <p:cNvPr name="Group 22" id="22"/>
          <p:cNvGrpSpPr/>
          <p:nvPr/>
        </p:nvGrpSpPr>
        <p:grpSpPr>
          <a:xfrm rot="0">
            <a:off x="8491280" y="2430336"/>
            <a:ext cx="7779414" cy="6768496"/>
            <a:chOff x="0" y="0"/>
            <a:chExt cx="2330469" cy="2027629"/>
          </a:xfrm>
        </p:grpSpPr>
        <p:sp>
          <p:nvSpPr>
            <p:cNvPr name="Freeform 23" id="23"/>
            <p:cNvSpPr/>
            <p:nvPr/>
          </p:nvSpPr>
          <p:spPr>
            <a:xfrm flipH="false" flipV="false" rot="0">
              <a:off x="0" y="0"/>
              <a:ext cx="2330469" cy="2027629"/>
            </a:xfrm>
            <a:custGeom>
              <a:avLst/>
              <a:gdLst/>
              <a:ahLst/>
              <a:cxnLst/>
              <a:rect r="r" b="b" t="t" l="l"/>
              <a:pathLst>
                <a:path h="2027629" w="2330469">
                  <a:moveTo>
                    <a:pt x="50754" y="0"/>
                  </a:moveTo>
                  <a:lnTo>
                    <a:pt x="2279714" y="0"/>
                  </a:lnTo>
                  <a:cubicBezTo>
                    <a:pt x="2307745" y="0"/>
                    <a:pt x="2330469" y="22723"/>
                    <a:pt x="2330469" y="50754"/>
                  </a:cubicBezTo>
                  <a:lnTo>
                    <a:pt x="2330469" y="1976875"/>
                  </a:lnTo>
                  <a:cubicBezTo>
                    <a:pt x="2330469" y="1990336"/>
                    <a:pt x="2325121" y="2003245"/>
                    <a:pt x="2315603" y="2012764"/>
                  </a:cubicBezTo>
                  <a:cubicBezTo>
                    <a:pt x="2306085" y="2022282"/>
                    <a:pt x="2293175" y="2027629"/>
                    <a:pt x="2279714" y="2027629"/>
                  </a:cubicBezTo>
                  <a:lnTo>
                    <a:pt x="50754" y="2027629"/>
                  </a:lnTo>
                  <a:cubicBezTo>
                    <a:pt x="37293" y="2027629"/>
                    <a:pt x="24384" y="2022282"/>
                    <a:pt x="14866" y="2012764"/>
                  </a:cubicBezTo>
                  <a:cubicBezTo>
                    <a:pt x="5347" y="2003245"/>
                    <a:pt x="0" y="1990336"/>
                    <a:pt x="0" y="1976875"/>
                  </a:cubicBezTo>
                  <a:lnTo>
                    <a:pt x="0" y="50754"/>
                  </a:lnTo>
                  <a:cubicBezTo>
                    <a:pt x="0" y="37293"/>
                    <a:pt x="5347" y="24384"/>
                    <a:pt x="14866" y="14866"/>
                  </a:cubicBezTo>
                  <a:cubicBezTo>
                    <a:pt x="24384" y="5347"/>
                    <a:pt x="37293" y="0"/>
                    <a:pt x="50754" y="0"/>
                  </a:cubicBezTo>
                  <a:close/>
                </a:path>
              </a:pathLst>
            </a:custGeom>
            <a:solidFill>
              <a:srgbClr val="8574D1">
                <a:alpha val="81961"/>
              </a:srgbClr>
            </a:solidFill>
          </p:spPr>
        </p:sp>
        <p:sp>
          <p:nvSpPr>
            <p:cNvPr name="TextBox 24" id="24"/>
            <p:cNvSpPr txBox="true"/>
            <p:nvPr/>
          </p:nvSpPr>
          <p:spPr>
            <a:xfrm>
              <a:off x="0" y="-47625"/>
              <a:ext cx="2330469" cy="2075254"/>
            </a:xfrm>
            <a:prstGeom prst="rect">
              <a:avLst/>
            </a:prstGeom>
          </p:spPr>
          <p:txBody>
            <a:bodyPr anchor="ctr" rtlCol="false" tIns="50800" lIns="50800" bIns="50800" rIns="50800"/>
            <a:lstStyle/>
            <a:p>
              <a:pPr algn="ctr">
                <a:lnSpc>
                  <a:spcPts val="2659"/>
                </a:lnSpc>
              </a:pPr>
            </a:p>
          </p:txBody>
        </p:sp>
      </p:grpSp>
      <p:grpSp>
        <p:nvGrpSpPr>
          <p:cNvPr name="Group 25" id="25"/>
          <p:cNvGrpSpPr/>
          <p:nvPr/>
        </p:nvGrpSpPr>
        <p:grpSpPr>
          <a:xfrm rot="0">
            <a:off x="8770939" y="3003364"/>
            <a:ext cx="7253593" cy="5951499"/>
            <a:chOff x="0" y="0"/>
            <a:chExt cx="2172949" cy="1782883"/>
          </a:xfrm>
        </p:grpSpPr>
        <p:sp>
          <p:nvSpPr>
            <p:cNvPr name="Freeform 26" id="26"/>
            <p:cNvSpPr/>
            <p:nvPr/>
          </p:nvSpPr>
          <p:spPr>
            <a:xfrm flipH="false" flipV="false" rot="0">
              <a:off x="0" y="0"/>
              <a:ext cx="2172949" cy="1782883"/>
            </a:xfrm>
            <a:custGeom>
              <a:avLst/>
              <a:gdLst/>
              <a:ahLst/>
              <a:cxnLst/>
              <a:rect r="r" b="b" t="t" l="l"/>
              <a:pathLst>
                <a:path h="1782883" w="2172949">
                  <a:moveTo>
                    <a:pt x="54433" y="0"/>
                  </a:moveTo>
                  <a:lnTo>
                    <a:pt x="2118515" y="0"/>
                  </a:lnTo>
                  <a:cubicBezTo>
                    <a:pt x="2132952" y="0"/>
                    <a:pt x="2146797" y="5735"/>
                    <a:pt x="2157006" y="15943"/>
                  </a:cubicBezTo>
                  <a:cubicBezTo>
                    <a:pt x="2167214" y="26151"/>
                    <a:pt x="2172949" y="39997"/>
                    <a:pt x="2172949" y="54433"/>
                  </a:cubicBezTo>
                  <a:lnTo>
                    <a:pt x="2172949" y="1728449"/>
                  </a:lnTo>
                  <a:cubicBezTo>
                    <a:pt x="2172949" y="1758512"/>
                    <a:pt x="2148578" y="1782883"/>
                    <a:pt x="2118515" y="1782883"/>
                  </a:cubicBezTo>
                  <a:lnTo>
                    <a:pt x="54433" y="1782883"/>
                  </a:lnTo>
                  <a:cubicBezTo>
                    <a:pt x="24371" y="1782883"/>
                    <a:pt x="0" y="1758512"/>
                    <a:pt x="0" y="1728449"/>
                  </a:cubicBezTo>
                  <a:lnTo>
                    <a:pt x="0" y="54433"/>
                  </a:lnTo>
                  <a:cubicBezTo>
                    <a:pt x="0" y="24371"/>
                    <a:pt x="24371" y="0"/>
                    <a:pt x="54433" y="0"/>
                  </a:cubicBezTo>
                  <a:close/>
                </a:path>
              </a:pathLst>
            </a:custGeom>
            <a:solidFill>
              <a:srgbClr val="E0DAED">
                <a:alpha val="81961"/>
              </a:srgbClr>
            </a:solidFill>
          </p:spPr>
        </p:sp>
        <p:sp>
          <p:nvSpPr>
            <p:cNvPr name="TextBox 27" id="27"/>
            <p:cNvSpPr txBox="true"/>
            <p:nvPr/>
          </p:nvSpPr>
          <p:spPr>
            <a:xfrm>
              <a:off x="0" y="-47625"/>
              <a:ext cx="2172949" cy="1830508"/>
            </a:xfrm>
            <a:prstGeom prst="rect">
              <a:avLst/>
            </a:prstGeom>
          </p:spPr>
          <p:txBody>
            <a:bodyPr anchor="ctr" rtlCol="false" tIns="50800" lIns="50800" bIns="50800" rIns="50800"/>
            <a:lstStyle/>
            <a:p>
              <a:pPr algn="ctr">
                <a:lnSpc>
                  <a:spcPts val="2659"/>
                </a:lnSpc>
              </a:pPr>
            </a:p>
          </p:txBody>
        </p:sp>
      </p:grpSp>
      <p:sp>
        <p:nvSpPr>
          <p:cNvPr name="TextBox 28" id="28"/>
          <p:cNvSpPr txBox="true"/>
          <p:nvPr/>
        </p:nvSpPr>
        <p:spPr>
          <a:xfrm rot="0">
            <a:off x="8793734" y="3015509"/>
            <a:ext cx="7341990" cy="5880375"/>
          </a:xfrm>
          <a:prstGeom prst="rect">
            <a:avLst/>
          </a:prstGeom>
        </p:spPr>
        <p:txBody>
          <a:bodyPr anchor="t" rtlCol="false" tIns="0" lIns="0" bIns="0" rIns="0">
            <a:spAutoFit/>
          </a:bodyPr>
          <a:lstStyle/>
          <a:p>
            <a:pPr algn="l" marL="451759" indent="-225879" lvl="1">
              <a:lnSpc>
                <a:spcPts val="2929"/>
              </a:lnSpc>
              <a:buFont typeface="Arial"/>
              <a:buChar char="•"/>
            </a:pPr>
            <a:r>
              <a:rPr lang="en-US" sz="2092">
                <a:solidFill>
                  <a:srgbClr val="000000"/>
                </a:solidFill>
                <a:latin typeface="Canva Sans"/>
                <a:ea typeface="Canva Sans"/>
                <a:cs typeface="Canva Sans"/>
                <a:sym typeface="Canva Sans"/>
              </a:rPr>
              <a:t>Informasi dataset :</a:t>
            </a:r>
          </a:p>
          <a:p>
            <a:pPr algn="l">
              <a:lnSpc>
                <a:spcPts val="2929"/>
              </a:lnSpc>
            </a:pPr>
            <a:r>
              <a:rPr lang="en-US" sz="2092">
                <a:solidFill>
                  <a:srgbClr val="000000"/>
                </a:solidFill>
                <a:latin typeface="Canva Sans"/>
                <a:ea typeface="Canva Sans"/>
                <a:cs typeface="Canva Sans"/>
                <a:sym typeface="Canva Sans"/>
              </a:rPr>
              <a:t>       -df_nama.info(),    </a:t>
            </a:r>
          </a:p>
          <a:p>
            <a:pPr algn="l">
              <a:lnSpc>
                <a:spcPts val="2929"/>
              </a:lnSpc>
            </a:pPr>
            <a:r>
              <a:rPr lang="en-US" sz="2092">
                <a:solidFill>
                  <a:srgbClr val="000000"/>
                </a:solidFill>
                <a:latin typeface="Canva Sans"/>
                <a:ea typeface="Canva Sans"/>
                <a:cs typeface="Canva Sans"/>
                <a:sym typeface="Canva Sans"/>
              </a:rPr>
              <a:t>       -df_nama.describe()       </a:t>
            </a:r>
          </a:p>
          <a:p>
            <a:pPr algn="l" marL="451759" indent="-225879" lvl="1">
              <a:lnSpc>
                <a:spcPts val="2929"/>
              </a:lnSpc>
              <a:buFont typeface="Arial"/>
              <a:buChar char="•"/>
            </a:pPr>
            <a:r>
              <a:rPr lang="en-US" sz="2092">
                <a:solidFill>
                  <a:srgbClr val="000000"/>
                </a:solidFill>
                <a:latin typeface="Canva Sans"/>
                <a:ea typeface="Canva Sans"/>
                <a:cs typeface="Canva Sans"/>
                <a:sym typeface="Canva Sans"/>
              </a:rPr>
              <a:t>Cek missing values:</a:t>
            </a:r>
          </a:p>
          <a:p>
            <a:pPr algn="l">
              <a:lnSpc>
                <a:spcPts val="2929"/>
              </a:lnSpc>
            </a:pPr>
            <a:r>
              <a:rPr lang="en-US" sz="2092">
                <a:solidFill>
                  <a:srgbClr val="000000"/>
                </a:solidFill>
                <a:latin typeface="Canva Sans"/>
                <a:ea typeface="Canva Sans"/>
                <a:cs typeface="Canva Sans"/>
                <a:sym typeface="Canva Sans"/>
              </a:rPr>
              <a:t>       -df.nama_isnull().sum()</a:t>
            </a:r>
          </a:p>
          <a:p>
            <a:pPr algn="l" marL="451759" indent="-225879" lvl="1">
              <a:lnSpc>
                <a:spcPts val="2929"/>
              </a:lnSpc>
              <a:buFont typeface="Arial"/>
              <a:buChar char="•"/>
            </a:pPr>
            <a:r>
              <a:rPr lang="en-US" sz="2092">
                <a:solidFill>
                  <a:srgbClr val="000000"/>
                </a:solidFill>
                <a:latin typeface="Canva Sans"/>
                <a:ea typeface="Canva Sans"/>
                <a:cs typeface="Canva Sans"/>
                <a:sym typeface="Canva Sans"/>
              </a:rPr>
              <a:t>Cek duplikat</a:t>
            </a:r>
          </a:p>
          <a:p>
            <a:pPr algn="l">
              <a:lnSpc>
                <a:spcPts val="2929"/>
              </a:lnSpc>
            </a:pPr>
            <a:r>
              <a:rPr lang="en-US" sz="2092">
                <a:solidFill>
                  <a:srgbClr val="000000"/>
                </a:solidFill>
                <a:latin typeface="Canva Sans"/>
                <a:ea typeface="Canva Sans"/>
                <a:cs typeface="Canva Sans"/>
                <a:sym typeface="Canva Sans"/>
              </a:rPr>
              <a:t>       -df_nama.duplicated().sum()</a:t>
            </a:r>
          </a:p>
          <a:p>
            <a:pPr algn="l" marL="451759" indent="-225879" lvl="1">
              <a:lnSpc>
                <a:spcPts val="2929"/>
              </a:lnSpc>
              <a:buFont typeface="Arial"/>
              <a:buChar char="•"/>
            </a:pPr>
            <a:r>
              <a:rPr lang="en-US" sz="2092">
                <a:solidFill>
                  <a:srgbClr val="000000"/>
                </a:solidFill>
                <a:latin typeface="Canva Sans"/>
                <a:ea typeface="Canva Sans"/>
                <a:cs typeface="Canva Sans"/>
                <a:sym typeface="Canva Sans"/>
              </a:rPr>
              <a:t>Handle Missing Value dengan drop kolom tidak relevan dan berisi nilai kosong :</a:t>
            </a:r>
          </a:p>
          <a:p>
            <a:pPr algn="l">
              <a:lnSpc>
                <a:spcPts val="2929"/>
              </a:lnSpc>
            </a:pPr>
          </a:p>
          <a:p>
            <a:pPr algn="l">
              <a:lnSpc>
                <a:spcPts val="2929"/>
              </a:lnSpc>
            </a:pPr>
          </a:p>
          <a:p>
            <a:pPr algn="l">
              <a:lnSpc>
                <a:spcPts val="2929"/>
              </a:lnSpc>
            </a:pPr>
          </a:p>
          <a:p>
            <a:pPr algn="just">
              <a:lnSpc>
                <a:spcPts val="2929"/>
              </a:lnSpc>
            </a:pPr>
          </a:p>
          <a:p>
            <a:pPr algn="just">
              <a:lnSpc>
                <a:spcPts val="2929"/>
              </a:lnSpc>
            </a:pPr>
          </a:p>
          <a:p>
            <a:pPr algn="just">
              <a:lnSpc>
                <a:spcPts val="2929"/>
              </a:lnSpc>
            </a:pPr>
          </a:p>
          <a:p>
            <a:pPr algn="just">
              <a:lnSpc>
                <a:spcPts val="2929"/>
              </a:lnSpc>
              <a:spcBef>
                <a:spcPct val="0"/>
              </a:spcBef>
            </a:pPr>
          </a:p>
        </p:txBody>
      </p:sp>
      <p:sp>
        <p:nvSpPr>
          <p:cNvPr name="TextBox 29" id="29"/>
          <p:cNvSpPr txBox="true"/>
          <p:nvPr/>
        </p:nvSpPr>
        <p:spPr>
          <a:xfrm rot="0">
            <a:off x="8823558" y="7938621"/>
            <a:ext cx="8214654" cy="1090245"/>
          </a:xfrm>
          <a:prstGeom prst="rect">
            <a:avLst/>
          </a:prstGeom>
        </p:spPr>
        <p:txBody>
          <a:bodyPr anchor="t" rtlCol="false" tIns="0" lIns="0" bIns="0" rIns="0">
            <a:spAutoFit/>
          </a:bodyPr>
          <a:lstStyle/>
          <a:p>
            <a:pPr algn="l" marL="452596" indent="-226298" lvl="1">
              <a:lnSpc>
                <a:spcPts val="2934"/>
              </a:lnSpc>
              <a:buFont typeface="Arial"/>
              <a:buChar char="•"/>
            </a:pPr>
            <a:r>
              <a:rPr lang="en-US" sz="2096">
                <a:solidFill>
                  <a:srgbClr val="000000"/>
                </a:solidFill>
                <a:latin typeface="Canva Sans"/>
                <a:ea typeface="Canva Sans"/>
                <a:cs typeface="Canva Sans"/>
                <a:sym typeface="Canva Sans"/>
              </a:rPr>
              <a:t>Ubah Tipe Data dari Object ke Datetime dengan </a:t>
            </a:r>
            <a:r>
              <a:rPr lang="en-US" b="true" sz="2096">
                <a:solidFill>
                  <a:srgbClr val="000000"/>
                </a:solidFill>
                <a:latin typeface="Canva Sans Bold"/>
                <a:ea typeface="Canva Sans Bold"/>
                <a:cs typeface="Canva Sans Bold"/>
                <a:sym typeface="Canva Sans Bold"/>
              </a:rPr>
              <a:t>pd.to_datetime</a:t>
            </a:r>
          </a:p>
          <a:p>
            <a:pPr algn="l">
              <a:lnSpc>
                <a:spcPts val="2934"/>
              </a:lnSpc>
            </a:pPr>
          </a:p>
        </p:txBody>
      </p:sp>
      <p:sp>
        <p:nvSpPr>
          <p:cNvPr name="TextBox 30" id="30"/>
          <p:cNvSpPr txBox="true"/>
          <p:nvPr/>
        </p:nvSpPr>
        <p:spPr>
          <a:xfrm rot="0">
            <a:off x="10072094" y="2511976"/>
            <a:ext cx="4785269" cy="399272"/>
          </a:xfrm>
          <a:prstGeom prst="rect">
            <a:avLst/>
          </a:prstGeom>
        </p:spPr>
        <p:txBody>
          <a:bodyPr anchor="t" rtlCol="false" tIns="0" lIns="0" bIns="0" rIns="0">
            <a:spAutoFit/>
          </a:bodyPr>
          <a:lstStyle/>
          <a:p>
            <a:pPr algn="ctr">
              <a:lnSpc>
                <a:spcPts val="3234"/>
              </a:lnSpc>
              <a:spcBef>
                <a:spcPct val="0"/>
              </a:spcBef>
            </a:pPr>
            <a:r>
              <a:rPr lang="en-US" b="true" sz="2310">
                <a:solidFill>
                  <a:srgbClr val="0E0340"/>
                </a:solidFill>
                <a:latin typeface="Canva Sans Bold"/>
                <a:ea typeface="Canva Sans Bold"/>
                <a:cs typeface="Canva Sans Bold"/>
                <a:sym typeface="Canva Sans Bold"/>
              </a:rPr>
              <a:t>Data Cleaning</a:t>
            </a:r>
          </a:p>
        </p:txBody>
      </p:sp>
      <p:sp>
        <p:nvSpPr>
          <p:cNvPr name="TextBox 31" id="31"/>
          <p:cNvSpPr txBox="true"/>
          <p:nvPr/>
        </p:nvSpPr>
        <p:spPr>
          <a:xfrm rot="0">
            <a:off x="9220823" y="6360983"/>
            <a:ext cx="7483944" cy="721781"/>
          </a:xfrm>
          <a:prstGeom prst="rect">
            <a:avLst/>
          </a:prstGeom>
        </p:spPr>
        <p:txBody>
          <a:bodyPr anchor="t" rtlCol="false" tIns="0" lIns="0" bIns="0" rIns="0">
            <a:spAutoFit/>
          </a:bodyPr>
          <a:lstStyle/>
          <a:p>
            <a:pPr algn="l">
              <a:lnSpc>
                <a:spcPts val="2934"/>
              </a:lnSpc>
              <a:spcBef>
                <a:spcPct val="0"/>
              </a:spcBef>
            </a:pPr>
            <a:r>
              <a:rPr lang="en-US" sz="2096">
                <a:solidFill>
                  <a:srgbClr val="000000"/>
                </a:solidFill>
                <a:latin typeface="Canva Sans"/>
                <a:ea typeface="Canva Sans"/>
                <a:cs typeface="Canva Sans"/>
                <a:sym typeface="Canva Sans"/>
              </a:rPr>
              <a:t>df_reviews=df_revi</a:t>
            </a:r>
            <a:r>
              <a:rPr lang="en-US" sz="2096">
                <a:solidFill>
                  <a:srgbClr val="000000"/>
                </a:solidFill>
                <a:latin typeface="Canva Sans"/>
                <a:ea typeface="Canva Sans"/>
                <a:cs typeface="Canva Sans"/>
                <a:sym typeface="Canva Sans"/>
              </a:rPr>
              <a:t>ews.drop(columns=['review_comment_title','review_comment_message'])</a:t>
            </a:r>
          </a:p>
        </p:txBody>
      </p:sp>
      <p:sp>
        <p:nvSpPr>
          <p:cNvPr name="TextBox 32" id="32"/>
          <p:cNvSpPr txBox="true"/>
          <p:nvPr/>
        </p:nvSpPr>
        <p:spPr>
          <a:xfrm rot="0">
            <a:off x="9220823" y="7125362"/>
            <a:ext cx="7483944" cy="721781"/>
          </a:xfrm>
          <a:prstGeom prst="rect">
            <a:avLst/>
          </a:prstGeom>
        </p:spPr>
        <p:txBody>
          <a:bodyPr anchor="t" rtlCol="false" tIns="0" lIns="0" bIns="0" rIns="0">
            <a:spAutoFit/>
          </a:bodyPr>
          <a:lstStyle/>
          <a:p>
            <a:pPr algn="l">
              <a:lnSpc>
                <a:spcPts val="2934"/>
              </a:lnSpc>
              <a:spcBef>
                <a:spcPct val="0"/>
              </a:spcBef>
            </a:pPr>
            <a:r>
              <a:rPr lang="en-US" sz="2096">
                <a:solidFill>
                  <a:srgbClr val="000000"/>
                </a:solidFill>
                <a:latin typeface="Canva Sans"/>
                <a:ea typeface="Canva Sans"/>
                <a:cs typeface="Canva Sans"/>
                <a:sym typeface="Canva Sans"/>
              </a:rPr>
              <a:t>df_products=df_products.dropna(subset=["product_</a:t>
            </a:r>
          </a:p>
          <a:p>
            <a:pPr algn="l">
              <a:lnSpc>
                <a:spcPts val="2934"/>
              </a:lnSpc>
              <a:spcBef>
                <a:spcPct val="0"/>
              </a:spcBef>
            </a:pPr>
            <a:r>
              <a:rPr lang="en-US" sz="2096">
                <a:solidFill>
                  <a:srgbClr val="000000"/>
                </a:solidFill>
                <a:latin typeface="Canva Sans"/>
                <a:ea typeface="Canva Sans"/>
                <a:cs typeface="Canva Sans"/>
                <a:sym typeface="Canva Sans"/>
              </a:rPr>
              <a:t>category_name"])</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7814"/>
            <a:ext cx="2988426" cy="3124780"/>
          </a:xfrm>
          <a:custGeom>
            <a:avLst/>
            <a:gdLst/>
            <a:ahLst/>
            <a:cxnLst/>
            <a:rect r="r" b="b" t="t" l="l"/>
            <a:pathLst>
              <a:path h="3124780" w="2988426">
                <a:moveTo>
                  <a:pt x="0" y="0"/>
                </a:moveTo>
                <a:lnTo>
                  <a:pt x="2988426" y="0"/>
                </a:lnTo>
                <a:lnTo>
                  <a:pt x="2988426" y="3124780"/>
                </a:lnTo>
                <a:lnTo>
                  <a:pt x="0" y="3124780"/>
                </a:lnTo>
                <a:lnTo>
                  <a:pt x="0" y="0"/>
                </a:lnTo>
                <a:close/>
              </a:path>
            </a:pathLst>
          </a:custGeom>
          <a:blipFill>
            <a:blip r:embed="rId2"/>
            <a:stretch>
              <a:fillRect l="0" t="0" r="0" b="0"/>
            </a:stretch>
          </a:blipFill>
        </p:spPr>
      </p:sp>
      <p:grpSp>
        <p:nvGrpSpPr>
          <p:cNvPr name="Group 3" id="3"/>
          <p:cNvGrpSpPr/>
          <p:nvPr/>
        </p:nvGrpSpPr>
        <p:grpSpPr>
          <a:xfrm rot="0">
            <a:off x="3269543" y="1664772"/>
            <a:ext cx="13527550" cy="123894"/>
            <a:chOff x="0" y="0"/>
            <a:chExt cx="3562812" cy="32631"/>
          </a:xfrm>
        </p:grpSpPr>
        <p:sp>
          <p:nvSpPr>
            <p:cNvPr name="Freeform 4" id="4"/>
            <p:cNvSpPr/>
            <p:nvPr/>
          </p:nvSpPr>
          <p:spPr>
            <a:xfrm flipH="false" flipV="false" rot="0">
              <a:off x="0" y="0"/>
              <a:ext cx="3562812" cy="32631"/>
            </a:xfrm>
            <a:custGeom>
              <a:avLst/>
              <a:gdLst/>
              <a:ahLst/>
              <a:cxnLst/>
              <a:rect r="r" b="b" t="t" l="l"/>
              <a:pathLst>
                <a:path h="32631" w="3562812">
                  <a:moveTo>
                    <a:pt x="0" y="0"/>
                  </a:moveTo>
                  <a:lnTo>
                    <a:pt x="3562812" y="0"/>
                  </a:lnTo>
                  <a:lnTo>
                    <a:pt x="3562812" y="32631"/>
                  </a:lnTo>
                  <a:lnTo>
                    <a:pt x="0" y="32631"/>
                  </a:lnTo>
                  <a:close/>
                </a:path>
              </a:pathLst>
            </a:custGeom>
            <a:solidFill>
              <a:srgbClr val="8574D1"/>
            </a:solidFill>
          </p:spPr>
        </p:sp>
        <p:sp>
          <p:nvSpPr>
            <p:cNvPr name="TextBox 5" id="5"/>
            <p:cNvSpPr txBox="true"/>
            <p:nvPr/>
          </p:nvSpPr>
          <p:spPr>
            <a:xfrm>
              <a:off x="0" y="-47625"/>
              <a:ext cx="3562812" cy="80256"/>
            </a:xfrm>
            <a:prstGeom prst="rect">
              <a:avLst/>
            </a:prstGeom>
          </p:spPr>
          <p:txBody>
            <a:bodyPr anchor="ctr" rtlCol="false" tIns="50800" lIns="50800" bIns="50800" rIns="50800"/>
            <a:lstStyle/>
            <a:p>
              <a:pPr algn="ctr">
                <a:lnSpc>
                  <a:spcPts val="2939"/>
                </a:lnSpc>
                <a:spcBef>
                  <a:spcPct val="0"/>
                </a:spcBef>
              </a:pPr>
            </a:p>
          </p:txBody>
        </p:sp>
      </p:grpSp>
      <p:grpSp>
        <p:nvGrpSpPr>
          <p:cNvPr name="Group 6" id="6"/>
          <p:cNvGrpSpPr/>
          <p:nvPr/>
        </p:nvGrpSpPr>
        <p:grpSpPr>
          <a:xfrm rot="0">
            <a:off x="1704206" y="2566386"/>
            <a:ext cx="9786999" cy="6691914"/>
            <a:chOff x="0" y="0"/>
            <a:chExt cx="2577646" cy="1762479"/>
          </a:xfrm>
        </p:grpSpPr>
        <p:sp>
          <p:nvSpPr>
            <p:cNvPr name="Freeform 7" id="7"/>
            <p:cNvSpPr/>
            <p:nvPr/>
          </p:nvSpPr>
          <p:spPr>
            <a:xfrm flipH="false" flipV="false" rot="0">
              <a:off x="0" y="0"/>
              <a:ext cx="2577646" cy="1762479"/>
            </a:xfrm>
            <a:custGeom>
              <a:avLst/>
              <a:gdLst/>
              <a:ahLst/>
              <a:cxnLst/>
              <a:rect r="r" b="b" t="t" l="l"/>
              <a:pathLst>
                <a:path h="1762479" w="2577646">
                  <a:moveTo>
                    <a:pt x="79104" y="0"/>
                  </a:moveTo>
                  <a:lnTo>
                    <a:pt x="2498542" y="0"/>
                  </a:lnTo>
                  <a:cubicBezTo>
                    <a:pt x="2519521" y="0"/>
                    <a:pt x="2539642" y="8334"/>
                    <a:pt x="2554477" y="23169"/>
                  </a:cubicBezTo>
                  <a:cubicBezTo>
                    <a:pt x="2569312" y="38004"/>
                    <a:pt x="2577646" y="58124"/>
                    <a:pt x="2577646" y="79104"/>
                  </a:cubicBezTo>
                  <a:lnTo>
                    <a:pt x="2577646" y="1683375"/>
                  </a:lnTo>
                  <a:cubicBezTo>
                    <a:pt x="2577646" y="1704355"/>
                    <a:pt x="2569312" y="1724476"/>
                    <a:pt x="2554477" y="1739310"/>
                  </a:cubicBezTo>
                  <a:cubicBezTo>
                    <a:pt x="2539642" y="1754145"/>
                    <a:pt x="2519521" y="1762479"/>
                    <a:pt x="2498542" y="1762479"/>
                  </a:cubicBezTo>
                  <a:lnTo>
                    <a:pt x="79104" y="1762479"/>
                  </a:lnTo>
                  <a:cubicBezTo>
                    <a:pt x="58124" y="1762479"/>
                    <a:pt x="38004" y="1754145"/>
                    <a:pt x="23169" y="1739310"/>
                  </a:cubicBezTo>
                  <a:cubicBezTo>
                    <a:pt x="8334" y="1724476"/>
                    <a:pt x="0" y="1704355"/>
                    <a:pt x="0" y="1683375"/>
                  </a:cubicBezTo>
                  <a:lnTo>
                    <a:pt x="0" y="79104"/>
                  </a:lnTo>
                  <a:cubicBezTo>
                    <a:pt x="0" y="58124"/>
                    <a:pt x="8334" y="38004"/>
                    <a:pt x="23169" y="23169"/>
                  </a:cubicBezTo>
                  <a:cubicBezTo>
                    <a:pt x="38004" y="8334"/>
                    <a:pt x="58124" y="0"/>
                    <a:pt x="79104" y="0"/>
                  </a:cubicBezTo>
                  <a:close/>
                </a:path>
              </a:pathLst>
            </a:custGeom>
            <a:solidFill>
              <a:srgbClr val="28094B">
                <a:alpha val="89804"/>
              </a:srgbClr>
            </a:solidFill>
          </p:spPr>
        </p:sp>
        <p:sp>
          <p:nvSpPr>
            <p:cNvPr name="TextBox 8" id="8"/>
            <p:cNvSpPr txBox="true"/>
            <p:nvPr/>
          </p:nvSpPr>
          <p:spPr>
            <a:xfrm>
              <a:off x="0" y="-38100"/>
              <a:ext cx="2577646" cy="1800579"/>
            </a:xfrm>
            <a:prstGeom prst="rect">
              <a:avLst/>
            </a:prstGeom>
          </p:spPr>
          <p:txBody>
            <a:bodyPr anchor="ctr" rtlCol="false" tIns="50800" lIns="50800" bIns="50800" rIns="50800"/>
            <a:lstStyle/>
            <a:p>
              <a:pPr algn="ctr">
                <a:lnSpc>
                  <a:spcPts val="2939"/>
                </a:lnSpc>
              </a:pPr>
            </a:p>
          </p:txBody>
        </p:sp>
      </p:grpSp>
      <p:grpSp>
        <p:nvGrpSpPr>
          <p:cNvPr name="Group 9" id="9"/>
          <p:cNvGrpSpPr/>
          <p:nvPr/>
        </p:nvGrpSpPr>
        <p:grpSpPr>
          <a:xfrm rot="0">
            <a:off x="5433705" y="2566386"/>
            <a:ext cx="9249273" cy="6691914"/>
            <a:chOff x="0" y="0"/>
            <a:chExt cx="2436023" cy="1762479"/>
          </a:xfrm>
        </p:grpSpPr>
        <p:sp>
          <p:nvSpPr>
            <p:cNvPr name="Freeform 10" id="10"/>
            <p:cNvSpPr/>
            <p:nvPr/>
          </p:nvSpPr>
          <p:spPr>
            <a:xfrm flipH="false" flipV="false" rot="0">
              <a:off x="0" y="0"/>
              <a:ext cx="2436023" cy="1762479"/>
            </a:xfrm>
            <a:custGeom>
              <a:avLst/>
              <a:gdLst/>
              <a:ahLst/>
              <a:cxnLst/>
              <a:rect r="r" b="b" t="t" l="l"/>
              <a:pathLst>
                <a:path h="1762479" w="2436023">
                  <a:moveTo>
                    <a:pt x="83703" y="0"/>
                  </a:moveTo>
                  <a:lnTo>
                    <a:pt x="2352320" y="0"/>
                  </a:lnTo>
                  <a:cubicBezTo>
                    <a:pt x="2398548" y="0"/>
                    <a:pt x="2436023" y="37475"/>
                    <a:pt x="2436023" y="83703"/>
                  </a:cubicBezTo>
                  <a:lnTo>
                    <a:pt x="2436023" y="1678776"/>
                  </a:lnTo>
                  <a:cubicBezTo>
                    <a:pt x="2436023" y="1725004"/>
                    <a:pt x="2398548" y="1762479"/>
                    <a:pt x="2352320" y="1762479"/>
                  </a:cubicBezTo>
                  <a:lnTo>
                    <a:pt x="83703" y="1762479"/>
                  </a:lnTo>
                  <a:cubicBezTo>
                    <a:pt x="37475" y="1762479"/>
                    <a:pt x="0" y="1725004"/>
                    <a:pt x="0" y="1678776"/>
                  </a:cubicBezTo>
                  <a:lnTo>
                    <a:pt x="0" y="83703"/>
                  </a:lnTo>
                  <a:cubicBezTo>
                    <a:pt x="0" y="37475"/>
                    <a:pt x="37475" y="0"/>
                    <a:pt x="83703" y="0"/>
                  </a:cubicBezTo>
                  <a:close/>
                </a:path>
              </a:pathLst>
            </a:custGeom>
            <a:solidFill>
              <a:srgbClr val="602E9E"/>
            </a:solidFill>
          </p:spPr>
        </p:sp>
        <p:sp>
          <p:nvSpPr>
            <p:cNvPr name="TextBox 11" id="11"/>
            <p:cNvSpPr txBox="true"/>
            <p:nvPr/>
          </p:nvSpPr>
          <p:spPr>
            <a:xfrm>
              <a:off x="0" y="-38100"/>
              <a:ext cx="2436023" cy="1800579"/>
            </a:xfrm>
            <a:prstGeom prst="rect">
              <a:avLst/>
            </a:prstGeom>
          </p:spPr>
          <p:txBody>
            <a:bodyPr anchor="ctr" rtlCol="false" tIns="50800" lIns="50800" bIns="50800" rIns="50800"/>
            <a:lstStyle/>
            <a:p>
              <a:pPr algn="ctr">
                <a:lnSpc>
                  <a:spcPts val="2939"/>
                </a:lnSpc>
              </a:pPr>
            </a:p>
          </p:txBody>
        </p:sp>
      </p:grpSp>
      <p:grpSp>
        <p:nvGrpSpPr>
          <p:cNvPr name="Group 12" id="12"/>
          <p:cNvGrpSpPr/>
          <p:nvPr/>
        </p:nvGrpSpPr>
        <p:grpSpPr>
          <a:xfrm rot="0">
            <a:off x="9588871" y="2566386"/>
            <a:ext cx="7672566" cy="6691914"/>
            <a:chOff x="0" y="0"/>
            <a:chExt cx="2020758" cy="1762479"/>
          </a:xfrm>
        </p:grpSpPr>
        <p:sp>
          <p:nvSpPr>
            <p:cNvPr name="Freeform 13" id="13"/>
            <p:cNvSpPr/>
            <p:nvPr/>
          </p:nvSpPr>
          <p:spPr>
            <a:xfrm flipH="false" flipV="false" rot="0">
              <a:off x="0" y="0"/>
              <a:ext cx="2020758" cy="1762479"/>
            </a:xfrm>
            <a:custGeom>
              <a:avLst/>
              <a:gdLst/>
              <a:ahLst/>
              <a:cxnLst/>
              <a:rect r="r" b="b" t="t" l="l"/>
              <a:pathLst>
                <a:path h="1762479" w="2020758">
                  <a:moveTo>
                    <a:pt x="100904" y="0"/>
                  </a:moveTo>
                  <a:lnTo>
                    <a:pt x="1919854" y="0"/>
                  </a:lnTo>
                  <a:cubicBezTo>
                    <a:pt x="1946616" y="0"/>
                    <a:pt x="1972281" y="10631"/>
                    <a:pt x="1991204" y="29554"/>
                  </a:cubicBezTo>
                  <a:cubicBezTo>
                    <a:pt x="2010127" y="48477"/>
                    <a:pt x="2020758" y="74143"/>
                    <a:pt x="2020758" y="100904"/>
                  </a:cubicBezTo>
                  <a:lnTo>
                    <a:pt x="2020758" y="1661576"/>
                  </a:lnTo>
                  <a:cubicBezTo>
                    <a:pt x="2020758" y="1688337"/>
                    <a:pt x="2010127" y="1714002"/>
                    <a:pt x="1991204" y="1732925"/>
                  </a:cubicBezTo>
                  <a:cubicBezTo>
                    <a:pt x="1972281" y="1751848"/>
                    <a:pt x="1946616" y="1762479"/>
                    <a:pt x="1919854" y="1762479"/>
                  </a:cubicBezTo>
                  <a:lnTo>
                    <a:pt x="100904" y="1762479"/>
                  </a:lnTo>
                  <a:cubicBezTo>
                    <a:pt x="74143" y="1762479"/>
                    <a:pt x="48477" y="1751848"/>
                    <a:pt x="29554" y="1732925"/>
                  </a:cubicBezTo>
                  <a:cubicBezTo>
                    <a:pt x="10631" y="1714002"/>
                    <a:pt x="0" y="1688337"/>
                    <a:pt x="0" y="1661576"/>
                  </a:cubicBezTo>
                  <a:lnTo>
                    <a:pt x="0" y="100904"/>
                  </a:lnTo>
                  <a:cubicBezTo>
                    <a:pt x="0" y="74143"/>
                    <a:pt x="10631" y="48477"/>
                    <a:pt x="29554" y="29554"/>
                  </a:cubicBezTo>
                  <a:cubicBezTo>
                    <a:pt x="48477" y="10631"/>
                    <a:pt x="74143" y="0"/>
                    <a:pt x="100904" y="0"/>
                  </a:cubicBezTo>
                  <a:close/>
                </a:path>
              </a:pathLst>
            </a:custGeom>
            <a:solidFill>
              <a:srgbClr val="8574D1"/>
            </a:solidFill>
          </p:spPr>
        </p:sp>
        <p:sp>
          <p:nvSpPr>
            <p:cNvPr name="TextBox 14" id="14"/>
            <p:cNvSpPr txBox="true"/>
            <p:nvPr/>
          </p:nvSpPr>
          <p:spPr>
            <a:xfrm>
              <a:off x="0" y="-38100"/>
              <a:ext cx="2020758" cy="1800579"/>
            </a:xfrm>
            <a:prstGeom prst="rect">
              <a:avLst/>
            </a:prstGeom>
          </p:spPr>
          <p:txBody>
            <a:bodyPr anchor="ctr" rtlCol="false" tIns="50800" lIns="50800" bIns="50800" rIns="50800"/>
            <a:lstStyle/>
            <a:p>
              <a:pPr algn="ctr">
                <a:lnSpc>
                  <a:spcPts val="2939"/>
                </a:lnSpc>
              </a:pPr>
            </a:p>
          </p:txBody>
        </p:sp>
      </p:grpSp>
      <p:grpSp>
        <p:nvGrpSpPr>
          <p:cNvPr name="Group 15" id="15"/>
          <p:cNvGrpSpPr/>
          <p:nvPr/>
        </p:nvGrpSpPr>
        <p:grpSpPr>
          <a:xfrm rot="0">
            <a:off x="13668591" y="2566386"/>
            <a:ext cx="5622907" cy="6691914"/>
            <a:chOff x="0" y="0"/>
            <a:chExt cx="1480930" cy="1762479"/>
          </a:xfrm>
        </p:grpSpPr>
        <p:sp>
          <p:nvSpPr>
            <p:cNvPr name="Freeform 16" id="16"/>
            <p:cNvSpPr/>
            <p:nvPr/>
          </p:nvSpPr>
          <p:spPr>
            <a:xfrm flipH="false" flipV="false" rot="0">
              <a:off x="0" y="0"/>
              <a:ext cx="1480930" cy="1762479"/>
            </a:xfrm>
            <a:custGeom>
              <a:avLst/>
              <a:gdLst/>
              <a:ahLst/>
              <a:cxnLst/>
              <a:rect r="r" b="b" t="t" l="l"/>
              <a:pathLst>
                <a:path h="1762479" w="1480930">
                  <a:moveTo>
                    <a:pt x="137685" y="0"/>
                  </a:moveTo>
                  <a:lnTo>
                    <a:pt x="1343245" y="0"/>
                  </a:lnTo>
                  <a:cubicBezTo>
                    <a:pt x="1379761" y="0"/>
                    <a:pt x="1414782" y="14506"/>
                    <a:pt x="1440603" y="40327"/>
                  </a:cubicBezTo>
                  <a:cubicBezTo>
                    <a:pt x="1466424" y="66148"/>
                    <a:pt x="1480930" y="101169"/>
                    <a:pt x="1480930" y="137685"/>
                  </a:cubicBezTo>
                  <a:lnTo>
                    <a:pt x="1480930" y="1624794"/>
                  </a:lnTo>
                  <a:cubicBezTo>
                    <a:pt x="1480930" y="1661310"/>
                    <a:pt x="1466424" y="1696331"/>
                    <a:pt x="1440603" y="1722152"/>
                  </a:cubicBezTo>
                  <a:cubicBezTo>
                    <a:pt x="1414782" y="1747973"/>
                    <a:pt x="1379761" y="1762479"/>
                    <a:pt x="1343245" y="1762479"/>
                  </a:cubicBezTo>
                  <a:lnTo>
                    <a:pt x="137685" y="1762479"/>
                  </a:lnTo>
                  <a:cubicBezTo>
                    <a:pt x="101169" y="1762479"/>
                    <a:pt x="66148" y="1747973"/>
                    <a:pt x="40327" y="1722152"/>
                  </a:cubicBezTo>
                  <a:cubicBezTo>
                    <a:pt x="14506" y="1696331"/>
                    <a:pt x="0" y="1661310"/>
                    <a:pt x="0" y="1624794"/>
                  </a:cubicBezTo>
                  <a:lnTo>
                    <a:pt x="0" y="137685"/>
                  </a:lnTo>
                  <a:cubicBezTo>
                    <a:pt x="0" y="101169"/>
                    <a:pt x="14506" y="66148"/>
                    <a:pt x="40327" y="40327"/>
                  </a:cubicBezTo>
                  <a:cubicBezTo>
                    <a:pt x="66148" y="14506"/>
                    <a:pt x="101169" y="0"/>
                    <a:pt x="137685" y="0"/>
                  </a:cubicBezTo>
                  <a:close/>
                </a:path>
              </a:pathLst>
            </a:custGeom>
            <a:solidFill>
              <a:srgbClr val="E0DAED"/>
            </a:solidFill>
          </p:spPr>
        </p:sp>
        <p:sp>
          <p:nvSpPr>
            <p:cNvPr name="TextBox 17" id="17"/>
            <p:cNvSpPr txBox="true"/>
            <p:nvPr/>
          </p:nvSpPr>
          <p:spPr>
            <a:xfrm>
              <a:off x="0" y="-38100"/>
              <a:ext cx="1480930" cy="1800579"/>
            </a:xfrm>
            <a:prstGeom prst="rect">
              <a:avLst/>
            </a:prstGeom>
          </p:spPr>
          <p:txBody>
            <a:bodyPr anchor="ctr" rtlCol="false" tIns="50800" lIns="50800" bIns="50800" rIns="50800"/>
            <a:lstStyle/>
            <a:p>
              <a:pPr algn="ctr">
                <a:lnSpc>
                  <a:spcPts val="2939"/>
                </a:lnSpc>
              </a:pPr>
            </a:p>
          </p:txBody>
        </p:sp>
      </p:grpSp>
      <p:sp>
        <p:nvSpPr>
          <p:cNvPr name="Freeform 18" id="18"/>
          <p:cNvSpPr/>
          <p:nvPr/>
        </p:nvSpPr>
        <p:spPr>
          <a:xfrm flipH="false" flipV="false" rot="0">
            <a:off x="6792906" y="7955279"/>
            <a:ext cx="1567240" cy="720930"/>
          </a:xfrm>
          <a:custGeom>
            <a:avLst/>
            <a:gdLst/>
            <a:ahLst/>
            <a:cxnLst/>
            <a:rect r="r" b="b" t="t" l="l"/>
            <a:pathLst>
              <a:path h="720930" w="1567240">
                <a:moveTo>
                  <a:pt x="0" y="0"/>
                </a:moveTo>
                <a:lnTo>
                  <a:pt x="1567240" y="0"/>
                </a:lnTo>
                <a:lnTo>
                  <a:pt x="1567240" y="720930"/>
                </a:lnTo>
                <a:lnTo>
                  <a:pt x="0" y="72093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9" id="19"/>
          <p:cNvSpPr/>
          <p:nvPr/>
        </p:nvSpPr>
        <p:spPr>
          <a:xfrm flipH="false" flipV="false" rot="0">
            <a:off x="3269543" y="7802414"/>
            <a:ext cx="685062" cy="1026660"/>
          </a:xfrm>
          <a:custGeom>
            <a:avLst/>
            <a:gdLst/>
            <a:ahLst/>
            <a:cxnLst/>
            <a:rect r="r" b="b" t="t" l="l"/>
            <a:pathLst>
              <a:path h="1026660" w="685062">
                <a:moveTo>
                  <a:pt x="0" y="0"/>
                </a:moveTo>
                <a:lnTo>
                  <a:pt x="685062" y="0"/>
                </a:lnTo>
                <a:lnTo>
                  <a:pt x="685062" y="1026660"/>
                </a:lnTo>
                <a:lnTo>
                  <a:pt x="0" y="102666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20" id="20"/>
          <p:cNvSpPr/>
          <p:nvPr/>
        </p:nvSpPr>
        <p:spPr>
          <a:xfrm flipH="false" flipV="false" rot="0">
            <a:off x="11165955" y="7684005"/>
            <a:ext cx="1277413" cy="1263477"/>
          </a:xfrm>
          <a:custGeom>
            <a:avLst/>
            <a:gdLst/>
            <a:ahLst/>
            <a:cxnLst/>
            <a:rect r="r" b="b" t="t" l="l"/>
            <a:pathLst>
              <a:path h="1263477" w="1277413">
                <a:moveTo>
                  <a:pt x="0" y="0"/>
                </a:moveTo>
                <a:lnTo>
                  <a:pt x="1277413" y="0"/>
                </a:lnTo>
                <a:lnTo>
                  <a:pt x="1277413" y="1263478"/>
                </a:lnTo>
                <a:lnTo>
                  <a:pt x="0" y="1263478"/>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21" id="21"/>
          <p:cNvSpPr/>
          <p:nvPr/>
        </p:nvSpPr>
        <p:spPr>
          <a:xfrm flipH="false" flipV="false" rot="0">
            <a:off x="15653475" y="8006933"/>
            <a:ext cx="1185185" cy="832593"/>
          </a:xfrm>
          <a:custGeom>
            <a:avLst/>
            <a:gdLst/>
            <a:ahLst/>
            <a:cxnLst/>
            <a:rect r="r" b="b" t="t" l="l"/>
            <a:pathLst>
              <a:path h="832593" w="1185185">
                <a:moveTo>
                  <a:pt x="0" y="0"/>
                </a:moveTo>
                <a:lnTo>
                  <a:pt x="1185185" y="0"/>
                </a:lnTo>
                <a:lnTo>
                  <a:pt x="1185185" y="832593"/>
                </a:lnTo>
                <a:lnTo>
                  <a:pt x="0" y="832593"/>
                </a:lnTo>
                <a:lnTo>
                  <a:pt x="0" y="0"/>
                </a:lnTo>
                <a:close/>
              </a:path>
            </a:pathLst>
          </a:custGeom>
          <a:blipFill>
            <a:blip r:embed="rId9"/>
            <a:stretch>
              <a:fillRect l="0" t="0" r="0" b="0"/>
            </a:stretch>
          </a:blipFill>
        </p:spPr>
      </p:sp>
      <p:sp>
        <p:nvSpPr>
          <p:cNvPr name="TextBox 22" id="22"/>
          <p:cNvSpPr txBox="true"/>
          <p:nvPr/>
        </p:nvSpPr>
        <p:spPr>
          <a:xfrm rot="0">
            <a:off x="3507056" y="616279"/>
            <a:ext cx="8900180" cy="938297"/>
          </a:xfrm>
          <a:prstGeom prst="rect">
            <a:avLst/>
          </a:prstGeom>
        </p:spPr>
        <p:txBody>
          <a:bodyPr anchor="t" rtlCol="false" tIns="0" lIns="0" bIns="0" rIns="0">
            <a:spAutoFit/>
          </a:bodyPr>
          <a:lstStyle/>
          <a:p>
            <a:pPr algn="l">
              <a:lnSpc>
                <a:spcPts val="7607"/>
              </a:lnSpc>
            </a:pPr>
            <a:r>
              <a:rPr lang="en-US" sz="5434" b="true">
                <a:solidFill>
                  <a:srgbClr val="0E0340"/>
                </a:solidFill>
                <a:latin typeface="TT Chocolates Bold"/>
                <a:ea typeface="TT Chocolates Bold"/>
                <a:cs typeface="TT Chocolates Bold"/>
                <a:sym typeface="TT Chocolates Bold"/>
              </a:rPr>
              <a:t>05. Business Metrics</a:t>
            </a:r>
          </a:p>
        </p:txBody>
      </p:sp>
      <p:sp>
        <p:nvSpPr>
          <p:cNvPr name="TextBox 23" id="23"/>
          <p:cNvSpPr txBox="true"/>
          <p:nvPr/>
        </p:nvSpPr>
        <p:spPr>
          <a:xfrm rot="0">
            <a:off x="2110399" y="2928019"/>
            <a:ext cx="3126178" cy="501015"/>
          </a:xfrm>
          <a:prstGeom prst="rect">
            <a:avLst/>
          </a:prstGeom>
        </p:spPr>
        <p:txBody>
          <a:bodyPr anchor="t" rtlCol="false" tIns="0" lIns="0" bIns="0" rIns="0">
            <a:spAutoFit/>
          </a:bodyPr>
          <a:lstStyle/>
          <a:p>
            <a:pPr algn="ctr">
              <a:lnSpc>
                <a:spcPts val="3629"/>
              </a:lnSpc>
            </a:pPr>
            <a:r>
              <a:rPr lang="en-US" sz="2999" b="true">
                <a:solidFill>
                  <a:srgbClr val="F9F7F4"/>
                </a:solidFill>
                <a:latin typeface="Telegraf Bold"/>
                <a:ea typeface="Telegraf Bold"/>
                <a:cs typeface="Telegraf Bold"/>
                <a:sym typeface="Telegraf Bold"/>
              </a:rPr>
              <a:t>Sales &amp; Revenue</a:t>
            </a:r>
          </a:p>
        </p:txBody>
      </p:sp>
      <p:sp>
        <p:nvSpPr>
          <p:cNvPr name="TextBox 24" id="24"/>
          <p:cNvSpPr txBox="true"/>
          <p:nvPr/>
        </p:nvSpPr>
        <p:spPr>
          <a:xfrm rot="0">
            <a:off x="6126328" y="2951641"/>
            <a:ext cx="3126178" cy="501015"/>
          </a:xfrm>
          <a:prstGeom prst="rect">
            <a:avLst/>
          </a:prstGeom>
        </p:spPr>
        <p:txBody>
          <a:bodyPr anchor="t" rtlCol="false" tIns="0" lIns="0" bIns="0" rIns="0">
            <a:spAutoFit/>
          </a:bodyPr>
          <a:lstStyle/>
          <a:p>
            <a:pPr algn="ctr">
              <a:lnSpc>
                <a:spcPts val="3629"/>
              </a:lnSpc>
            </a:pPr>
            <a:r>
              <a:rPr lang="en-US" sz="2999" b="true">
                <a:solidFill>
                  <a:srgbClr val="F9F7F4"/>
                </a:solidFill>
                <a:latin typeface="Telegraf Bold"/>
                <a:ea typeface="Telegraf Bold"/>
                <a:cs typeface="Telegraf Bold"/>
                <a:sym typeface="Telegraf Bold"/>
              </a:rPr>
              <a:t>Customer</a:t>
            </a:r>
          </a:p>
        </p:txBody>
      </p:sp>
      <p:sp>
        <p:nvSpPr>
          <p:cNvPr name="TextBox 25" id="25"/>
          <p:cNvSpPr txBox="true"/>
          <p:nvPr/>
        </p:nvSpPr>
        <p:spPr>
          <a:xfrm rot="0">
            <a:off x="1745008" y="3957753"/>
            <a:ext cx="3310833" cy="905511"/>
          </a:xfrm>
          <a:prstGeom prst="rect">
            <a:avLst/>
          </a:prstGeom>
        </p:spPr>
        <p:txBody>
          <a:bodyPr anchor="t" rtlCol="false" tIns="0" lIns="0" bIns="0" rIns="0">
            <a:spAutoFit/>
          </a:bodyPr>
          <a:lstStyle/>
          <a:p>
            <a:pPr algn="l" marL="561336" indent="-280668" lvl="1">
              <a:lnSpc>
                <a:spcPts val="3639"/>
              </a:lnSpc>
              <a:buAutoNum type="arabicPeriod" startAt="1"/>
            </a:pPr>
            <a:r>
              <a:rPr lang="en-US" sz="2599">
                <a:solidFill>
                  <a:srgbClr val="FBFBF9"/>
                </a:solidFill>
                <a:latin typeface="Questrial"/>
                <a:ea typeface="Questrial"/>
                <a:cs typeface="Questrial"/>
                <a:sym typeface="Questrial"/>
              </a:rPr>
              <a:t> Total Revenue</a:t>
            </a:r>
          </a:p>
          <a:p>
            <a:pPr algn="l">
              <a:lnSpc>
                <a:spcPts val="3639"/>
              </a:lnSpc>
            </a:pPr>
            <a:r>
              <a:rPr lang="en-US" sz="2599">
                <a:solidFill>
                  <a:srgbClr val="FBFBF9"/>
                </a:solidFill>
                <a:latin typeface="Questrial"/>
                <a:ea typeface="Questrial"/>
                <a:cs typeface="Questrial"/>
                <a:sym typeface="Questrial"/>
              </a:rPr>
              <a:t>       </a:t>
            </a:r>
          </a:p>
        </p:txBody>
      </p:sp>
      <p:sp>
        <p:nvSpPr>
          <p:cNvPr name="TextBox 26" id="26"/>
          <p:cNvSpPr txBox="true"/>
          <p:nvPr/>
        </p:nvSpPr>
        <p:spPr>
          <a:xfrm rot="0">
            <a:off x="1728617" y="4564481"/>
            <a:ext cx="3507960" cy="905511"/>
          </a:xfrm>
          <a:prstGeom prst="rect">
            <a:avLst/>
          </a:prstGeom>
        </p:spPr>
        <p:txBody>
          <a:bodyPr anchor="t" rtlCol="false" tIns="0" lIns="0" bIns="0" rIns="0">
            <a:spAutoFit/>
          </a:bodyPr>
          <a:lstStyle/>
          <a:p>
            <a:pPr algn="l" marL="561336" indent="-280668" lvl="1">
              <a:lnSpc>
                <a:spcPts val="3639"/>
              </a:lnSpc>
              <a:buAutoNum type="arabicPeriod" startAt="1"/>
            </a:pPr>
            <a:r>
              <a:rPr lang="en-US" sz="2599">
                <a:solidFill>
                  <a:srgbClr val="FBFBF9"/>
                </a:solidFill>
                <a:latin typeface="Questrial"/>
                <a:ea typeface="Questrial"/>
                <a:cs typeface="Questrial"/>
                <a:sym typeface="Questrial"/>
              </a:rPr>
              <a:t> Total Revenue Kategori Produk</a:t>
            </a:r>
          </a:p>
        </p:txBody>
      </p:sp>
      <p:sp>
        <p:nvSpPr>
          <p:cNvPr name="TextBox 27" id="27"/>
          <p:cNvSpPr txBox="true"/>
          <p:nvPr/>
        </p:nvSpPr>
        <p:spPr>
          <a:xfrm rot="0">
            <a:off x="1709567" y="5570078"/>
            <a:ext cx="3688697" cy="448311"/>
          </a:xfrm>
          <a:prstGeom prst="rect">
            <a:avLst/>
          </a:prstGeom>
        </p:spPr>
        <p:txBody>
          <a:bodyPr anchor="t" rtlCol="false" tIns="0" lIns="0" bIns="0" rIns="0">
            <a:spAutoFit/>
          </a:bodyPr>
          <a:lstStyle/>
          <a:p>
            <a:pPr algn="l" marL="561336" indent="-280668" lvl="1">
              <a:lnSpc>
                <a:spcPts val="3639"/>
              </a:lnSpc>
              <a:buAutoNum type="arabicPeriod" startAt="1"/>
            </a:pPr>
            <a:r>
              <a:rPr lang="en-US" sz="2599">
                <a:solidFill>
                  <a:srgbClr val="FBFBF9"/>
                </a:solidFill>
                <a:latin typeface="Questrial"/>
                <a:ea typeface="Questrial"/>
                <a:cs typeface="Questrial"/>
                <a:sym typeface="Questrial"/>
              </a:rPr>
              <a:t> Revenue Seller</a:t>
            </a:r>
          </a:p>
        </p:txBody>
      </p:sp>
      <p:sp>
        <p:nvSpPr>
          <p:cNvPr name="TextBox 28" id="28"/>
          <p:cNvSpPr txBox="true"/>
          <p:nvPr/>
        </p:nvSpPr>
        <p:spPr>
          <a:xfrm rot="0">
            <a:off x="1956397" y="6503204"/>
            <a:ext cx="3191558" cy="905511"/>
          </a:xfrm>
          <a:prstGeom prst="rect">
            <a:avLst/>
          </a:prstGeom>
        </p:spPr>
        <p:txBody>
          <a:bodyPr anchor="t" rtlCol="false" tIns="0" lIns="0" bIns="0" rIns="0">
            <a:spAutoFit/>
          </a:bodyPr>
          <a:lstStyle/>
          <a:p>
            <a:pPr algn="l">
              <a:lnSpc>
                <a:spcPts val="3639"/>
              </a:lnSpc>
            </a:pPr>
            <a:r>
              <a:rPr lang="en-US" sz="2599">
                <a:solidFill>
                  <a:srgbClr val="FBFBF9"/>
                </a:solidFill>
                <a:latin typeface="Questrial"/>
                <a:ea typeface="Questrial"/>
                <a:cs typeface="Questrial"/>
                <a:sym typeface="Questrial"/>
              </a:rPr>
              <a:t># Revenue Growth Rate</a:t>
            </a:r>
          </a:p>
        </p:txBody>
      </p:sp>
      <p:sp>
        <p:nvSpPr>
          <p:cNvPr name="TextBox 29" id="29"/>
          <p:cNvSpPr txBox="true"/>
          <p:nvPr/>
        </p:nvSpPr>
        <p:spPr>
          <a:xfrm rot="0">
            <a:off x="9890443" y="3018316"/>
            <a:ext cx="3828438" cy="958215"/>
          </a:xfrm>
          <a:prstGeom prst="rect">
            <a:avLst/>
          </a:prstGeom>
        </p:spPr>
        <p:txBody>
          <a:bodyPr anchor="t" rtlCol="false" tIns="0" lIns="0" bIns="0" rIns="0">
            <a:spAutoFit/>
          </a:bodyPr>
          <a:lstStyle/>
          <a:p>
            <a:pPr algn="ctr">
              <a:lnSpc>
                <a:spcPts val="3629"/>
              </a:lnSpc>
            </a:pPr>
            <a:r>
              <a:rPr lang="en-US" sz="2999" b="true">
                <a:solidFill>
                  <a:srgbClr val="F9F7F4"/>
                </a:solidFill>
                <a:latin typeface="Telegraf Bold"/>
                <a:ea typeface="Telegraf Bold"/>
                <a:cs typeface="Telegraf Bold"/>
                <a:sym typeface="Telegraf Bold"/>
              </a:rPr>
              <a:t>Product Performance</a:t>
            </a:r>
          </a:p>
        </p:txBody>
      </p:sp>
      <p:sp>
        <p:nvSpPr>
          <p:cNvPr name="TextBox 30" id="30"/>
          <p:cNvSpPr txBox="true"/>
          <p:nvPr/>
        </p:nvSpPr>
        <p:spPr>
          <a:xfrm rot="0">
            <a:off x="14682978" y="3116931"/>
            <a:ext cx="3126178" cy="501015"/>
          </a:xfrm>
          <a:prstGeom prst="rect">
            <a:avLst/>
          </a:prstGeom>
        </p:spPr>
        <p:txBody>
          <a:bodyPr anchor="t" rtlCol="false" tIns="0" lIns="0" bIns="0" rIns="0">
            <a:spAutoFit/>
          </a:bodyPr>
          <a:lstStyle/>
          <a:p>
            <a:pPr algn="ctr">
              <a:lnSpc>
                <a:spcPts val="3629"/>
              </a:lnSpc>
            </a:pPr>
            <a:r>
              <a:rPr lang="en-US" b="true" sz="2999">
                <a:solidFill>
                  <a:srgbClr val="28094B"/>
                </a:solidFill>
                <a:latin typeface="Telegraf Bold"/>
                <a:ea typeface="Telegraf Bold"/>
                <a:cs typeface="Telegraf Bold"/>
                <a:sym typeface="Telegraf Bold"/>
              </a:rPr>
              <a:t>Payment</a:t>
            </a:r>
          </a:p>
        </p:txBody>
      </p:sp>
      <p:sp>
        <p:nvSpPr>
          <p:cNvPr name="TextBox 31" id="31"/>
          <p:cNvSpPr txBox="true"/>
          <p:nvPr/>
        </p:nvSpPr>
        <p:spPr>
          <a:xfrm rot="0">
            <a:off x="5475520" y="3957753"/>
            <a:ext cx="3310833" cy="905511"/>
          </a:xfrm>
          <a:prstGeom prst="rect">
            <a:avLst/>
          </a:prstGeom>
        </p:spPr>
        <p:txBody>
          <a:bodyPr anchor="t" rtlCol="false" tIns="0" lIns="0" bIns="0" rIns="0">
            <a:spAutoFit/>
          </a:bodyPr>
          <a:lstStyle/>
          <a:p>
            <a:pPr algn="l" marL="561336" indent="-280668" lvl="1">
              <a:lnSpc>
                <a:spcPts val="3639"/>
              </a:lnSpc>
              <a:buAutoNum type="arabicPeriod" startAt="1"/>
            </a:pPr>
            <a:r>
              <a:rPr lang="en-US" sz="2599">
                <a:solidFill>
                  <a:srgbClr val="FBFBF9"/>
                </a:solidFill>
                <a:latin typeface="Questrial"/>
                <a:ea typeface="Questrial"/>
                <a:cs typeface="Questrial"/>
                <a:sym typeface="Questrial"/>
              </a:rPr>
              <a:t> Total Order</a:t>
            </a:r>
          </a:p>
          <a:p>
            <a:pPr algn="l">
              <a:lnSpc>
                <a:spcPts val="3639"/>
              </a:lnSpc>
            </a:pPr>
            <a:r>
              <a:rPr lang="en-US" sz="2599">
                <a:solidFill>
                  <a:srgbClr val="FBFBF9"/>
                </a:solidFill>
                <a:latin typeface="Questrial"/>
                <a:ea typeface="Questrial"/>
                <a:cs typeface="Questrial"/>
                <a:sym typeface="Questrial"/>
              </a:rPr>
              <a:t>       </a:t>
            </a:r>
          </a:p>
        </p:txBody>
      </p:sp>
      <p:sp>
        <p:nvSpPr>
          <p:cNvPr name="TextBox 32" id="32"/>
          <p:cNvSpPr txBox="true"/>
          <p:nvPr/>
        </p:nvSpPr>
        <p:spPr>
          <a:xfrm rot="0">
            <a:off x="5459129" y="4564481"/>
            <a:ext cx="3847556" cy="1362711"/>
          </a:xfrm>
          <a:prstGeom prst="rect">
            <a:avLst/>
          </a:prstGeom>
        </p:spPr>
        <p:txBody>
          <a:bodyPr anchor="t" rtlCol="false" tIns="0" lIns="0" bIns="0" rIns="0">
            <a:spAutoFit/>
          </a:bodyPr>
          <a:lstStyle/>
          <a:p>
            <a:pPr algn="l" marL="561336" indent="-280668" lvl="1">
              <a:lnSpc>
                <a:spcPts val="3639"/>
              </a:lnSpc>
              <a:buAutoNum type="arabicPeriod" startAt="1"/>
            </a:pPr>
            <a:r>
              <a:rPr lang="en-US" sz="2599">
                <a:solidFill>
                  <a:srgbClr val="FBFBF9"/>
                </a:solidFill>
                <a:latin typeface="Questrial"/>
                <a:ea typeface="Questrial"/>
                <a:cs typeface="Questrial"/>
                <a:sym typeface="Questrial"/>
              </a:rPr>
              <a:t> Sebaran Pelanggan :</a:t>
            </a:r>
          </a:p>
          <a:p>
            <a:pPr algn="l">
              <a:lnSpc>
                <a:spcPts val="3639"/>
              </a:lnSpc>
            </a:pPr>
            <a:r>
              <a:rPr lang="en-US" sz="2599">
                <a:solidFill>
                  <a:srgbClr val="FBFBF9"/>
                </a:solidFill>
                <a:latin typeface="Questrial"/>
                <a:ea typeface="Questrial"/>
                <a:cs typeface="Questrial"/>
                <a:sym typeface="Questrial"/>
              </a:rPr>
              <a:t>         City</a:t>
            </a:r>
          </a:p>
          <a:p>
            <a:pPr algn="l">
              <a:lnSpc>
                <a:spcPts val="3639"/>
              </a:lnSpc>
            </a:pPr>
            <a:r>
              <a:rPr lang="en-US" sz="2599">
                <a:solidFill>
                  <a:srgbClr val="FBFBF9"/>
                </a:solidFill>
                <a:latin typeface="Questrial"/>
                <a:ea typeface="Questrial"/>
                <a:cs typeface="Questrial"/>
                <a:sym typeface="Questrial"/>
              </a:rPr>
              <a:t>         State</a:t>
            </a:r>
          </a:p>
        </p:txBody>
      </p:sp>
      <p:sp>
        <p:nvSpPr>
          <p:cNvPr name="TextBox 33" id="33"/>
          <p:cNvSpPr txBox="true"/>
          <p:nvPr/>
        </p:nvSpPr>
        <p:spPr>
          <a:xfrm rot="0">
            <a:off x="5686909" y="6503204"/>
            <a:ext cx="3457091" cy="905511"/>
          </a:xfrm>
          <a:prstGeom prst="rect">
            <a:avLst/>
          </a:prstGeom>
        </p:spPr>
        <p:txBody>
          <a:bodyPr anchor="t" rtlCol="false" tIns="0" lIns="0" bIns="0" rIns="0">
            <a:spAutoFit/>
          </a:bodyPr>
          <a:lstStyle/>
          <a:p>
            <a:pPr algn="l">
              <a:lnSpc>
                <a:spcPts val="3639"/>
              </a:lnSpc>
            </a:pPr>
            <a:r>
              <a:rPr lang="en-US" sz="2599">
                <a:solidFill>
                  <a:srgbClr val="FBFBF9"/>
                </a:solidFill>
                <a:latin typeface="Questrial"/>
                <a:ea typeface="Questrial"/>
                <a:cs typeface="Questrial"/>
                <a:sym typeface="Questrial"/>
              </a:rPr>
              <a:t># Customer Growth Rate</a:t>
            </a:r>
          </a:p>
        </p:txBody>
      </p:sp>
      <p:sp>
        <p:nvSpPr>
          <p:cNvPr name="TextBox 34" id="34"/>
          <p:cNvSpPr txBox="true"/>
          <p:nvPr/>
        </p:nvSpPr>
        <p:spPr>
          <a:xfrm rot="0">
            <a:off x="9595737" y="4216400"/>
            <a:ext cx="3900086" cy="905511"/>
          </a:xfrm>
          <a:prstGeom prst="rect">
            <a:avLst/>
          </a:prstGeom>
        </p:spPr>
        <p:txBody>
          <a:bodyPr anchor="t" rtlCol="false" tIns="0" lIns="0" bIns="0" rIns="0">
            <a:spAutoFit/>
          </a:bodyPr>
          <a:lstStyle/>
          <a:p>
            <a:pPr algn="l" marL="561336" indent="-280668" lvl="1">
              <a:lnSpc>
                <a:spcPts val="3639"/>
              </a:lnSpc>
              <a:buAutoNum type="arabicPeriod" startAt="1"/>
            </a:pPr>
            <a:r>
              <a:rPr lang="en-US" sz="2599">
                <a:solidFill>
                  <a:srgbClr val="FBFBF9"/>
                </a:solidFill>
                <a:latin typeface="Questrial"/>
                <a:ea typeface="Questrial"/>
                <a:cs typeface="Questrial"/>
                <a:sym typeface="Questrial"/>
              </a:rPr>
              <a:t>Volume Penjualan Produk</a:t>
            </a:r>
          </a:p>
        </p:txBody>
      </p:sp>
      <p:sp>
        <p:nvSpPr>
          <p:cNvPr name="TextBox 35" id="35"/>
          <p:cNvSpPr txBox="true"/>
          <p:nvPr/>
        </p:nvSpPr>
        <p:spPr>
          <a:xfrm rot="0">
            <a:off x="9588871" y="5107940"/>
            <a:ext cx="3507960" cy="905511"/>
          </a:xfrm>
          <a:prstGeom prst="rect">
            <a:avLst/>
          </a:prstGeom>
        </p:spPr>
        <p:txBody>
          <a:bodyPr anchor="t" rtlCol="false" tIns="0" lIns="0" bIns="0" rIns="0">
            <a:spAutoFit/>
          </a:bodyPr>
          <a:lstStyle/>
          <a:p>
            <a:pPr algn="l" marL="561336" indent="-280668" lvl="1">
              <a:lnSpc>
                <a:spcPts val="3639"/>
              </a:lnSpc>
              <a:buAutoNum type="arabicPeriod" startAt="1"/>
            </a:pPr>
            <a:r>
              <a:rPr lang="en-US" sz="2599">
                <a:solidFill>
                  <a:srgbClr val="FBFBF9"/>
                </a:solidFill>
                <a:latin typeface="Questrial"/>
                <a:ea typeface="Questrial"/>
                <a:cs typeface="Questrial"/>
                <a:sym typeface="Questrial"/>
              </a:rPr>
              <a:t>Revenue Kategori Produk</a:t>
            </a:r>
          </a:p>
        </p:txBody>
      </p:sp>
      <p:sp>
        <p:nvSpPr>
          <p:cNvPr name="TextBox 36" id="36"/>
          <p:cNvSpPr txBox="true"/>
          <p:nvPr/>
        </p:nvSpPr>
        <p:spPr>
          <a:xfrm rot="0">
            <a:off x="9782115" y="6503204"/>
            <a:ext cx="3850622" cy="905511"/>
          </a:xfrm>
          <a:prstGeom prst="rect">
            <a:avLst/>
          </a:prstGeom>
        </p:spPr>
        <p:txBody>
          <a:bodyPr anchor="t" rtlCol="false" tIns="0" lIns="0" bIns="0" rIns="0">
            <a:spAutoFit/>
          </a:bodyPr>
          <a:lstStyle/>
          <a:p>
            <a:pPr algn="l">
              <a:lnSpc>
                <a:spcPts val="3639"/>
              </a:lnSpc>
            </a:pPr>
            <a:r>
              <a:rPr lang="en-US" sz="2599">
                <a:solidFill>
                  <a:srgbClr val="FBFBF9"/>
                </a:solidFill>
                <a:latin typeface="Questrial"/>
                <a:ea typeface="Questrial"/>
                <a:cs typeface="Questrial"/>
                <a:sym typeface="Questrial"/>
              </a:rPr>
              <a:t># Category Revenue Contribution</a:t>
            </a:r>
          </a:p>
        </p:txBody>
      </p:sp>
      <p:sp>
        <p:nvSpPr>
          <p:cNvPr name="TextBox 37" id="37"/>
          <p:cNvSpPr txBox="true"/>
          <p:nvPr/>
        </p:nvSpPr>
        <p:spPr>
          <a:xfrm rot="0">
            <a:off x="13728406" y="4033939"/>
            <a:ext cx="4140979" cy="905511"/>
          </a:xfrm>
          <a:prstGeom prst="rect">
            <a:avLst/>
          </a:prstGeom>
        </p:spPr>
        <p:txBody>
          <a:bodyPr anchor="t" rtlCol="false" tIns="0" lIns="0" bIns="0" rIns="0">
            <a:spAutoFit/>
          </a:bodyPr>
          <a:lstStyle/>
          <a:p>
            <a:pPr algn="l" marL="561336" indent="-280668" lvl="1">
              <a:lnSpc>
                <a:spcPts val="3639"/>
              </a:lnSpc>
              <a:buAutoNum type="arabicPeriod" startAt="1"/>
            </a:pPr>
            <a:r>
              <a:rPr lang="en-US" sz="2599">
                <a:solidFill>
                  <a:srgbClr val="28094B"/>
                </a:solidFill>
                <a:latin typeface="Questrial"/>
                <a:ea typeface="Questrial"/>
                <a:cs typeface="Questrial"/>
                <a:sym typeface="Questrial"/>
              </a:rPr>
              <a:t>Sebaran Penggunaan Metode Pembayaran</a:t>
            </a:r>
          </a:p>
        </p:txBody>
      </p:sp>
      <p:sp>
        <p:nvSpPr>
          <p:cNvPr name="TextBox 38" id="38"/>
          <p:cNvSpPr txBox="true"/>
          <p:nvPr/>
        </p:nvSpPr>
        <p:spPr>
          <a:xfrm rot="0">
            <a:off x="13954546" y="6503204"/>
            <a:ext cx="3688697" cy="905511"/>
          </a:xfrm>
          <a:prstGeom prst="rect">
            <a:avLst/>
          </a:prstGeom>
        </p:spPr>
        <p:txBody>
          <a:bodyPr anchor="t" rtlCol="false" tIns="0" lIns="0" bIns="0" rIns="0">
            <a:spAutoFit/>
          </a:bodyPr>
          <a:lstStyle/>
          <a:p>
            <a:pPr algn="l">
              <a:lnSpc>
                <a:spcPts val="3639"/>
              </a:lnSpc>
            </a:pPr>
            <a:r>
              <a:rPr lang="en-US" sz="2599">
                <a:solidFill>
                  <a:srgbClr val="28094B"/>
                </a:solidFill>
                <a:latin typeface="Questrial"/>
                <a:ea typeface="Questrial"/>
                <a:cs typeface="Questrial"/>
                <a:sym typeface="Questrial"/>
              </a:rPr>
              <a:t># Payment Method Adoption Rate (%)</a:t>
            </a:r>
          </a:p>
        </p:txBody>
      </p:sp>
      <p:grpSp>
        <p:nvGrpSpPr>
          <p:cNvPr name="Group 39" id="39"/>
          <p:cNvGrpSpPr/>
          <p:nvPr/>
        </p:nvGrpSpPr>
        <p:grpSpPr>
          <a:xfrm rot="-5400000">
            <a:off x="8394518" y="801395"/>
            <a:ext cx="2055148" cy="19885838"/>
            <a:chOff x="0" y="0"/>
            <a:chExt cx="541273" cy="5237422"/>
          </a:xfrm>
        </p:grpSpPr>
        <p:sp>
          <p:nvSpPr>
            <p:cNvPr name="Freeform 40" id="40"/>
            <p:cNvSpPr/>
            <p:nvPr/>
          </p:nvSpPr>
          <p:spPr>
            <a:xfrm flipH="false" flipV="false" rot="0">
              <a:off x="0" y="0"/>
              <a:ext cx="541273" cy="5237422"/>
            </a:xfrm>
            <a:custGeom>
              <a:avLst/>
              <a:gdLst/>
              <a:ahLst/>
              <a:cxnLst/>
              <a:rect r="r" b="b" t="t" l="l"/>
              <a:pathLst>
                <a:path h="5237422" w="541273">
                  <a:moveTo>
                    <a:pt x="0" y="0"/>
                  </a:moveTo>
                  <a:lnTo>
                    <a:pt x="541273" y="0"/>
                  </a:lnTo>
                  <a:lnTo>
                    <a:pt x="541273" y="5237422"/>
                  </a:lnTo>
                  <a:lnTo>
                    <a:pt x="0" y="5237422"/>
                  </a:lnTo>
                  <a:close/>
                </a:path>
              </a:pathLst>
            </a:custGeom>
            <a:solidFill>
              <a:srgbClr val="8574D1"/>
            </a:solidFill>
          </p:spPr>
        </p:sp>
        <p:sp>
          <p:nvSpPr>
            <p:cNvPr name="TextBox 41" id="41"/>
            <p:cNvSpPr txBox="true"/>
            <p:nvPr/>
          </p:nvSpPr>
          <p:spPr>
            <a:xfrm>
              <a:off x="0" y="-47625"/>
              <a:ext cx="541273" cy="5285047"/>
            </a:xfrm>
            <a:prstGeom prst="rect">
              <a:avLst/>
            </a:prstGeom>
          </p:spPr>
          <p:txBody>
            <a:bodyPr anchor="ctr" rtlCol="false" tIns="50800" lIns="50800" bIns="50800" rIns="50800"/>
            <a:lstStyle/>
            <a:p>
              <a:pPr algn="ctr">
                <a:lnSpc>
                  <a:spcPts val="2939"/>
                </a:lnSpc>
                <a:spcBef>
                  <a:spcPct val="0"/>
                </a:spcBef>
              </a:pPr>
            </a:p>
          </p:txBody>
        </p:sp>
      </p:gr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5650810" y="2235102"/>
            <a:ext cx="10189737" cy="6967288"/>
            <a:chOff x="0" y="0"/>
            <a:chExt cx="2577646" cy="1762479"/>
          </a:xfrm>
        </p:grpSpPr>
        <p:sp>
          <p:nvSpPr>
            <p:cNvPr name="Freeform 3" id="3"/>
            <p:cNvSpPr/>
            <p:nvPr/>
          </p:nvSpPr>
          <p:spPr>
            <a:xfrm flipH="false" flipV="false" rot="0">
              <a:off x="0" y="0"/>
              <a:ext cx="2577646" cy="1762479"/>
            </a:xfrm>
            <a:custGeom>
              <a:avLst/>
              <a:gdLst/>
              <a:ahLst/>
              <a:cxnLst/>
              <a:rect r="r" b="b" t="t" l="l"/>
              <a:pathLst>
                <a:path h="1762479" w="2577646">
                  <a:moveTo>
                    <a:pt x="75978" y="0"/>
                  </a:moveTo>
                  <a:lnTo>
                    <a:pt x="2501668" y="0"/>
                  </a:lnTo>
                  <a:cubicBezTo>
                    <a:pt x="2521819" y="0"/>
                    <a:pt x="2541144" y="8005"/>
                    <a:pt x="2555392" y="22253"/>
                  </a:cubicBezTo>
                  <a:cubicBezTo>
                    <a:pt x="2569641" y="36502"/>
                    <a:pt x="2577646" y="55827"/>
                    <a:pt x="2577646" y="75978"/>
                  </a:cubicBezTo>
                  <a:lnTo>
                    <a:pt x="2577646" y="1686502"/>
                  </a:lnTo>
                  <a:cubicBezTo>
                    <a:pt x="2577646" y="1706652"/>
                    <a:pt x="2569641" y="1725978"/>
                    <a:pt x="2555392" y="1740226"/>
                  </a:cubicBezTo>
                  <a:cubicBezTo>
                    <a:pt x="2541144" y="1754475"/>
                    <a:pt x="2521819" y="1762479"/>
                    <a:pt x="2501668" y="1762479"/>
                  </a:cubicBezTo>
                  <a:lnTo>
                    <a:pt x="75978" y="1762479"/>
                  </a:lnTo>
                  <a:cubicBezTo>
                    <a:pt x="55827" y="1762479"/>
                    <a:pt x="36502" y="1754475"/>
                    <a:pt x="22253" y="1740226"/>
                  </a:cubicBezTo>
                  <a:cubicBezTo>
                    <a:pt x="8005" y="1725978"/>
                    <a:pt x="0" y="1706652"/>
                    <a:pt x="0" y="1686502"/>
                  </a:cubicBezTo>
                  <a:lnTo>
                    <a:pt x="0" y="75978"/>
                  </a:lnTo>
                  <a:cubicBezTo>
                    <a:pt x="0" y="55827"/>
                    <a:pt x="8005" y="36502"/>
                    <a:pt x="22253" y="22253"/>
                  </a:cubicBezTo>
                  <a:cubicBezTo>
                    <a:pt x="36502" y="8005"/>
                    <a:pt x="55827" y="0"/>
                    <a:pt x="75978" y="0"/>
                  </a:cubicBezTo>
                  <a:close/>
                </a:path>
              </a:pathLst>
            </a:custGeom>
            <a:solidFill>
              <a:srgbClr val="E0DAED"/>
            </a:solidFill>
          </p:spPr>
        </p:sp>
        <p:sp>
          <p:nvSpPr>
            <p:cNvPr name="TextBox 4" id="4"/>
            <p:cNvSpPr txBox="true"/>
            <p:nvPr/>
          </p:nvSpPr>
          <p:spPr>
            <a:xfrm>
              <a:off x="0" y="-38100"/>
              <a:ext cx="2577646" cy="1800579"/>
            </a:xfrm>
            <a:prstGeom prst="rect">
              <a:avLst/>
            </a:prstGeom>
          </p:spPr>
          <p:txBody>
            <a:bodyPr anchor="ctr" rtlCol="false" tIns="50800" lIns="50800" bIns="50800" rIns="50800"/>
            <a:lstStyle/>
            <a:p>
              <a:pPr algn="ctr">
                <a:lnSpc>
                  <a:spcPts val="2939"/>
                </a:lnSpc>
              </a:pPr>
            </a:p>
          </p:txBody>
        </p:sp>
      </p:grpSp>
      <p:grpSp>
        <p:nvGrpSpPr>
          <p:cNvPr name="Group 5" id="5"/>
          <p:cNvGrpSpPr/>
          <p:nvPr/>
        </p:nvGrpSpPr>
        <p:grpSpPr>
          <a:xfrm rot="0">
            <a:off x="9533779" y="2235102"/>
            <a:ext cx="9629883" cy="6967288"/>
            <a:chOff x="0" y="0"/>
            <a:chExt cx="2436023" cy="1762479"/>
          </a:xfrm>
        </p:grpSpPr>
        <p:sp>
          <p:nvSpPr>
            <p:cNvPr name="Freeform 6" id="6"/>
            <p:cNvSpPr/>
            <p:nvPr/>
          </p:nvSpPr>
          <p:spPr>
            <a:xfrm flipH="false" flipV="false" rot="0">
              <a:off x="0" y="0"/>
              <a:ext cx="2436023" cy="1762479"/>
            </a:xfrm>
            <a:custGeom>
              <a:avLst/>
              <a:gdLst/>
              <a:ahLst/>
              <a:cxnLst/>
              <a:rect r="r" b="b" t="t" l="l"/>
              <a:pathLst>
                <a:path h="1762479" w="2436023">
                  <a:moveTo>
                    <a:pt x="80395" y="0"/>
                  </a:moveTo>
                  <a:lnTo>
                    <a:pt x="2355628" y="0"/>
                  </a:lnTo>
                  <a:cubicBezTo>
                    <a:pt x="2376950" y="0"/>
                    <a:pt x="2397399" y="8470"/>
                    <a:pt x="2412476" y="23547"/>
                  </a:cubicBezTo>
                  <a:cubicBezTo>
                    <a:pt x="2427552" y="38624"/>
                    <a:pt x="2436023" y="59073"/>
                    <a:pt x="2436023" y="80395"/>
                  </a:cubicBezTo>
                  <a:lnTo>
                    <a:pt x="2436023" y="1682085"/>
                  </a:lnTo>
                  <a:cubicBezTo>
                    <a:pt x="2436023" y="1703407"/>
                    <a:pt x="2427552" y="1723855"/>
                    <a:pt x="2412476" y="1738932"/>
                  </a:cubicBezTo>
                  <a:cubicBezTo>
                    <a:pt x="2397399" y="1754009"/>
                    <a:pt x="2376950" y="1762479"/>
                    <a:pt x="2355628" y="1762479"/>
                  </a:cubicBezTo>
                  <a:lnTo>
                    <a:pt x="80395" y="1762479"/>
                  </a:lnTo>
                  <a:cubicBezTo>
                    <a:pt x="59073" y="1762479"/>
                    <a:pt x="38624" y="1754009"/>
                    <a:pt x="23547" y="1738932"/>
                  </a:cubicBezTo>
                  <a:cubicBezTo>
                    <a:pt x="8470" y="1723855"/>
                    <a:pt x="0" y="1703407"/>
                    <a:pt x="0" y="1682085"/>
                  </a:cubicBezTo>
                  <a:lnTo>
                    <a:pt x="0" y="80395"/>
                  </a:lnTo>
                  <a:cubicBezTo>
                    <a:pt x="0" y="59073"/>
                    <a:pt x="8470" y="38624"/>
                    <a:pt x="23547" y="23547"/>
                  </a:cubicBezTo>
                  <a:cubicBezTo>
                    <a:pt x="38624" y="8470"/>
                    <a:pt x="59073" y="0"/>
                    <a:pt x="80395" y="0"/>
                  </a:cubicBezTo>
                  <a:close/>
                </a:path>
              </a:pathLst>
            </a:custGeom>
            <a:solidFill>
              <a:srgbClr val="8574D1">
                <a:alpha val="49804"/>
              </a:srgbClr>
            </a:solidFill>
          </p:spPr>
        </p:sp>
        <p:sp>
          <p:nvSpPr>
            <p:cNvPr name="TextBox 7" id="7"/>
            <p:cNvSpPr txBox="true"/>
            <p:nvPr/>
          </p:nvSpPr>
          <p:spPr>
            <a:xfrm>
              <a:off x="0" y="-38100"/>
              <a:ext cx="2436023" cy="1800579"/>
            </a:xfrm>
            <a:prstGeom prst="rect">
              <a:avLst/>
            </a:prstGeom>
          </p:spPr>
          <p:txBody>
            <a:bodyPr anchor="ctr" rtlCol="false" tIns="50800" lIns="50800" bIns="50800" rIns="50800"/>
            <a:lstStyle/>
            <a:p>
              <a:pPr algn="ctr">
                <a:lnSpc>
                  <a:spcPts val="2939"/>
                </a:lnSpc>
              </a:pPr>
            </a:p>
          </p:txBody>
        </p:sp>
      </p:grpSp>
      <p:grpSp>
        <p:nvGrpSpPr>
          <p:cNvPr name="Group 8" id="8"/>
          <p:cNvGrpSpPr/>
          <p:nvPr/>
        </p:nvGrpSpPr>
        <p:grpSpPr>
          <a:xfrm rot="0">
            <a:off x="13859931" y="2235102"/>
            <a:ext cx="5303732" cy="6967288"/>
            <a:chOff x="0" y="0"/>
            <a:chExt cx="1341658" cy="1762479"/>
          </a:xfrm>
        </p:grpSpPr>
        <p:sp>
          <p:nvSpPr>
            <p:cNvPr name="Freeform 9" id="9"/>
            <p:cNvSpPr/>
            <p:nvPr/>
          </p:nvSpPr>
          <p:spPr>
            <a:xfrm flipH="false" flipV="false" rot="0">
              <a:off x="0" y="0"/>
              <a:ext cx="1341658" cy="1762479"/>
            </a:xfrm>
            <a:custGeom>
              <a:avLst/>
              <a:gdLst/>
              <a:ahLst/>
              <a:cxnLst/>
              <a:rect r="r" b="b" t="t" l="l"/>
              <a:pathLst>
                <a:path h="1762479" w="1341658">
                  <a:moveTo>
                    <a:pt x="145971" y="0"/>
                  </a:moveTo>
                  <a:lnTo>
                    <a:pt x="1195687" y="0"/>
                  </a:lnTo>
                  <a:cubicBezTo>
                    <a:pt x="1234401" y="0"/>
                    <a:pt x="1271529" y="15379"/>
                    <a:pt x="1298904" y="42754"/>
                  </a:cubicBezTo>
                  <a:cubicBezTo>
                    <a:pt x="1326279" y="70129"/>
                    <a:pt x="1341658" y="107257"/>
                    <a:pt x="1341658" y="145971"/>
                  </a:cubicBezTo>
                  <a:lnTo>
                    <a:pt x="1341658" y="1616508"/>
                  </a:lnTo>
                  <a:cubicBezTo>
                    <a:pt x="1341658" y="1655222"/>
                    <a:pt x="1326279" y="1692351"/>
                    <a:pt x="1298904" y="1719725"/>
                  </a:cubicBezTo>
                  <a:cubicBezTo>
                    <a:pt x="1271529" y="1747100"/>
                    <a:pt x="1234401" y="1762479"/>
                    <a:pt x="1195687" y="1762479"/>
                  </a:cubicBezTo>
                  <a:lnTo>
                    <a:pt x="145971" y="1762479"/>
                  </a:lnTo>
                  <a:cubicBezTo>
                    <a:pt x="107257" y="1762479"/>
                    <a:pt x="70129" y="1747100"/>
                    <a:pt x="42754" y="1719725"/>
                  </a:cubicBezTo>
                  <a:cubicBezTo>
                    <a:pt x="15379" y="1692351"/>
                    <a:pt x="0" y="1655222"/>
                    <a:pt x="0" y="1616508"/>
                  </a:cubicBezTo>
                  <a:lnTo>
                    <a:pt x="0" y="145971"/>
                  </a:lnTo>
                  <a:cubicBezTo>
                    <a:pt x="0" y="107257"/>
                    <a:pt x="15379" y="70129"/>
                    <a:pt x="42754" y="42754"/>
                  </a:cubicBezTo>
                  <a:cubicBezTo>
                    <a:pt x="70129" y="15379"/>
                    <a:pt x="107257" y="0"/>
                    <a:pt x="145971" y="0"/>
                  </a:cubicBezTo>
                  <a:close/>
                </a:path>
              </a:pathLst>
            </a:custGeom>
            <a:solidFill>
              <a:srgbClr val="8574D1"/>
            </a:solidFill>
          </p:spPr>
        </p:sp>
        <p:sp>
          <p:nvSpPr>
            <p:cNvPr name="TextBox 10" id="10"/>
            <p:cNvSpPr txBox="true"/>
            <p:nvPr/>
          </p:nvSpPr>
          <p:spPr>
            <a:xfrm>
              <a:off x="0" y="-38100"/>
              <a:ext cx="1341658" cy="1800579"/>
            </a:xfrm>
            <a:prstGeom prst="rect">
              <a:avLst/>
            </a:prstGeom>
          </p:spPr>
          <p:txBody>
            <a:bodyPr anchor="ctr" rtlCol="false" tIns="50800" lIns="50800" bIns="50800" rIns="50800"/>
            <a:lstStyle/>
            <a:p>
              <a:pPr algn="ctr">
                <a:lnSpc>
                  <a:spcPts val="2939"/>
                </a:lnSpc>
              </a:pPr>
            </a:p>
          </p:txBody>
        </p:sp>
      </p:grpSp>
      <p:grpSp>
        <p:nvGrpSpPr>
          <p:cNvPr name="Group 11" id="11"/>
          <p:cNvGrpSpPr/>
          <p:nvPr/>
        </p:nvGrpSpPr>
        <p:grpSpPr>
          <a:xfrm rot="-5400000">
            <a:off x="8394518" y="801395"/>
            <a:ext cx="2055148" cy="19885838"/>
            <a:chOff x="0" y="0"/>
            <a:chExt cx="541273" cy="5237422"/>
          </a:xfrm>
        </p:grpSpPr>
        <p:sp>
          <p:nvSpPr>
            <p:cNvPr name="Freeform 12" id="12"/>
            <p:cNvSpPr/>
            <p:nvPr/>
          </p:nvSpPr>
          <p:spPr>
            <a:xfrm flipH="false" flipV="false" rot="0">
              <a:off x="0" y="0"/>
              <a:ext cx="541273" cy="5237422"/>
            </a:xfrm>
            <a:custGeom>
              <a:avLst/>
              <a:gdLst/>
              <a:ahLst/>
              <a:cxnLst/>
              <a:rect r="r" b="b" t="t" l="l"/>
              <a:pathLst>
                <a:path h="5237422" w="541273">
                  <a:moveTo>
                    <a:pt x="0" y="0"/>
                  </a:moveTo>
                  <a:lnTo>
                    <a:pt x="541273" y="0"/>
                  </a:lnTo>
                  <a:lnTo>
                    <a:pt x="541273" y="5237422"/>
                  </a:lnTo>
                  <a:lnTo>
                    <a:pt x="0" y="5237422"/>
                  </a:lnTo>
                  <a:close/>
                </a:path>
              </a:pathLst>
            </a:custGeom>
            <a:solidFill>
              <a:srgbClr val="8574D1"/>
            </a:solidFill>
          </p:spPr>
        </p:sp>
        <p:sp>
          <p:nvSpPr>
            <p:cNvPr name="TextBox 13" id="13"/>
            <p:cNvSpPr txBox="true"/>
            <p:nvPr/>
          </p:nvSpPr>
          <p:spPr>
            <a:xfrm>
              <a:off x="0" y="-47625"/>
              <a:ext cx="541273" cy="5285047"/>
            </a:xfrm>
            <a:prstGeom prst="rect">
              <a:avLst/>
            </a:prstGeom>
          </p:spPr>
          <p:txBody>
            <a:bodyPr anchor="ctr" rtlCol="false" tIns="50800" lIns="50800" bIns="50800" rIns="50800"/>
            <a:lstStyle/>
            <a:p>
              <a:pPr algn="ctr">
                <a:lnSpc>
                  <a:spcPts val="2939"/>
                </a:lnSpc>
                <a:spcBef>
                  <a:spcPct val="0"/>
                </a:spcBef>
              </a:pPr>
            </a:p>
          </p:txBody>
        </p:sp>
      </p:grpSp>
      <p:sp>
        <p:nvSpPr>
          <p:cNvPr name="Freeform 14" id="14"/>
          <p:cNvSpPr/>
          <p:nvPr/>
        </p:nvSpPr>
        <p:spPr>
          <a:xfrm flipH="false" flipV="false" rot="0">
            <a:off x="0" y="5774656"/>
            <a:ext cx="4484827" cy="4304084"/>
          </a:xfrm>
          <a:custGeom>
            <a:avLst/>
            <a:gdLst/>
            <a:ahLst/>
            <a:cxnLst/>
            <a:rect r="r" b="b" t="t" l="l"/>
            <a:pathLst>
              <a:path h="4304084" w="4484827">
                <a:moveTo>
                  <a:pt x="0" y="0"/>
                </a:moveTo>
                <a:lnTo>
                  <a:pt x="4484827" y="0"/>
                </a:lnTo>
                <a:lnTo>
                  <a:pt x="4484827" y="4304084"/>
                </a:lnTo>
                <a:lnTo>
                  <a:pt x="0" y="4304084"/>
                </a:lnTo>
                <a:lnTo>
                  <a:pt x="0" y="0"/>
                </a:lnTo>
                <a:close/>
              </a:path>
            </a:pathLst>
          </a:custGeom>
          <a:blipFill>
            <a:blip r:embed="rId2"/>
            <a:stretch>
              <a:fillRect l="-10893" t="-211" r="0" b="-211"/>
            </a:stretch>
          </a:blipFill>
        </p:spPr>
      </p:sp>
      <p:sp>
        <p:nvSpPr>
          <p:cNvPr name="Freeform 15" id="15"/>
          <p:cNvSpPr/>
          <p:nvPr/>
        </p:nvSpPr>
        <p:spPr>
          <a:xfrm flipH="false" flipV="false" rot="0">
            <a:off x="6893380" y="8023770"/>
            <a:ext cx="1218004" cy="744090"/>
          </a:xfrm>
          <a:custGeom>
            <a:avLst/>
            <a:gdLst/>
            <a:ahLst/>
            <a:cxnLst/>
            <a:rect r="r" b="b" t="t" l="l"/>
            <a:pathLst>
              <a:path h="744090" w="1218004">
                <a:moveTo>
                  <a:pt x="0" y="0"/>
                </a:moveTo>
                <a:lnTo>
                  <a:pt x="1218004" y="0"/>
                </a:lnTo>
                <a:lnTo>
                  <a:pt x="1218004" y="744090"/>
                </a:lnTo>
                <a:lnTo>
                  <a:pt x="0" y="74409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6" id="16"/>
          <p:cNvSpPr/>
          <p:nvPr/>
        </p:nvSpPr>
        <p:spPr>
          <a:xfrm flipH="false" flipV="false" rot="0">
            <a:off x="10739587" y="8142205"/>
            <a:ext cx="2249765" cy="507220"/>
          </a:xfrm>
          <a:custGeom>
            <a:avLst/>
            <a:gdLst/>
            <a:ahLst/>
            <a:cxnLst/>
            <a:rect r="r" b="b" t="t" l="l"/>
            <a:pathLst>
              <a:path h="507220" w="2249765">
                <a:moveTo>
                  <a:pt x="0" y="0"/>
                </a:moveTo>
                <a:lnTo>
                  <a:pt x="2249765" y="0"/>
                </a:lnTo>
                <a:lnTo>
                  <a:pt x="2249765" y="507220"/>
                </a:lnTo>
                <a:lnTo>
                  <a:pt x="0" y="50722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7" id="17"/>
          <p:cNvSpPr/>
          <p:nvPr/>
        </p:nvSpPr>
        <p:spPr>
          <a:xfrm flipH="false" flipV="false" rot="0">
            <a:off x="15617345" y="7665696"/>
            <a:ext cx="1122848" cy="953017"/>
          </a:xfrm>
          <a:custGeom>
            <a:avLst/>
            <a:gdLst/>
            <a:ahLst/>
            <a:cxnLst/>
            <a:rect r="r" b="b" t="t" l="l"/>
            <a:pathLst>
              <a:path h="953017" w="1122848">
                <a:moveTo>
                  <a:pt x="0" y="0"/>
                </a:moveTo>
                <a:lnTo>
                  <a:pt x="1122848" y="0"/>
                </a:lnTo>
                <a:lnTo>
                  <a:pt x="1122848" y="953018"/>
                </a:lnTo>
                <a:lnTo>
                  <a:pt x="0" y="953018"/>
                </a:lnTo>
                <a:lnTo>
                  <a:pt x="0" y="0"/>
                </a:lnTo>
                <a:close/>
              </a:path>
            </a:pathLst>
          </a:custGeom>
          <a:blipFill>
            <a:blip r:embed="rId7"/>
            <a:stretch>
              <a:fillRect l="0" t="0" r="0" b="0"/>
            </a:stretch>
          </a:blipFill>
        </p:spPr>
      </p:sp>
      <p:sp>
        <p:nvSpPr>
          <p:cNvPr name="TextBox 18" id="18"/>
          <p:cNvSpPr txBox="true"/>
          <p:nvPr/>
        </p:nvSpPr>
        <p:spPr>
          <a:xfrm rot="0">
            <a:off x="6073718" y="2623100"/>
            <a:ext cx="3254821" cy="510147"/>
          </a:xfrm>
          <a:prstGeom prst="rect">
            <a:avLst/>
          </a:prstGeom>
        </p:spPr>
        <p:txBody>
          <a:bodyPr anchor="t" rtlCol="false" tIns="0" lIns="0" bIns="0" rIns="0">
            <a:spAutoFit/>
          </a:bodyPr>
          <a:lstStyle/>
          <a:p>
            <a:pPr algn="ctr">
              <a:lnSpc>
                <a:spcPts val="3779"/>
              </a:lnSpc>
            </a:pPr>
            <a:r>
              <a:rPr lang="en-US" sz="3123" b="true">
                <a:solidFill>
                  <a:srgbClr val="0E0340"/>
                </a:solidFill>
                <a:latin typeface="Telegraf Bold"/>
                <a:ea typeface="Telegraf Bold"/>
                <a:cs typeface="Telegraf Bold"/>
                <a:sym typeface="Telegraf Bold"/>
              </a:rPr>
              <a:t>Operations</a:t>
            </a:r>
          </a:p>
        </p:txBody>
      </p:sp>
      <p:sp>
        <p:nvSpPr>
          <p:cNvPr name="TextBox 19" id="19"/>
          <p:cNvSpPr txBox="true"/>
          <p:nvPr/>
        </p:nvSpPr>
        <p:spPr>
          <a:xfrm rot="0">
            <a:off x="9904965" y="2623100"/>
            <a:ext cx="3919009" cy="986633"/>
          </a:xfrm>
          <a:prstGeom prst="rect">
            <a:avLst/>
          </a:prstGeom>
        </p:spPr>
        <p:txBody>
          <a:bodyPr anchor="t" rtlCol="false" tIns="0" lIns="0" bIns="0" rIns="0">
            <a:spAutoFit/>
          </a:bodyPr>
          <a:lstStyle/>
          <a:p>
            <a:pPr algn="ctr">
              <a:lnSpc>
                <a:spcPts val="3779"/>
              </a:lnSpc>
            </a:pPr>
            <a:r>
              <a:rPr lang="en-US" b="true" sz="3123">
                <a:solidFill>
                  <a:srgbClr val="0E0340"/>
                </a:solidFill>
                <a:latin typeface="Telegraf Bold"/>
                <a:ea typeface="Telegraf Bold"/>
                <a:cs typeface="Telegraf Bold"/>
                <a:sym typeface="Telegraf Bold"/>
              </a:rPr>
              <a:t>Customer Satisfaction</a:t>
            </a:r>
          </a:p>
        </p:txBody>
      </p:sp>
      <p:sp>
        <p:nvSpPr>
          <p:cNvPr name="TextBox 20" id="20"/>
          <p:cNvSpPr txBox="true"/>
          <p:nvPr/>
        </p:nvSpPr>
        <p:spPr>
          <a:xfrm rot="0">
            <a:off x="5667876" y="3889704"/>
            <a:ext cx="3447074" cy="464407"/>
          </a:xfrm>
          <a:prstGeom prst="rect">
            <a:avLst/>
          </a:prstGeom>
        </p:spPr>
        <p:txBody>
          <a:bodyPr anchor="t" rtlCol="false" tIns="0" lIns="0" bIns="0" rIns="0">
            <a:spAutoFit/>
          </a:bodyPr>
          <a:lstStyle/>
          <a:p>
            <a:pPr algn="l" marL="584435" indent="-292217" lvl="1">
              <a:lnSpc>
                <a:spcPts val="3789"/>
              </a:lnSpc>
              <a:buAutoNum type="arabicPeriod" startAt="1"/>
            </a:pPr>
            <a:r>
              <a:rPr lang="en-US" sz="2706">
                <a:solidFill>
                  <a:srgbClr val="0E0340"/>
                </a:solidFill>
                <a:latin typeface="Questrial"/>
                <a:ea typeface="Questrial"/>
                <a:cs typeface="Questrial"/>
                <a:sym typeface="Questrial"/>
              </a:rPr>
              <a:t>Status Pengiriman</a:t>
            </a:r>
          </a:p>
        </p:txBody>
      </p:sp>
      <p:sp>
        <p:nvSpPr>
          <p:cNvPr name="TextBox 21" id="21"/>
          <p:cNvSpPr txBox="true"/>
          <p:nvPr/>
        </p:nvSpPr>
        <p:spPr>
          <a:xfrm rot="0">
            <a:off x="5650810" y="4521399"/>
            <a:ext cx="3652314" cy="940421"/>
          </a:xfrm>
          <a:prstGeom prst="rect">
            <a:avLst/>
          </a:prstGeom>
        </p:spPr>
        <p:txBody>
          <a:bodyPr anchor="t" rtlCol="false" tIns="0" lIns="0" bIns="0" rIns="0">
            <a:spAutoFit/>
          </a:bodyPr>
          <a:lstStyle/>
          <a:p>
            <a:pPr algn="l" marL="584435" indent="-292217" lvl="1">
              <a:lnSpc>
                <a:spcPts val="3789"/>
              </a:lnSpc>
              <a:buAutoNum type="arabicPeriod" startAt="1"/>
            </a:pPr>
            <a:r>
              <a:rPr lang="en-US" sz="2706">
                <a:solidFill>
                  <a:srgbClr val="0E0340"/>
                </a:solidFill>
                <a:latin typeface="Questrial"/>
                <a:ea typeface="Questrial"/>
                <a:cs typeface="Questrial"/>
                <a:sym typeface="Questrial"/>
              </a:rPr>
              <a:t>Keterlambatan Pengiriman</a:t>
            </a:r>
          </a:p>
        </p:txBody>
      </p:sp>
      <p:sp>
        <p:nvSpPr>
          <p:cNvPr name="TextBox 22" id="22"/>
          <p:cNvSpPr txBox="true"/>
          <p:nvPr/>
        </p:nvSpPr>
        <p:spPr>
          <a:xfrm rot="0">
            <a:off x="5913379" y="6336272"/>
            <a:ext cx="3226986" cy="940421"/>
          </a:xfrm>
          <a:prstGeom prst="rect">
            <a:avLst/>
          </a:prstGeom>
        </p:spPr>
        <p:txBody>
          <a:bodyPr anchor="t" rtlCol="false" tIns="0" lIns="0" bIns="0" rIns="0">
            <a:spAutoFit/>
          </a:bodyPr>
          <a:lstStyle/>
          <a:p>
            <a:pPr algn="l">
              <a:lnSpc>
                <a:spcPts val="3789"/>
              </a:lnSpc>
            </a:pPr>
            <a:r>
              <a:rPr lang="en-US" sz="2706">
                <a:solidFill>
                  <a:srgbClr val="0E0340"/>
                </a:solidFill>
                <a:latin typeface="Questrial"/>
                <a:ea typeface="Questrial"/>
                <a:cs typeface="Questrial"/>
                <a:sym typeface="Questrial"/>
              </a:rPr>
              <a:t># On-Time Delivery Rate</a:t>
            </a:r>
          </a:p>
        </p:txBody>
      </p:sp>
      <p:sp>
        <p:nvSpPr>
          <p:cNvPr name="TextBox 23" id="23"/>
          <p:cNvSpPr txBox="true"/>
          <p:nvPr/>
        </p:nvSpPr>
        <p:spPr>
          <a:xfrm rot="0">
            <a:off x="14185779" y="2625320"/>
            <a:ext cx="3985979" cy="510147"/>
          </a:xfrm>
          <a:prstGeom prst="rect">
            <a:avLst/>
          </a:prstGeom>
        </p:spPr>
        <p:txBody>
          <a:bodyPr anchor="t" rtlCol="false" tIns="0" lIns="0" bIns="0" rIns="0">
            <a:spAutoFit/>
          </a:bodyPr>
          <a:lstStyle/>
          <a:p>
            <a:pPr algn="ctr">
              <a:lnSpc>
                <a:spcPts val="3779"/>
              </a:lnSpc>
            </a:pPr>
            <a:r>
              <a:rPr lang="en-US" b="true" sz="3123">
                <a:solidFill>
                  <a:srgbClr val="FFFFFF"/>
                </a:solidFill>
                <a:latin typeface="Telegraf Medium"/>
                <a:ea typeface="Telegraf Medium"/>
                <a:cs typeface="Telegraf Medium"/>
                <a:sym typeface="Telegraf Medium"/>
              </a:rPr>
              <a:t>Business Growth</a:t>
            </a:r>
          </a:p>
        </p:txBody>
      </p:sp>
      <p:sp>
        <p:nvSpPr>
          <p:cNvPr name="TextBox 24" id="24"/>
          <p:cNvSpPr txBox="true"/>
          <p:nvPr/>
        </p:nvSpPr>
        <p:spPr>
          <a:xfrm rot="0">
            <a:off x="9577314" y="3889704"/>
            <a:ext cx="3447074" cy="464407"/>
          </a:xfrm>
          <a:prstGeom prst="rect">
            <a:avLst/>
          </a:prstGeom>
        </p:spPr>
        <p:txBody>
          <a:bodyPr anchor="t" rtlCol="false" tIns="0" lIns="0" bIns="0" rIns="0">
            <a:spAutoFit/>
          </a:bodyPr>
          <a:lstStyle/>
          <a:p>
            <a:pPr algn="l" marL="584435" indent="-292217" lvl="1">
              <a:lnSpc>
                <a:spcPts val="3789"/>
              </a:lnSpc>
              <a:buAutoNum type="arabicPeriod" startAt="1"/>
            </a:pPr>
            <a:r>
              <a:rPr lang="en-US" sz="2706">
                <a:solidFill>
                  <a:srgbClr val="0E0340"/>
                </a:solidFill>
                <a:latin typeface="Questrial"/>
                <a:ea typeface="Questrial"/>
                <a:cs typeface="Questrial"/>
                <a:sym typeface="Questrial"/>
              </a:rPr>
              <a:t>Review Score</a:t>
            </a:r>
          </a:p>
        </p:txBody>
      </p:sp>
      <p:sp>
        <p:nvSpPr>
          <p:cNvPr name="TextBox 25" id="25"/>
          <p:cNvSpPr txBox="true"/>
          <p:nvPr/>
        </p:nvSpPr>
        <p:spPr>
          <a:xfrm rot="0">
            <a:off x="9560249" y="4521399"/>
            <a:ext cx="3652314" cy="464407"/>
          </a:xfrm>
          <a:prstGeom prst="rect">
            <a:avLst/>
          </a:prstGeom>
        </p:spPr>
        <p:txBody>
          <a:bodyPr anchor="t" rtlCol="false" tIns="0" lIns="0" bIns="0" rIns="0">
            <a:spAutoFit/>
          </a:bodyPr>
          <a:lstStyle/>
          <a:p>
            <a:pPr algn="l" marL="584435" indent="-292217" lvl="1">
              <a:lnSpc>
                <a:spcPts val="3789"/>
              </a:lnSpc>
              <a:buAutoNum type="arabicPeriod" startAt="1"/>
            </a:pPr>
            <a:r>
              <a:rPr lang="en-US" sz="2706">
                <a:solidFill>
                  <a:srgbClr val="0E0340"/>
                </a:solidFill>
                <a:latin typeface="Questrial"/>
                <a:ea typeface="Questrial"/>
                <a:cs typeface="Questrial"/>
                <a:sym typeface="Questrial"/>
              </a:rPr>
              <a:t> Review Pengiriman</a:t>
            </a:r>
          </a:p>
        </p:txBody>
      </p:sp>
      <p:sp>
        <p:nvSpPr>
          <p:cNvPr name="TextBox 26" id="26"/>
          <p:cNvSpPr txBox="true"/>
          <p:nvPr/>
        </p:nvSpPr>
        <p:spPr>
          <a:xfrm rot="0">
            <a:off x="9797402" y="6336272"/>
            <a:ext cx="3415160" cy="940421"/>
          </a:xfrm>
          <a:prstGeom prst="rect">
            <a:avLst/>
          </a:prstGeom>
        </p:spPr>
        <p:txBody>
          <a:bodyPr anchor="t" rtlCol="false" tIns="0" lIns="0" bIns="0" rIns="0">
            <a:spAutoFit/>
          </a:bodyPr>
          <a:lstStyle/>
          <a:p>
            <a:pPr algn="l">
              <a:lnSpc>
                <a:spcPts val="3789"/>
              </a:lnSpc>
            </a:pPr>
            <a:r>
              <a:rPr lang="en-US" sz="2706">
                <a:solidFill>
                  <a:srgbClr val="0E0340"/>
                </a:solidFill>
                <a:latin typeface="Questrial"/>
                <a:ea typeface="Questrial"/>
                <a:cs typeface="Questrial"/>
                <a:sym typeface="Questrial"/>
              </a:rPr>
              <a:t># Customer Satisfactory Rate</a:t>
            </a:r>
          </a:p>
        </p:txBody>
      </p:sp>
      <p:sp>
        <p:nvSpPr>
          <p:cNvPr name="TextBox 27" id="27"/>
          <p:cNvSpPr txBox="true"/>
          <p:nvPr/>
        </p:nvSpPr>
        <p:spPr>
          <a:xfrm rot="0">
            <a:off x="13859931" y="3889704"/>
            <a:ext cx="4060575" cy="464407"/>
          </a:xfrm>
          <a:prstGeom prst="rect">
            <a:avLst/>
          </a:prstGeom>
        </p:spPr>
        <p:txBody>
          <a:bodyPr anchor="t" rtlCol="false" tIns="0" lIns="0" bIns="0" rIns="0">
            <a:spAutoFit/>
          </a:bodyPr>
          <a:lstStyle/>
          <a:p>
            <a:pPr algn="l" marL="584435" indent="-292217" lvl="1">
              <a:lnSpc>
                <a:spcPts val="3789"/>
              </a:lnSpc>
              <a:buAutoNum type="arabicPeriod" startAt="1"/>
            </a:pPr>
            <a:r>
              <a:rPr lang="en-US" sz="2706">
                <a:solidFill>
                  <a:srgbClr val="FFFFFF"/>
                </a:solidFill>
                <a:latin typeface="Questrial"/>
                <a:ea typeface="Questrial"/>
                <a:cs typeface="Questrial"/>
                <a:sym typeface="Questrial"/>
              </a:rPr>
              <a:t>Jumlah Order Bulanan</a:t>
            </a:r>
          </a:p>
        </p:txBody>
      </p:sp>
      <p:sp>
        <p:nvSpPr>
          <p:cNvPr name="TextBox 28" id="28"/>
          <p:cNvSpPr txBox="true"/>
          <p:nvPr/>
        </p:nvSpPr>
        <p:spPr>
          <a:xfrm rot="0">
            <a:off x="14061127" y="6336272"/>
            <a:ext cx="4009076" cy="464407"/>
          </a:xfrm>
          <a:prstGeom prst="rect">
            <a:avLst/>
          </a:prstGeom>
        </p:spPr>
        <p:txBody>
          <a:bodyPr anchor="t" rtlCol="false" tIns="0" lIns="0" bIns="0" rIns="0">
            <a:spAutoFit/>
          </a:bodyPr>
          <a:lstStyle/>
          <a:p>
            <a:pPr algn="l">
              <a:lnSpc>
                <a:spcPts val="3789"/>
              </a:lnSpc>
            </a:pPr>
            <a:r>
              <a:rPr lang="en-US" sz="2706">
                <a:solidFill>
                  <a:srgbClr val="FFFFFF"/>
                </a:solidFill>
                <a:latin typeface="Questrial"/>
                <a:ea typeface="Questrial"/>
                <a:cs typeface="Questrial"/>
                <a:sym typeface="Questrial"/>
              </a:rPr>
              <a:t># Order Growth Rate</a:t>
            </a:r>
          </a:p>
        </p:txBody>
      </p:sp>
      <p:grpSp>
        <p:nvGrpSpPr>
          <p:cNvPr name="Group 29" id="29"/>
          <p:cNvGrpSpPr/>
          <p:nvPr/>
        </p:nvGrpSpPr>
        <p:grpSpPr>
          <a:xfrm rot="0">
            <a:off x="3269543" y="1664772"/>
            <a:ext cx="13527550" cy="123894"/>
            <a:chOff x="0" y="0"/>
            <a:chExt cx="3562812" cy="32631"/>
          </a:xfrm>
        </p:grpSpPr>
        <p:sp>
          <p:nvSpPr>
            <p:cNvPr name="Freeform 30" id="30"/>
            <p:cNvSpPr/>
            <p:nvPr/>
          </p:nvSpPr>
          <p:spPr>
            <a:xfrm flipH="false" flipV="false" rot="0">
              <a:off x="0" y="0"/>
              <a:ext cx="3562812" cy="32631"/>
            </a:xfrm>
            <a:custGeom>
              <a:avLst/>
              <a:gdLst/>
              <a:ahLst/>
              <a:cxnLst/>
              <a:rect r="r" b="b" t="t" l="l"/>
              <a:pathLst>
                <a:path h="32631" w="3562812">
                  <a:moveTo>
                    <a:pt x="0" y="0"/>
                  </a:moveTo>
                  <a:lnTo>
                    <a:pt x="3562812" y="0"/>
                  </a:lnTo>
                  <a:lnTo>
                    <a:pt x="3562812" y="32631"/>
                  </a:lnTo>
                  <a:lnTo>
                    <a:pt x="0" y="32631"/>
                  </a:lnTo>
                  <a:close/>
                </a:path>
              </a:pathLst>
            </a:custGeom>
            <a:solidFill>
              <a:srgbClr val="8574D1"/>
            </a:solidFill>
          </p:spPr>
        </p:sp>
        <p:sp>
          <p:nvSpPr>
            <p:cNvPr name="TextBox 31" id="31"/>
            <p:cNvSpPr txBox="true"/>
            <p:nvPr/>
          </p:nvSpPr>
          <p:spPr>
            <a:xfrm>
              <a:off x="0" y="-47625"/>
              <a:ext cx="3562812" cy="80256"/>
            </a:xfrm>
            <a:prstGeom prst="rect">
              <a:avLst/>
            </a:prstGeom>
          </p:spPr>
          <p:txBody>
            <a:bodyPr anchor="ctr" rtlCol="false" tIns="50800" lIns="50800" bIns="50800" rIns="50800"/>
            <a:lstStyle/>
            <a:p>
              <a:pPr algn="ctr">
                <a:lnSpc>
                  <a:spcPts val="2939"/>
                </a:lnSpc>
                <a:spcBef>
                  <a:spcPct val="0"/>
                </a:spcBef>
              </a:pPr>
            </a:p>
          </p:txBody>
        </p:sp>
      </p:grpSp>
      <p:sp>
        <p:nvSpPr>
          <p:cNvPr name="TextBox 32" id="32"/>
          <p:cNvSpPr txBox="true"/>
          <p:nvPr/>
        </p:nvSpPr>
        <p:spPr>
          <a:xfrm rot="0">
            <a:off x="3507056" y="616279"/>
            <a:ext cx="8900180" cy="938297"/>
          </a:xfrm>
          <a:prstGeom prst="rect">
            <a:avLst/>
          </a:prstGeom>
        </p:spPr>
        <p:txBody>
          <a:bodyPr anchor="t" rtlCol="false" tIns="0" lIns="0" bIns="0" rIns="0">
            <a:spAutoFit/>
          </a:bodyPr>
          <a:lstStyle/>
          <a:p>
            <a:pPr algn="l">
              <a:lnSpc>
                <a:spcPts val="7607"/>
              </a:lnSpc>
            </a:pPr>
            <a:r>
              <a:rPr lang="en-US" sz="5434" b="true">
                <a:solidFill>
                  <a:srgbClr val="0E0340"/>
                </a:solidFill>
                <a:latin typeface="TT Chocolates Bold"/>
                <a:ea typeface="TT Chocolates Bold"/>
                <a:cs typeface="TT Chocolates Bold"/>
                <a:sym typeface="TT Chocolates Bold"/>
              </a:rPr>
              <a:t>05. Business Metrics</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9F7F4"/>
        </a:solidFill>
      </p:bgPr>
    </p:bg>
    <p:spTree>
      <p:nvGrpSpPr>
        <p:cNvPr id="1" name=""/>
        <p:cNvGrpSpPr/>
        <p:nvPr/>
      </p:nvGrpSpPr>
      <p:grpSpPr>
        <a:xfrm>
          <a:off x="0" y="0"/>
          <a:ext cx="0" cy="0"/>
          <a:chOff x="0" y="0"/>
          <a:chExt cx="0" cy="0"/>
        </a:xfrm>
      </p:grpSpPr>
      <p:grpSp>
        <p:nvGrpSpPr>
          <p:cNvPr name="Group 2" id="2"/>
          <p:cNvGrpSpPr/>
          <p:nvPr/>
        </p:nvGrpSpPr>
        <p:grpSpPr>
          <a:xfrm rot="0">
            <a:off x="13820254" y="0"/>
            <a:ext cx="3284011" cy="11468399"/>
            <a:chOff x="0" y="0"/>
            <a:chExt cx="864925" cy="3020484"/>
          </a:xfrm>
        </p:grpSpPr>
        <p:sp>
          <p:nvSpPr>
            <p:cNvPr name="Freeform 3" id="3"/>
            <p:cNvSpPr/>
            <p:nvPr/>
          </p:nvSpPr>
          <p:spPr>
            <a:xfrm flipH="false" flipV="false" rot="0">
              <a:off x="0" y="0"/>
              <a:ext cx="864925" cy="3020484"/>
            </a:xfrm>
            <a:custGeom>
              <a:avLst/>
              <a:gdLst/>
              <a:ahLst/>
              <a:cxnLst/>
              <a:rect r="r" b="b" t="t" l="l"/>
              <a:pathLst>
                <a:path h="3020484" w="864925">
                  <a:moveTo>
                    <a:pt x="235746" y="0"/>
                  </a:moveTo>
                  <a:lnTo>
                    <a:pt x="629179" y="0"/>
                  </a:lnTo>
                  <a:cubicBezTo>
                    <a:pt x="759378" y="0"/>
                    <a:pt x="864925" y="105547"/>
                    <a:pt x="864925" y="235746"/>
                  </a:cubicBezTo>
                  <a:lnTo>
                    <a:pt x="864925" y="2784738"/>
                  </a:lnTo>
                  <a:cubicBezTo>
                    <a:pt x="864925" y="2914937"/>
                    <a:pt x="759378" y="3020484"/>
                    <a:pt x="629179" y="3020484"/>
                  </a:cubicBezTo>
                  <a:lnTo>
                    <a:pt x="235746" y="3020484"/>
                  </a:lnTo>
                  <a:cubicBezTo>
                    <a:pt x="173222" y="3020484"/>
                    <a:pt x="113259" y="2995646"/>
                    <a:pt x="69048" y="2951435"/>
                  </a:cubicBezTo>
                  <a:cubicBezTo>
                    <a:pt x="24837" y="2907224"/>
                    <a:pt x="0" y="2847261"/>
                    <a:pt x="0" y="2784738"/>
                  </a:cubicBezTo>
                  <a:lnTo>
                    <a:pt x="0" y="235746"/>
                  </a:lnTo>
                  <a:cubicBezTo>
                    <a:pt x="0" y="173222"/>
                    <a:pt x="24837" y="113259"/>
                    <a:pt x="69048" y="69048"/>
                  </a:cubicBezTo>
                  <a:cubicBezTo>
                    <a:pt x="113259" y="24837"/>
                    <a:pt x="173222" y="0"/>
                    <a:pt x="235746" y="0"/>
                  </a:cubicBezTo>
                  <a:close/>
                </a:path>
              </a:pathLst>
            </a:custGeom>
            <a:solidFill>
              <a:srgbClr val="8574D1"/>
            </a:solidFill>
          </p:spPr>
        </p:sp>
        <p:sp>
          <p:nvSpPr>
            <p:cNvPr name="TextBox 4" id="4"/>
            <p:cNvSpPr txBox="true"/>
            <p:nvPr/>
          </p:nvSpPr>
          <p:spPr>
            <a:xfrm>
              <a:off x="0" y="-38100"/>
              <a:ext cx="864925" cy="3058584"/>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674078" y="693030"/>
            <a:ext cx="13864283" cy="11167050"/>
          </a:xfrm>
          <a:custGeom>
            <a:avLst/>
            <a:gdLst/>
            <a:ahLst/>
            <a:cxnLst/>
            <a:rect r="r" b="b" t="t" l="l"/>
            <a:pathLst>
              <a:path h="11167050" w="13864283">
                <a:moveTo>
                  <a:pt x="0" y="0"/>
                </a:moveTo>
                <a:lnTo>
                  <a:pt x="13864283" y="0"/>
                </a:lnTo>
                <a:lnTo>
                  <a:pt x="13864283" y="11167050"/>
                </a:lnTo>
                <a:lnTo>
                  <a:pt x="0" y="11167050"/>
                </a:lnTo>
                <a:lnTo>
                  <a:pt x="0" y="0"/>
                </a:lnTo>
                <a:close/>
              </a:path>
            </a:pathLst>
          </a:custGeom>
          <a:blipFill>
            <a:blip r:embed="rId2">
              <a:alphaModFix amt="71000"/>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3246120" y="5354403"/>
            <a:ext cx="4833945" cy="4932597"/>
          </a:xfrm>
          <a:custGeom>
            <a:avLst/>
            <a:gdLst/>
            <a:ahLst/>
            <a:cxnLst/>
            <a:rect r="r" b="b" t="t" l="l"/>
            <a:pathLst>
              <a:path h="4932597" w="4833945">
                <a:moveTo>
                  <a:pt x="0" y="0"/>
                </a:moveTo>
                <a:lnTo>
                  <a:pt x="4833945" y="0"/>
                </a:lnTo>
                <a:lnTo>
                  <a:pt x="4833945" y="4932597"/>
                </a:lnTo>
                <a:lnTo>
                  <a:pt x="0" y="493259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7" id="7"/>
          <p:cNvSpPr txBox="true"/>
          <p:nvPr/>
        </p:nvSpPr>
        <p:spPr>
          <a:xfrm rot="0">
            <a:off x="4092566" y="4622640"/>
            <a:ext cx="8486227" cy="2441575"/>
          </a:xfrm>
          <a:prstGeom prst="rect">
            <a:avLst/>
          </a:prstGeom>
        </p:spPr>
        <p:txBody>
          <a:bodyPr anchor="t" rtlCol="false" tIns="0" lIns="0" bIns="0" rIns="0">
            <a:spAutoFit/>
          </a:bodyPr>
          <a:lstStyle/>
          <a:p>
            <a:pPr algn="l">
              <a:lnSpc>
                <a:spcPts val="9799"/>
              </a:lnSpc>
            </a:pPr>
            <a:r>
              <a:rPr lang="en-US" sz="6999" spc="-209" b="true">
                <a:solidFill>
                  <a:srgbClr val="28094B"/>
                </a:solidFill>
                <a:latin typeface="TT Chocolates Bold"/>
                <a:ea typeface="TT Chocolates Bold"/>
                <a:cs typeface="TT Chocolates Bold"/>
                <a:sym typeface="TT Chocolates Bold"/>
              </a:rPr>
              <a:t> SQL Analysis, Insight,</a:t>
            </a:r>
          </a:p>
          <a:p>
            <a:pPr algn="ctr">
              <a:lnSpc>
                <a:spcPts val="9799"/>
              </a:lnSpc>
            </a:pPr>
            <a:r>
              <a:rPr lang="en-US" b="true" sz="6999" spc="-209">
                <a:solidFill>
                  <a:srgbClr val="28094B"/>
                </a:solidFill>
                <a:latin typeface="TT Chocolates Bold"/>
                <a:ea typeface="TT Chocolates Bold"/>
                <a:cs typeface="TT Chocolates Bold"/>
                <a:sym typeface="TT Chocolates Bold"/>
              </a:rPr>
              <a:t> &amp; Visualization</a:t>
            </a:r>
          </a:p>
        </p:txBody>
      </p:sp>
      <p:sp>
        <p:nvSpPr>
          <p:cNvPr name="TextBox 8" id="8"/>
          <p:cNvSpPr txBox="true"/>
          <p:nvPr/>
        </p:nvSpPr>
        <p:spPr>
          <a:xfrm rot="0">
            <a:off x="7680464" y="3501715"/>
            <a:ext cx="1310432" cy="1203325"/>
          </a:xfrm>
          <a:prstGeom prst="rect">
            <a:avLst/>
          </a:prstGeom>
        </p:spPr>
        <p:txBody>
          <a:bodyPr anchor="t" rtlCol="false" tIns="0" lIns="0" bIns="0" rIns="0">
            <a:spAutoFit/>
          </a:bodyPr>
          <a:lstStyle/>
          <a:p>
            <a:pPr algn="ctr">
              <a:lnSpc>
                <a:spcPts val="9799"/>
              </a:lnSpc>
              <a:spcBef>
                <a:spcPct val="0"/>
              </a:spcBef>
            </a:pPr>
            <a:r>
              <a:rPr lang="en-US" b="true" sz="6999">
                <a:solidFill>
                  <a:srgbClr val="28094B"/>
                </a:solidFill>
                <a:latin typeface="TT Chocolates Bold"/>
                <a:ea typeface="TT Chocolates Bold"/>
                <a:cs typeface="TT Chocolates Bold"/>
                <a:sym typeface="TT Chocolates Bold"/>
              </a:rPr>
              <a:t>06.</a:t>
            </a:r>
          </a:p>
        </p:txBody>
      </p:sp>
      <p:sp>
        <p:nvSpPr>
          <p:cNvPr name="Freeform 9" id="9"/>
          <p:cNvSpPr/>
          <p:nvPr/>
        </p:nvSpPr>
        <p:spPr>
          <a:xfrm flipH="false" flipV="false" rot="0">
            <a:off x="158365" y="3644590"/>
            <a:ext cx="8493117" cy="7208533"/>
          </a:xfrm>
          <a:custGeom>
            <a:avLst/>
            <a:gdLst/>
            <a:ahLst/>
            <a:cxnLst/>
            <a:rect r="r" b="b" t="t" l="l"/>
            <a:pathLst>
              <a:path h="7208533" w="8493117">
                <a:moveTo>
                  <a:pt x="0" y="0"/>
                </a:moveTo>
                <a:lnTo>
                  <a:pt x="8493116" y="0"/>
                </a:lnTo>
                <a:lnTo>
                  <a:pt x="8493116" y="7208533"/>
                </a:lnTo>
                <a:lnTo>
                  <a:pt x="0" y="7208533"/>
                </a:lnTo>
                <a:lnTo>
                  <a:pt x="0" y="0"/>
                </a:lnTo>
                <a:close/>
              </a:path>
            </a:pathLst>
          </a:custGeom>
          <a:blipFill>
            <a:blip r:embed="rId6">
              <a:alphaModFix amt="15000"/>
            </a:blip>
            <a:stretch>
              <a:fillRect l="0" t="0" r="0" b="0"/>
            </a:stretch>
          </a:blipFill>
        </p:spPr>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FBFBF9"/>
        </a:solidFill>
      </p:bgPr>
    </p:bg>
    <p:spTree>
      <p:nvGrpSpPr>
        <p:cNvPr id="1" name=""/>
        <p:cNvGrpSpPr/>
        <p:nvPr/>
      </p:nvGrpSpPr>
      <p:grpSpPr>
        <a:xfrm>
          <a:off x="0" y="0"/>
          <a:ext cx="0" cy="0"/>
          <a:chOff x="0" y="0"/>
          <a:chExt cx="0" cy="0"/>
        </a:xfrm>
      </p:grpSpPr>
      <p:sp>
        <p:nvSpPr>
          <p:cNvPr name="Freeform 2" id="2"/>
          <p:cNvSpPr/>
          <p:nvPr/>
        </p:nvSpPr>
        <p:spPr>
          <a:xfrm flipH="false" flipV="false" rot="0">
            <a:off x="-2267676" y="-6268176"/>
            <a:ext cx="22823352" cy="22823352"/>
          </a:xfrm>
          <a:custGeom>
            <a:avLst/>
            <a:gdLst/>
            <a:ahLst/>
            <a:cxnLst/>
            <a:rect r="r" b="b" t="t" l="l"/>
            <a:pathLst>
              <a:path h="22823352" w="22823352">
                <a:moveTo>
                  <a:pt x="0" y="0"/>
                </a:moveTo>
                <a:lnTo>
                  <a:pt x="22823352" y="0"/>
                </a:lnTo>
                <a:lnTo>
                  <a:pt x="22823352" y="22823352"/>
                </a:lnTo>
                <a:lnTo>
                  <a:pt x="0" y="22823352"/>
                </a:lnTo>
                <a:lnTo>
                  <a:pt x="0" y="0"/>
                </a:lnTo>
                <a:close/>
              </a:path>
            </a:pathLst>
          </a:custGeom>
          <a:blipFill>
            <a:blip r:embed="rId2">
              <a:alphaModFix amt="6000"/>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0" y="1070295"/>
            <a:ext cx="17703247" cy="9876100"/>
            <a:chOff x="0" y="0"/>
            <a:chExt cx="23604329" cy="13168133"/>
          </a:xfrm>
        </p:grpSpPr>
        <p:sp>
          <p:nvSpPr>
            <p:cNvPr name="Freeform 4" id="4"/>
            <p:cNvSpPr/>
            <p:nvPr/>
          </p:nvSpPr>
          <p:spPr>
            <a:xfrm flipH="false" flipV="false" rot="701560">
              <a:off x="197157" y="8873457"/>
              <a:ext cx="1762790" cy="2126173"/>
            </a:xfrm>
            <a:custGeom>
              <a:avLst/>
              <a:gdLst/>
              <a:ahLst/>
              <a:cxnLst/>
              <a:rect r="r" b="b" t="t" l="l"/>
              <a:pathLst>
                <a:path h="2126173" w="1762790">
                  <a:moveTo>
                    <a:pt x="0" y="0"/>
                  </a:moveTo>
                  <a:lnTo>
                    <a:pt x="1762791" y="0"/>
                  </a:lnTo>
                  <a:lnTo>
                    <a:pt x="1762791" y="2126173"/>
                  </a:lnTo>
                  <a:lnTo>
                    <a:pt x="0" y="2126173"/>
                  </a:lnTo>
                  <a:lnTo>
                    <a:pt x="0" y="0"/>
                  </a:lnTo>
                  <a:close/>
                </a:path>
              </a:pathLst>
            </a:custGeom>
            <a:blipFill>
              <a:blip r:embed="rId4">
                <a:alphaModFix amt="15300"/>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2250332">
              <a:off x="22140847" y="891104"/>
              <a:ext cx="1157983" cy="1396690"/>
            </a:xfrm>
            <a:custGeom>
              <a:avLst/>
              <a:gdLst/>
              <a:ahLst/>
              <a:cxnLst/>
              <a:rect r="r" b="b" t="t" l="l"/>
              <a:pathLst>
                <a:path h="1396690" w="1157983">
                  <a:moveTo>
                    <a:pt x="0" y="0"/>
                  </a:moveTo>
                  <a:lnTo>
                    <a:pt x="1157984" y="0"/>
                  </a:lnTo>
                  <a:lnTo>
                    <a:pt x="1157984" y="1396691"/>
                  </a:lnTo>
                  <a:lnTo>
                    <a:pt x="0" y="1396691"/>
                  </a:lnTo>
                  <a:lnTo>
                    <a:pt x="0" y="0"/>
                  </a:lnTo>
                  <a:close/>
                </a:path>
              </a:pathLst>
            </a:custGeom>
            <a:blipFill>
              <a:blip r:embed="rId4">
                <a:alphaModFix amt="15300"/>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701560">
              <a:off x="21052452" y="9468395"/>
              <a:ext cx="1762790" cy="2126173"/>
            </a:xfrm>
            <a:custGeom>
              <a:avLst/>
              <a:gdLst/>
              <a:ahLst/>
              <a:cxnLst/>
              <a:rect r="r" b="b" t="t" l="l"/>
              <a:pathLst>
                <a:path h="2126173" w="1762790">
                  <a:moveTo>
                    <a:pt x="0" y="0"/>
                  </a:moveTo>
                  <a:lnTo>
                    <a:pt x="1762791" y="0"/>
                  </a:lnTo>
                  <a:lnTo>
                    <a:pt x="1762791" y="2126173"/>
                  </a:lnTo>
                  <a:lnTo>
                    <a:pt x="0" y="2126173"/>
                  </a:lnTo>
                  <a:lnTo>
                    <a:pt x="0" y="0"/>
                  </a:lnTo>
                  <a:close/>
                </a:path>
              </a:pathLst>
            </a:custGeom>
            <a:blipFill>
              <a:blip r:embed="rId4">
                <a:alphaModFix amt="15300"/>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2279228">
              <a:off x="4803749" y="156972"/>
              <a:ext cx="872157" cy="1051944"/>
            </a:xfrm>
            <a:custGeom>
              <a:avLst/>
              <a:gdLst/>
              <a:ahLst/>
              <a:cxnLst/>
              <a:rect r="r" b="b" t="t" l="l"/>
              <a:pathLst>
                <a:path h="1051944" w="872157">
                  <a:moveTo>
                    <a:pt x="0" y="0"/>
                  </a:moveTo>
                  <a:lnTo>
                    <a:pt x="872158" y="0"/>
                  </a:lnTo>
                  <a:lnTo>
                    <a:pt x="872158" y="1051944"/>
                  </a:lnTo>
                  <a:lnTo>
                    <a:pt x="0" y="1051944"/>
                  </a:lnTo>
                  <a:lnTo>
                    <a:pt x="0" y="0"/>
                  </a:lnTo>
                  <a:close/>
                </a:path>
              </a:pathLst>
            </a:custGeom>
            <a:blipFill>
              <a:blip r:embed="rId4">
                <a:alphaModFix amt="15300"/>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701560">
              <a:off x="16308552" y="2540853"/>
              <a:ext cx="1091352" cy="1316324"/>
            </a:xfrm>
            <a:custGeom>
              <a:avLst/>
              <a:gdLst/>
              <a:ahLst/>
              <a:cxnLst/>
              <a:rect r="r" b="b" t="t" l="l"/>
              <a:pathLst>
                <a:path h="1316324" w="1091352">
                  <a:moveTo>
                    <a:pt x="0" y="0"/>
                  </a:moveTo>
                  <a:lnTo>
                    <a:pt x="1091353" y="0"/>
                  </a:lnTo>
                  <a:lnTo>
                    <a:pt x="1091353" y="1316324"/>
                  </a:lnTo>
                  <a:lnTo>
                    <a:pt x="0" y="1316324"/>
                  </a:lnTo>
                  <a:lnTo>
                    <a:pt x="0" y="0"/>
                  </a:lnTo>
                  <a:close/>
                </a:path>
              </a:pathLst>
            </a:custGeom>
            <a:blipFill>
              <a:blip r:embed="rId4">
                <a:alphaModFix amt="15300"/>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false" flipV="false" rot="-2250332">
              <a:off x="10617995" y="11563283"/>
              <a:ext cx="1157983" cy="1396690"/>
            </a:xfrm>
            <a:custGeom>
              <a:avLst/>
              <a:gdLst/>
              <a:ahLst/>
              <a:cxnLst/>
              <a:rect r="r" b="b" t="t" l="l"/>
              <a:pathLst>
                <a:path h="1396690" w="1157983">
                  <a:moveTo>
                    <a:pt x="0" y="0"/>
                  </a:moveTo>
                  <a:lnTo>
                    <a:pt x="1157983" y="0"/>
                  </a:lnTo>
                  <a:lnTo>
                    <a:pt x="1157983" y="1396690"/>
                  </a:lnTo>
                  <a:lnTo>
                    <a:pt x="0" y="1396690"/>
                  </a:lnTo>
                  <a:lnTo>
                    <a:pt x="0" y="0"/>
                  </a:lnTo>
                  <a:close/>
                </a:path>
              </a:pathLst>
            </a:custGeom>
            <a:blipFill>
              <a:blip r:embed="rId4">
                <a:alphaModFix amt="15300"/>
                <a:extLst>
                  <a:ext uri="{96DAC541-7B7A-43D3-8B79-37D633B846F1}">
                    <asvg:svgBlip xmlns:asvg="http://schemas.microsoft.com/office/drawing/2016/SVG/main" r:embed="rId5"/>
                  </a:ext>
                </a:extLst>
              </a:blip>
              <a:stretch>
                <a:fillRect l="0" t="0" r="0" b="0"/>
              </a:stretch>
            </a:blipFill>
          </p:spPr>
        </p:sp>
      </p:grpSp>
      <p:grpSp>
        <p:nvGrpSpPr>
          <p:cNvPr name="Group 10" id="10"/>
          <p:cNvGrpSpPr/>
          <p:nvPr/>
        </p:nvGrpSpPr>
        <p:grpSpPr>
          <a:xfrm rot="0">
            <a:off x="0" y="1028700"/>
            <a:ext cx="18288000" cy="763888"/>
            <a:chOff x="0" y="0"/>
            <a:chExt cx="4816593" cy="201189"/>
          </a:xfrm>
        </p:grpSpPr>
        <p:sp>
          <p:nvSpPr>
            <p:cNvPr name="Freeform 11" id="11"/>
            <p:cNvSpPr/>
            <p:nvPr/>
          </p:nvSpPr>
          <p:spPr>
            <a:xfrm flipH="false" flipV="false" rot="0">
              <a:off x="0" y="0"/>
              <a:ext cx="4816592" cy="201189"/>
            </a:xfrm>
            <a:custGeom>
              <a:avLst/>
              <a:gdLst/>
              <a:ahLst/>
              <a:cxnLst/>
              <a:rect r="r" b="b" t="t" l="l"/>
              <a:pathLst>
                <a:path h="201189" w="4816592">
                  <a:moveTo>
                    <a:pt x="0" y="0"/>
                  </a:moveTo>
                  <a:lnTo>
                    <a:pt x="4816592" y="0"/>
                  </a:lnTo>
                  <a:lnTo>
                    <a:pt x="4816592" y="201189"/>
                  </a:lnTo>
                  <a:lnTo>
                    <a:pt x="0" y="201189"/>
                  </a:lnTo>
                  <a:close/>
                </a:path>
              </a:pathLst>
            </a:custGeom>
            <a:solidFill>
              <a:srgbClr val="8574D1"/>
            </a:solidFill>
          </p:spPr>
        </p:sp>
        <p:sp>
          <p:nvSpPr>
            <p:cNvPr name="TextBox 12" id="12"/>
            <p:cNvSpPr txBox="true"/>
            <p:nvPr/>
          </p:nvSpPr>
          <p:spPr>
            <a:xfrm>
              <a:off x="0" y="-57150"/>
              <a:ext cx="4816593" cy="258339"/>
            </a:xfrm>
            <a:prstGeom prst="rect">
              <a:avLst/>
            </a:prstGeom>
          </p:spPr>
          <p:txBody>
            <a:bodyPr anchor="ctr" rtlCol="false" tIns="50800" lIns="50800" bIns="50800" rIns="50800"/>
            <a:lstStyle/>
            <a:p>
              <a:pPr algn="ctr">
                <a:lnSpc>
                  <a:spcPts val="4199"/>
                </a:lnSpc>
                <a:spcBef>
                  <a:spcPct val="0"/>
                </a:spcBef>
              </a:pPr>
            </a:p>
          </p:txBody>
        </p:sp>
      </p:grpSp>
      <p:sp>
        <p:nvSpPr>
          <p:cNvPr name="Freeform 13" id="13"/>
          <p:cNvSpPr/>
          <p:nvPr/>
        </p:nvSpPr>
        <p:spPr>
          <a:xfrm flipH="false" flipV="false" rot="0">
            <a:off x="1357687" y="3519451"/>
            <a:ext cx="7827643" cy="4206927"/>
          </a:xfrm>
          <a:custGeom>
            <a:avLst/>
            <a:gdLst/>
            <a:ahLst/>
            <a:cxnLst/>
            <a:rect r="r" b="b" t="t" l="l"/>
            <a:pathLst>
              <a:path h="4206927" w="7827643">
                <a:moveTo>
                  <a:pt x="0" y="0"/>
                </a:moveTo>
                <a:lnTo>
                  <a:pt x="7827642" y="0"/>
                </a:lnTo>
                <a:lnTo>
                  <a:pt x="7827642" y="4206927"/>
                </a:lnTo>
                <a:lnTo>
                  <a:pt x="0" y="4206927"/>
                </a:lnTo>
                <a:lnTo>
                  <a:pt x="0" y="0"/>
                </a:lnTo>
                <a:close/>
              </a:path>
            </a:pathLst>
          </a:custGeom>
          <a:blipFill>
            <a:blip r:embed="rId6"/>
            <a:stretch>
              <a:fillRect l="0" t="0" r="0" b="0"/>
            </a:stretch>
          </a:blipFill>
          <a:ln w="38100" cap="sq">
            <a:solidFill>
              <a:srgbClr val="000000"/>
            </a:solidFill>
            <a:prstDash val="solid"/>
            <a:miter/>
          </a:ln>
        </p:spPr>
      </p:sp>
      <p:sp>
        <p:nvSpPr>
          <p:cNvPr name="Freeform 14" id="14"/>
          <p:cNvSpPr/>
          <p:nvPr/>
        </p:nvSpPr>
        <p:spPr>
          <a:xfrm flipH="false" flipV="false" rot="0">
            <a:off x="9535546" y="3519451"/>
            <a:ext cx="7436097" cy="4206927"/>
          </a:xfrm>
          <a:custGeom>
            <a:avLst/>
            <a:gdLst/>
            <a:ahLst/>
            <a:cxnLst/>
            <a:rect r="r" b="b" t="t" l="l"/>
            <a:pathLst>
              <a:path h="4206927" w="7436097">
                <a:moveTo>
                  <a:pt x="0" y="0"/>
                </a:moveTo>
                <a:lnTo>
                  <a:pt x="7436097" y="0"/>
                </a:lnTo>
                <a:lnTo>
                  <a:pt x="7436097" y="4206927"/>
                </a:lnTo>
                <a:lnTo>
                  <a:pt x="0" y="4206927"/>
                </a:lnTo>
                <a:lnTo>
                  <a:pt x="0" y="0"/>
                </a:lnTo>
                <a:close/>
              </a:path>
            </a:pathLst>
          </a:custGeom>
          <a:blipFill>
            <a:blip r:embed="rId7"/>
            <a:stretch>
              <a:fillRect l="0" t="0" r="0" b="0"/>
            </a:stretch>
          </a:blipFill>
          <a:ln w="38100" cap="sq">
            <a:solidFill>
              <a:srgbClr val="000000"/>
            </a:solidFill>
            <a:prstDash val="solid"/>
            <a:miter/>
          </a:ln>
        </p:spPr>
      </p:sp>
      <p:sp>
        <p:nvSpPr>
          <p:cNvPr name="TextBox 15" id="15"/>
          <p:cNvSpPr txBox="true"/>
          <p:nvPr/>
        </p:nvSpPr>
        <p:spPr>
          <a:xfrm rot="0">
            <a:off x="1337022" y="969002"/>
            <a:ext cx="12944061" cy="788035"/>
          </a:xfrm>
          <a:prstGeom prst="rect">
            <a:avLst/>
          </a:prstGeom>
        </p:spPr>
        <p:txBody>
          <a:bodyPr anchor="t" rtlCol="false" tIns="0" lIns="0" bIns="0" rIns="0">
            <a:spAutoFit/>
          </a:bodyPr>
          <a:lstStyle/>
          <a:p>
            <a:pPr algn="l">
              <a:lnSpc>
                <a:spcPts val="6440"/>
              </a:lnSpc>
            </a:pPr>
            <a:r>
              <a:rPr lang="en-US" sz="4600" b="true">
                <a:solidFill>
                  <a:srgbClr val="FFFFFF"/>
                </a:solidFill>
                <a:latin typeface="TT Chocolates Bold"/>
                <a:ea typeface="TT Chocolates Bold"/>
                <a:cs typeface="TT Chocolates Bold"/>
                <a:sym typeface="TT Chocolates Bold"/>
              </a:rPr>
              <a:t>1. Top Product Category Berdasarkan Revenue</a:t>
            </a:r>
          </a:p>
        </p:txBody>
      </p:sp>
      <p:sp>
        <p:nvSpPr>
          <p:cNvPr name="TextBox 16" id="16"/>
          <p:cNvSpPr txBox="true"/>
          <p:nvPr/>
        </p:nvSpPr>
        <p:spPr>
          <a:xfrm rot="0">
            <a:off x="1357687" y="2661092"/>
            <a:ext cx="3701807" cy="407781"/>
          </a:xfrm>
          <a:prstGeom prst="rect">
            <a:avLst/>
          </a:prstGeom>
        </p:spPr>
        <p:txBody>
          <a:bodyPr anchor="t" rtlCol="false" tIns="0" lIns="0" bIns="0" rIns="0">
            <a:spAutoFit/>
          </a:bodyPr>
          <a:lstStyle/>
          <a:p>
            <a:pPr algn="just">
              <a:lnSpc>
                <a:spcPts val="3248"/>
              </a:lnSpc>
            </a:pPr>
            <a:r>
              <a:rPr lang="en-US" sz="2320">
                <a:solidFill>
                  <a:srgbClr val="0E0340"/>
                </a:solidFill>
                <a:latin typeface="Questrial"/>
                <a:ea typeface="Questrial"/>
                <a:cs typeface="Questrial"/>
                <a:sym typeface="Questrial"/>
              </a:rPr>
              <a:t>SQL Analysis :</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FBFBF9"/>
        </a:solidFill>
      </p:bgPr>
    </p:bg>
    <p:spTree>
      <p:nvGrpSpPr>
        <p:cNvPr id="1" name=""/>
        <p:cNvGrpSpPr/>
        <p:nvPr/>
      </p:nvGrpSpPr>
      <p:grpSpPr>
        <a:xfrm>
          <a:off x="0" y="0"/>
          <a:ext cx="0" cy="0"/>
          <a:chOff x="0" y="0"/>
          <a:chExt cx="0" cy="0"/>
        </a:xfrm>
      </p:grpSpPr>
      <p:sp>
        <p:nvSpPr>
          <p:cNvPr name="Freeform 2" id="2"/>
          <p:cNvSpPr/>
          <p:nvPr/>
        </p:nvSpPr>
        <p:spPr>
          <a:xfrm flipH="false" flipV="false" rot="0">
            <a:off x="493390" y="1409708"/>
            <a:ext cx="10521714" cy="6820013"/>
          </a:xfrm>
          <a:custGeom>
            <a:avLst/>
            <a:gdLst/>
            <a:ahLst/>
            <a:cxnLst/>
            <a:rect r="r" b="b" t="t" l="l"/>
            <a:pathLst>
              <a:path h="6820013" w="10521714">
                <a:moveTo>
                  <a:pt x="0" y="0"/>
                </a:moveTo>
                <a:lnTo>
                  <a:pt x="10521714" y="0"/>
                </a:lnTo>
                <a:lnTo>
                  <a:pt x="10521714" y="6820013"/>
                </a:lnTo>
                <a:lnTo>
                  <a:pt x="0" y="6820013"/>
                </a:lnTo>
                <a:lnTo>
                  <a:pt x="0" y="0"/>
                </a:lnTo>
                <a:close/>
              </a:path>
            </a:pathLst>
          </a:custGeom>
          <a:blipFill>
            <a:blip r:embed="rId2"/>
            <a:stretch>
              <a:fillRect l="-699" t="-1079" r="-233" b="-1109"/>
            </a:stretch>
          </a:blipFill>
          <a:ln cap="sq">
            <a:noFill/>
            <a:prstDash val="solid"/>
            <a:miter/>
          </a:ln>
        </p:spPr>
      </p:sp>
      <p:sp>
        <p:nvSpPr>
          <p:cNvPr name="TextBox 3" id="3"/>
          <p:cNvSpPr txBox="true"/>
          <p:nvPr/>
        </p:nvSpPr>
        <p:spPr>
          <a:xfrm rot="0">
            <a:off x="493390" y="8539455"/>
            <a:ext cx="10521714" cy="718845"/>
          </a:xfrm>
          <a:prstGeom prst="rect">
            <a:avLst/>
          </a:prstGeom>
        </p:spPr>
        <p:txBody>
          <a:bodyPr anchor="t" rtlCol="false" tIns="0" lIns="0" bIns="0" rIns="0">
            <a:spAutoFit/>
          </a:bodyPr>
          <a:lstStyle/>
          <a:p>
            <a:pPr algn="just">
              <a:lnSpc>
                <a:spcPts val="2903"/>
              </a:lnSpc>
            </a:pPr>
            <a:r>
              <a:rPr lang="en-US" sz="2074">
                <a:solidFill>
                  <a:srgbClr val="0E0340"/>
                </a:solidFill>
                <a:latin typeface="Questrial"/>
                <a:ea typeface="Questrial"/>
                <a:cs typeface="Questrial"/>
                <a:sym typeface="Questrial"/>
              </a:rPr>
              <a:t>Bar chart untuk memudahkan perbandingan revenue antar kategori produk dan membantu mengidentifikasi kategori dengan kontribusi pendapatan terbesar</a:t>
            </a:r>
          </a:p>
        </p:txBody>
      </p:sp>
      <p:sp>
        <p:nvSpPr>
          <p:cNvPr name="TextBox 4" id="4"/>
          <p:cNvSpPr txBox="true"/>
          <p:nvPr/>
        </p:nvSpPr>
        <p:spPr>
          <a:xfrm rot="0">
            <a:off x="3008814" y="448833"/>
            <a:ext cx="5621739" cy="579867"/>
          </a:xfrm>
          <a:prstGeom prst="rect">
            <a:avLst/>
          </a:prstGeom>
        </p:spPr>
        <p:txBody>
          <a:bodyPr anchor="t" rtlCol="false" tIns="0" lIns="0" bIns="0" rIns="0">
            <a:spAutoFit/>
          </a:bodyPr>
          <a:lstStyle/>
          <a:p>
            <a:pPr algn="just">
              <a:lnSpc>
                <a:spcPts val="4788"/>
              </a:lnSpc>
            </a:pPr>
            <a:r>
              <a:rPr lang="en-US" sz="3420" b="true">
                <a:solidFill>
                  <a:srgbClr val="0E0340"/>
                </a:solidFill>
                <a:latin typeface="TT Chocolates Bold"/>
                <a:ea typeface="TT Chocolates Bold"/>
                <a:cs typeface="TT Chocolates Bold"/>
                <a:sym typeface="TT Chocolates Bold"/>
              </a:rPr>
              <a:t>Hasil Visualisasi (Matplotlib)</a:t>
            </a:r>
          </a:p>
        </p:txBody>
      </p:sp>
      <p:grpSp>
        <p:nvGrpSpPr>
          <p:cNvPr name="Group 5" id="5"/>
          <p:cNvGrpSpPr/>
          <p:nvPr/>
        </p:nvGrpSpPr>
        <p:grpSpPr>
          <a:xfrm rot="0">
            <a:off x="11495388" y="0"/>
            <a:ext cx="7498211" cy="11168682"/>
            <a:chOff x="0" y="0"/>
            <a:chExt cx="1974838" cy="2941546"/>
          </a:xfrm>
        </p:grpSpPr>
        <p:sp>
          <p:nvSpPr>
            <p:cNvPr name="Freeform 6" id="6"/>
            <p:cNvSpPr/>
            <p:nvPr/>
          </p:nvSpPr>
          <p:spPr>
            <a:xfrm flipH="false" flipV="false" rot="0">
              <a:off x="0" y="0"/>
              <a:ext cx="1974838" cy="2941546"/>
            </a:xfrm>
            <a:custGeom>
              <a:avLst/>
              <a:gdLst/>
              <a:ahLst/>
              <a:cxnLst/>
              <a:rect r="r" b="b" t="t" l="l"/>
              <a:pathLst>
                <a:path h="2941546" w="1974838">
                  <a:moveTo>
                    <a:pt x="0" y="0"/>
                  </a:moveTo>
                  <a:lnTo>
                    <a:pt x="1974838" y="0"/>
                  </a:lnTo>
                  <a:lnTo>
                    <a:pt x="1974838" y="2941546"/>
                  </a:lnTo>
                  <a:lnTo>
                    <a:pt x="0" y="2941546"/>
                  </a:lnTo>
                  <a:close/>
                </a:path>
              </a:pathLst>
            </a:custGeom>
            <a:solidFill>
              <a:srgbClr val="E0DAED"/>
            </a:solidFill>
          </p:spPr>
        </p:sp>
        <p:sp>
          <p:nvSpPr>
            <p:cNvPr name="TextBox 7" id="7"/>
            <p:cNvSpPr txBox="true"/>
            <p:nvPr/>
          </p:nvSpPr>
          <p:spPr>
            <a:xfrm>
              <a:off x="0" y="-38100"/>
              <a:ext cx="1974838" cy="2979646"/>
            </a:xfrm>
            <a:prstGeom prst="rect">
              <a:avLst/>
            </a:prstGeom>
          </p:spPr>
          <p:txBody>
            <a:bodyPr anchor="ctr" rtlCol="false" tIns="50800" lIns="50800" bIns="50800" rIns="50800"/>
            <a:lstStyle/>
            <a:p>
              <a:pPr algn="ctr">
                <a:lnSpc>
                  <a:spcPts val="2659"/>
                </a:lnSpc>
              </a:pPr>
            </a:p>
          </p:txBody>
        </p:sp>
      </p:grpSp>
      <p:sp>
        <p:nvSpPr>
          <p:cNvPr name="TextBox 8" id="8"/>
          <p:cNvSpPr txBox="true"/>
          <p:nvPr/>
        </p:nvSpPr>
        <p:spPr>
          <a:xfrm rot="0">
            <a:off x="11859444" y="1609607"/>
            <a:ext cx="5917656" cy="2799080"/>
          </a:xfrm>
          <a:prstGeom prst="rect">
            <a:avLst/>
          </a:prstGeom>
        </p:spPr>
        <p:txBody>
          <a:bodyPr anchor="t" rtlCol="false" tIns="0" lIns="0" bIns="0" rIns="0">
            <a:spAutoFit/>
          </a:bodyPr>
          <a:lstStyle/>
          <a:p>
            <a:pPr algn="just">
              <a:lnSpc>
                <a:spcPts val="3219"/>
              </a:lnSpc>
            </a:pPr>
            <a:r>
              <a:rPr lang="en-US" sz="2299" b="true">
                <a:solidFill>
                  <a:srgbClr val="28094B"/>
                </a:solidFill>
                <a:latin typeface="TT Chocolates Bold"/>
                <a:ea typeface="TT Chocolates Bold"/>
                <a:cs typeface="TT Chocolates Bold"/>
                <a:sym typeface="TT Chocolates Bold"/>
              </a:rPr>
              <a:t>Insight : </a:t>
            </a:r>
          </a:p>
          <a:p>
            <a:pPr algn="just">
              <a:lnSpc>
                <a:spcPts val="3219"/>
              </a:lnSpc>
            </a:pPr>
            <a:r>
              <a:rPr lang="en-US" sz="2299">
                <a:solidFill>
                  <a:srgbClr val="28094B"/>
                </a:solidFill>
                <a:latin typeface="TT Chocolates"/>
                <a:ea typeface="TT Chocolates"/>
                <a:cs typeface="TT Chocolates"/>
                <a:sym typeface="TT Chocolates"/>
              </a:rPr>
              <a:t>Berdasarkan grafik di samping, kategori produk </a:t>
            </a:r>
            <a:r>
              <a:rPr lang="en-US" b="true" sz="2299" i="true">
                <a:solidFill>
                  <a:srgbClr val="28094B"/>
                </a:solidFill>
                <a:latin typeface="TT Chocolates Bold Italics"/>
                <a:ea typeface="TT Chocolates Bold Italics"/>
                <a:cs typeface="TT Chocolates Bold Italics"/>
                <a:sym typeface="TT Chocolates Bold Italics"/>
              </a:rPr>
              <a:t>cama_mesa_banho</a:t>
            </a:r>
            <a:r>
              <a:rPr lang="en-US" sz="2299">
                <a:solidFill>
                  <a:srgbClr val="28094B"/>
                </a:solidFill>
                <a:latin typeface="TT Chocolates"/>
                <a:ea typeface="TT Chocolates"/>
                <a:cs typeface="TT Chocolates"/>
                <a:sym typeface="TT Chocolates"/>
              </a:rPr>
              <a:t> menghasilkan </a:t>
            </a:r>
            <a:r>
              <a:rPr lang="en-US" sz="2299" u="sng">
                <a:solidFill>
                  <a:srgbClr val="28094B"/>
                </a:solidFill>
                <a:latin typeface="TT Chocolates"/>
                <a:ea typeface="TT Chocolates"/>
                <a:cs typeface="TT Chocolates"/>
                <a:sym typeface="TT Chocolates"/>
              </a:rPr>
              <a:t>revenue tertinggi</a:t>
            </a:r>
            <a:r>
              <a:rPr lang="en-US" sz="2299">
                <a:solidFill>
                  <a:srgbClr val="28094B"/>
                </a:solidFill>
                <a:latin typeface="TT Chocolates"/>
                <a:ea typeface="TT Chocolates"/>
                <a:cs typeface="TT Chocolates"/>
                <a:sym typeface="TT Chocolates"/>
              </a:rPr>
              <a:t> sebesar </a:t>
            </a:r>
            <a:r>
              <a:rPr lang="en-US" sz="2299" i="true">
                <a:solidFill>
                  <a:srgbClr val="28094B"/>
                </a:solidFill>
                <a:latin typeface="TT Chocolates Italics"/>
                <a:ea typeface="TT Chocolates Italics"/>
                <a:cs typeface="TT Chocolates Italics"/>
                <a:sym typeface="TT Chocolates Italics"/>
              </a:rPr>
              <a:t>1,4 juta</a:t>
            </a:r>
            <a:r>
              <a:rPr lang="en-US" sz="2299">
                <a:solidFill>
                  <a:srgbClr val="28094B"/>
                </a:solidFill>
                <a:latin typeface="TT Chocolates"/>
                <a:ea typeface="TT Chocolates"/>
                <a:cs typeface="TT Chocolates"/>
                <a:sym typeface="TT Chocolates"/>
              </a:rPr>
              <a:t> dibanding kategori lainnya. Hal tersebut menunjukkan minat terbesar customer pada kategori tersebut sehingga dapat dijadikan fokus utama bisnis.</a:t>
            </a:r>
          </a:p>
        </p:txBody>
      </p:sp>
      <p:sp>
        <p:nvSpPr>
          <p:cNvPr name="AutoShape 9" id="9"/>
          <p:cNvSpPr/>
          <p:nvPr/>
        </p:nvSpPr>
        <p:spPr>
          <a:xfrm flipH="true">
            <a:off x="11495388" y="0"/>
            <a:ext cx="0" cy="10287000"/>
          </a:xfrm>
          <a:prstGeom prst="line">
            <a:avLst/>
          </a:prstGeom>
          <a:ln cap="flat" w="38100">
            <a:solidFill>
              <a:srgbClr val="602E9E"/>
            </a:solidFill>
            <a:prstDash val="sysDash"/>
            <a:headEnd type="none" len="sm" w="sm"/>
            <a:tailEnd type="none" len="sm" w="sm"/>
          </a:ln>
        </p:spPr>
      </p:sp>
      <p:sp>
        <p:nvSpPr>
          <p:cNvPr name="TextBox 10" id="10"/>
          <p:cNvSpPr txBox="true"/>
          <p:nvPr/>
        </p:nvSpPr>
        <p:spPr>
          <a:xfrm rot="0">
            <a:off x="11859444" y="8521065"/>
            <a:ext cx="5917656" cy="737235"/>
          </a:xfrm>
          <a:prstGeom prst="rect">
            <a:avLst/>
          </a:prstGeom>
        </p:spPr>
        <p:txBody>
          <a:bodyPr anchor="t" rtlCol="false" tIns="0" lIns="0" bIns="0" rIns="0">
            <a:spAutoFit/>
          </a:bodyPr>
          <a:lstStyle/>
          <a:p>
            <a:pPr algn="l">
              <a:lnSpc>
                <a:spcPts val="2939"/>
              </a:lnSpc>
              <a:spcBef>
                <a:spcPct val="0"/>
              </a:spcBef>
            </a:pPr>
            <a:r>
              <a:rPr lang="en-US" sz="2099">
                <a:solidFill>
                  <a:srgbClr val="28094B"/>
                </a:solidFill>
                <a:latin typeface="Questrial"/>
                <a:ea typeface="Questrial"/>
                <a:cs typeface="Questrial"/>
                <a:sym typeface="Questrial"/>
              </a:rPr>
              <a:t>note : cama, mesa, banho = t</a:t>
            </a:r>
            <a:r>
              <a:rPr lang="en-US" sz="2099">
                <a:solidFill>
                  <a:srgbClr val="28094B"/>
                </a:solidFill>
                <a:latin typeface="Questrial"/>
                <a:ea typeface="Questrial"/>
                <a:cs typeface="Questrial"/>
                <a:sym typeface="Questrial"/>
              </a:rPr>
              <a:t>empat tidur, meja, bak mandi</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FBFBF9"/>
        </a:solidFill>
      </p:bgPr>
    </p:bg>
    <p:spTree>
      <p:nvGrpSpPr>
        <p:cNvPr id="1" name=""/>
        <p:cNvGrpSpPr/>
        <p:nvPr/>
      </p:nvGrpSpPr>
      <p:grpSpPr>
        <a:xfrm>
          <a:off x="0" y="0"/>
          <a:ext cx="0" cy="0"/>
          <a:chOff x="0" y="0"/>
          <a:chExt cx="0" cy="0"/>
        </a:xfrm>
      </p:grpSpPr>
      <p:sp>
        <p:nvSpPr>
          <p:cNvPr name="Freeform 2" id="2"/>
          <p:cNvSpPr/>
          <p:nvPr/>
        </p:nvSpPr>
        <p:spPr>
          <a:xfrm flipH="false" flipV="false" rot="0">
            <a:off x="-2267676" y="-6268176"/>
            <a:ext cx="22823352" cy="22823352"/>
          </a:xfrm>
          <a:custGeom>
            <a:avLst/>
            <a:gdLst/>
            <a:ahLst/>
            <a:cxnLst/>
            <a:rect r="r" b="b" t="t" l="l"/>
            <a:pathLst>
              <a:path h="22823352" w="22823352">
                <a:moveTo>
                  <a:pt x="0" y="0"/>
                </a:moveTo>
                <a:lnTo>
                  <a:pt x="22823352" y="0"/>
                </a:lnTo>
                <a:lnTo>
                  <a:pt x="22823352" y="22823352"/>
                </a:lnTo>
                <a:lnTo>
                  <a:pt x="0" y="22823352"/>
                </a:lnTo>
                <a:lnTo>
                  <a:pt x="0" y="0"/>
                </a:lnTo>
                <a:close/>
              </a:path>
            </a:pathLst>
          </a:custGeom>
          <a:blipFill>
            <a:blip r:embed="rId2">
              <a:alphaModFix amt="6000"/>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0" y="1070295"/>
            <a:ext cx="17703247" cy="9876100"/>
            <a:chOff x="0" y="0"/>
            <a:chExt cx="23604329" cy="13168133"/>
          </a:xfrm>
        </p:grpSpPr>
        <p:sp>
          <p:nvSpPr>
            <p:cNvPr name="Freeform 4" id="4"/>
            <p:cNvSpPr/>
            <p:nvPr/>
          </p:nvSpPr>
          <p:spPr>
            <a:xfrm flipH="false" flipV="false" rot="701560">
              <a:off x="197157" y="8873457"/>
              <a:ext cx="1762790" cy="2126173"/>
            </a:xfrm>
            <a:custGeom>
              <a:avLst/>
              <a:gdLst/>
              <a:ahLst/>
              <a:cxnLst/>
              <a:rect r="r" b="b" t="t" l="l"/>
              <a:pathLst>
                <a:path h="2126173" w="1762790">
                  <a:moveTo>
                    <a:pt x="0" y="0"/>
                  </a:moveTo>
                  <a:lnTo>
                    <a:pt x="1762791" y="0"/>
                  </a:lnTo>
                  <a:lnTo>
                    <a:pt x="1762791" y="2126173"/>
                  </a:lnTo>
                  <a:lnTo>
                    <a:pt x="0" y="2126173"/>
                  </a:lnTo>
                  <a:lnTo>
                    <a:pt x="0" y="0"/>
                  </a:lnTo>
                  <a:close/>
                </a:path>
              </a:pathLst>
            </a:custGeom>
            <a:blipFill>
              <a:blip r:embed="rId4">
                <a:alphaModFix amt="15300"/>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2250332">
              <a:off x="22140847" y="891104"/>
              <a:ext cx="1157983" cy="1396690"/>
            </a:xfrm>
            <a:custGeom>
              <a:avLst/>
              <a:gdLst/>
              <a:ahLst/>
              <a:cxnLst/>
              <a:rect r="r" b="b" t="t" l="l"/>
              <a:pathLst>
                <a:path h="1396690" w="1157983">
                  <a:moveTo>
                    <a:pt x="0" y="0"/>
                  </a:moveTo>
                  <a:lnTo>
                    <a:pt x="1157984" y="0"/>
                  </a:lnTo>
                  <a:lnTo>
                    <a:pt x="1157984" y="1396691"/>
                  </a:lnTo>
                  <a:lnTo>
                    <a:pt x="0" y="1396691"/>
                  </a:lnTo>
                  <a:lnTo>
                    <a:pt x="0" y="0"/>
                  </a:lnTo>
                  <a:close/>
                </a:path>
              </a:pathLst>
            </a:custGeom>
            <a:blipFill>
              <a:blip r:embed="rId4">
                <a:alphaModFix amt="15300"/>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701560">
              <a:off x="21052452" y="9468395"/>
              <a:ext cx="1762790" cy="2126173"/>
            </a:xfrm>
            <a:custGeom>
              <a:avLst/>
              <a:gdLst/>
              <a:ahLst/>
              <a:cxnLst/>
              <a:rect r="r" b="b" t="t" l="l"/>
              <a:pathLst>
                <a:path h="2126173" w="1762790">
                  <a:moveTo>
                    <a:pt x="0" y="0"/>
                  </a:moveTo>
                  <a:lnTo>
                    <a:pt x="1762791" y="0"/>
                  </a:lnTo>
                  <a:lnTo>
                    <a:pt x="1762791" y="2126173"/>
                  </a:lnTo>
                  <a:lnTo>
                    <a:pt x="0" y="2126173"/>
                  </a:lnTo>
                  <a:lnTo>
                    <a:pt x="0" y="0"/>
                  </a:lnTo>
                  <a:close/>
                </a:path>
              </a:pathLst>
            </a:custGeom>
            <a:blipFill>
              <a:blip r:embed="rId4">
                <a:alphaModFix amt="15300"/>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2279228">
              <a:off x="4803749" y="156972"/>
              <a:ext cx="872157" cy="1051944"/>
            </a:xfrm>
            <a:custGeom>
              <a:avLst/>
              <a:gdLst/>
              <a:ahLst/>
              <a:cxnLst/>
              <a:rect r="r" b="b" t="t" l="l"/>
              <a:pathLst>
                <a:path h="1051944" w="872157">
                  <a:moveTo>
                    <a:pt x="0" y="0"/>
                  </a:moveTo>
                  <a:lnTo>
                    <a:pt x="872158" y="0"/>
                  </a:lnTo>
                  <a:lnTo>
                    <a:pt x="872158" y="1051944"/>
                  </a:lnTo>
                  <a:lnTo>
                    <a:pt x="0" y="1051944"/>
                  </a:lnTo>
                  <a:lnTo>
                    <a:pt x="0" y="0"/>
                  </a:lnTo>
                  <a:close/>
                </a:path>
              </a:pathLst>
            </a:custGeom>
            <a:blipFill>
              <a:blip r:embed="rId4">
                <a:alphaModFix amt="15300"/>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701560">
              <a:off x="16308552" y="2540853"/>
              <a:ext cx="1091352" cy="1316324"/>
            </a:xfrm>
            <a:custGeom>
              <a:avLst/>
              <a:gdLst/>
              <a:ahLst/>
              <a:cxnLst/>
              <a:rect r="r" b="b" t="t" l="l"/>
              <a:pathLst>
                <a:path h="1316324" w="1091352">
                  <a:moveTo>
                    <a:pt x="0" y="0"/>
                  </a:moveTo>
                  <a:lnTo>
                    <a:pt x="1091353" y="0"/>
                  </a:lnTo>
                  <a:lnTo>
                    <a:pt x="1091353" y="1316324"/>
                  </a:lnTo>
                  <a:lnTo>
                    <a:pt x="0" y="1316324"/>
                  </a:lnTo>
                  <a:lnTo>
                    <a:pt x="0" y="0"/>
                  </a:lnTo>
                  <a:close/>
                </a:path>
              </a:pathLst>
            </a:custGeom>
            <a:blipFill>
              <a:blip r:embed="rId4">
                <a:alphaModFix amt="15300"/>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false" flipV="false" rot="-2250332">
              <a:off x="10617995" y="11563283"/>
              <a:ext cx="1157983" cy="1396690"/>
            </a:xfrm>
            <a:custGeom>
              <a:avLst/>
              <a:gdLst/>
              <a:ahLst/>
              <a:cxnLst/>
              <a:rect r="r" b="b" t="t" l="l"/>
              <a:pathLst>
                <a:path h="1396690" w="1157983">
                  <a:moveTo>
                    <a:pt x="0" y="0"/>
                  </a:moveTo>
                  <a:lnTo>
                    <a:pt x="1157983" y="0"/>
                  </a:lnTo>
                  <a:lnTo>
                    <a:pt x="1157983" y="1396690"/>
                  </a:lnTo>
                  <a:lnTo>
                    <a:pt x="0" y="1396690"/>
                  </a:lnTo>
                  <a:lnTo>
                    <a:pt x="0" y="0"/>
                  </a:lnTo>
                  <a:close/>
                </a:path>
              </a:pathLst>
            </a:custGeom>
            <a:blipFill>
              <a:blip r:embed="rId4">
                <a:alphaModFix amt="15300"/>
                <a:extLst>
                  <a:ext uri="{96DAC541-7B7A-43D3-8B79-37D633B846F1}">
                    <asvg:svgBlip xmlns:asvg="http://schemas.microsoft.com/office/drawing/2016/SVG/main" r:embed="rId5"/>
                  </a:ext>
                </a:extLst>
              </a:blip>
              <a:stretch>
                <a:fillRect l="0" t="0" r="0" b="0"/>
              </a:stretch>
            </a:blipFill>
          </p:spPr>
        </p:sp>
      </p:grpSp>
      <p:grpSp>
        <p:nvGrpSpPr>
          <p:cNvPr name="Group 10" id="10"/>
          <p:cNvGrpSpPr/>
          <p:nvPr/>
        </p:nvGrpSpPr>
        <p:grpSpPr>
          <a:xfrm rot="0">
            <a:off x="0" y="1028700"/>
            <a:ext cx="18288000" cy="763888"/>
            <a:chOff x="0" y="0"/>
            <a:chExt cx="4816593" cy="201189"/>
          </a:xfrm>
        </p:grpSpPr>
        <p:sp>
          <p:nvSpPr>
            <p:cNvPr name="Freeform 11" id="11"/>
            <p:cNvSpPr/>
            <p:nvPr/>
          </p:nvSpPr>
          <p:spPr>
            <a:xfrm flipH="false" flipV="false" rot="0">
              <a:off x="0" y="0"/>
              <a:ext cx="4816592" cy="201189"/>
            </a:xfrm>
            <a:custGeom>
              <a:avLst/>
              <a:gdLst/>
              <a:ahLst/>
              <a:cxnLst/>
              <a:rect r="r" b="b" t="t" l="l"/>
              <a:pathLst>
                <a:path h="201189" w="4816592">
                  <a:moveTo>
                    <a:pt x="0" y="0"/>
                  </a:moveTo>
                  <a:lnTo>
                    <a:pt x="4816592" y="0"/>
                  </a:lnTo>
                  <a:lnTo>
                    <a:pt x="4816592" y="201189"/>
                  </a:lnTo>
                  <a:lnTo>
                    <a:pt x="0" y="201189"/>
                  </a:lnTo>
                  <a:close/>
                </a:path>
              </a:pathLst>
            </a:custGeom>
            <a:solidFill>
              <a:srgbClr val="8574D1"/>
            </a:solidFill>
          </p:spPr>
        </p:sp>
        <p:sp>
          <p:nvSpPr>
            <p:cNvPr name="TextBox 12" id="12"/>
            <p:cNvSpPr txBox="true"/>
            <p:nvPr/>
          </p:nvSpPr>
          <p:spPr>
            <a:xfrm>
              <a:off x="0" y="-57150"/>
              <a:ext cx="4816593" cy="258339"/>
            </a:xfrm>
            <a:prstGeom prst="rect">
              <a:avLst/>
            </a:prstGeom>
          </p:spPr>
          <p:txBody>
            <a:bodyPr anchor="ctr" rtlCol="false" tIns="50800" lIns="50800" bIns="50800" rIns="50800"/>
            <a:lstStyle/>
            <a:p>
              <a:pPr algn="ctr">
                <a:lnSpc>
                  <a:spcPts val="4199"/>
                </a:lnSpc>
                <a:spcBef>
                  <a:spcPct val="0"/>
                </a:spcBef>
              </a:pPr>
            </a:p>
          </p:txBody>
        </p:sp>
      </p:grpSp>
      <p:sp>
        <p:nvSpPr>
          <p:cNvPr name="Freeform 13" id="13"/>
          <p:cNvSpPr/>
          <p:nvPr/>
        </p:nvSpPr>
        <p:spPr>
          <a:xfrm flipH="false" flipV="false" rot="0">
            <a:off x="1442170" y="3657617"/>
            <a:ext cx="8156076" cy="3339932"/>
          </a:xfrm>
          <a:custGeom>
            <a:avLst/>
            <a:gdLst/>
            <a:ahLst/>
            <a:cxnLst/>
            <a:rect r="r" b="b" t="t" l="l"/>
            <a:pathLst>
              <a:path h="3339932" w="8156076">
                <a:moveTo>
                  <a:pt x="0" y="0"/>
                </a:moveTo>
                <a:lnTo>
                  <a:pt x="8156076" y="0"/>
                </a:lnTo>
                <a:lnTo>
                  <a:pt x="8156076" y="3339931"/>
                </a:lnTo>
                <a:lnTo>
                  <a:pt x="0" y="3339931"/>
                </a:lnTo>
                <a:lnTo>
                  <a:pt x="0" y="0"/>
                </a:lnTo>
                <a:close/>
              </a:path>
            </a:pathLst>
          </a:custGeom>
          <a:blipFill>
            <a:blip r:embed="rId6"/>
            <a:stretch>
              <a:fillRect l="0" t="0" r="0" b="0"/>
            </a:stretch>
          </a:blipFill>
          <a:ln w="38100" cap="sq">
            <a:solidFill>
              <a:srgbClr val="000000"/>
            </a:solidFill>
            <a:prstDash val="solid"/>
            <a:miter/>
          </a:ln>
        </p:spPr>
      </p:sp>
      <p:sp>
        <p:nvSpPr>
          <p:cNvPr name="Freeform 14" id="14"/>
          <p:cNvSpPr/>
          <p:nvPr/>
        </p:nvSpPr>
        <p:spPr>
          <a:xfrm flipH="false" flipV="false" rot="0">
            <a:off x="10390657" y="2956608"/>
            <a:ext cx="6868643" cy="4741950"/>
          </a:xfrm>
          <a:custGeom>
            <a:avLst/>
            <a:gdLst/>
            <a:ahLst/>
            <a:cxnLst/>
            <a:rect r="r" b="b" t="t" l="l"/>
            <a:pathLst>
              <a:path h="4741950" w="6868643">
                <a:moveTo>
                  <a:pt x="0" y="0"/>
                </a:moveTo>
                <a:lnTo>
                  <a:pt x="6868643" y="0"/>
                </a:lnTo>
                <a:lnTo>
                  <a:pt x="6868643" y="4741950"/>
                </a:lnTo>
                <a:lnTo>
                  <a:pt x="0" y="4741950"/>
                </a:lnTo>
                <a:lnTo>
                  <a:pt x="0" y="0"/>
                </a:lnTo>
                <a:close/>
              </a:path>
            </a:pathLst>
          </a:custGeom>
          <a:blipFill>
            <a:blip r:embed="rId7"/>
            <a:stretch>
              <a:fillRect l="0" t="0" r="0" b="0"/>
            </a:stretch>
          </a:blipFill>
          <a:ln w="38100" cap="sq">
            <a:solidFill>
              <a:srgbClr val="000000"/>
            </a:solidFill>
            <a:prstDash val="solid"/>
            <a:miter/>
          </a:ln>
        </p:spPr>
      </p:sp>
      <p:sp>
        <p:nvSpPr>
          <p:cNvPr name="TextBox 15" id="15"/>
          <p:cNvSpPr txBox="true"/>
          <p:nvPr/>
        </p:nvSpPr>
        <p:spPr>
          <a:xfrm rot="0">
            <a:off x="1442170" y="1004554"/>
            <a:ext cx="12944061" cy="788035"/>
          </a:xfrm>
          <a:prstGeom prst="rect">
            <a:avLst/>
          </a:prstGeom>
        </p:spPr>
        <p:txBody>
          <a:bodyPr anchor="t" rtlCol="false" tIns="0" lIns="0" bIns="0" rIns="0">
            <a:spAutoFit/>
          </a:bodyPr>
          <a:lstStyle/>
          <a:p>
            <a:pPr algn="l">
              <a:lnSpc>
                <a:spcPts val="6440"/>
              </a:lnSpc>
            </a:pPr>
            <a:r>
              <a:rPr lang="en-US" sz="4600" b="true">
                <a:solidFill>
                  <a:srgbClr val="FFFFFF"/>
                </a:solidFill>
                <a:latin typeface="TT Chocolates Bold"/>
                <a:ea typeface="TT Chocolates Bold"/>
                <a:cs typeface="TT Chocolates Bold"/>
                <a:sym typeface="TT Chocolates Bold"/>
              </a:rPr>
              <a:t>2. Kota Customer dengan Jumlah Order Terbanyak</a:t>
            </a:r>
          </a:p>
        </p:txBody>
      </p:sp>
      <p:sp>
        <p:nvSpPr>
          <p:cNvPr name="TextBox 16" id="16"/>
          <p:cNvSpPr txBox="true"/>
          <p:nvPr/>
        </p:nvSpPr>
        <p:spPr>
          <a:xfrm rot="0">
            <a:off x="1442170" y="2562217"/>
            <a:ext cx="3701807" cy="407781"/>
          </a:xfrm>
          <a:prstGeom prst="rect">
            <a:avLst/>
          </a:prstGeom>
        </p:spPr>
        <p:txBody>
          <a:bodyPr anchor="t" rtlCol="false" tIns="0" lIns="0" bIns="0" rIns="0">
            <a:spAutoFit/>
          </a:bodyPr>
          <a:lstStyle/>
          <a:p>
            <a:pPr algn="just">
              <a:lnSpc>
                <a:spcPts val="3248"/>
              </a:lnSpc>
            </a:pPr>
            <a:r>
              <a:rPr lang="en-US" sz="2320">
                <a:solidFill>
                  <a:srgbClr val="0E0340"/>
                </a:solidFill>
                <a:latin typeface="Questrial"/>
                <a:ea typeface="Questrial"/>
                <a:cs typeface="Questrial"/>
                <a:sym typeface="Questrial"/>
              </a:rPr>
              <a:t>SQL Analysis :</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FBFBF9"/>
        </a:solidFill>
      </p:bgPr>
    </p:bg>
    <p:spTree>
      <p:nvGrpSpPr>
        <p:cNvPr id="1" name=""/>
        <p:cNvGrpSpPr/>
        <p:nvPr/>
      </p:nvGrpSpPr>
      <p:grpSpPr>
        <a:xfrm>
          <a:off x="0" y="0"/>
          <a:ext cx="0" cy="0"/>
          <a:chOff x="0" y="0"/>
          <a:chExt cx="0" cy="0"/>
        </a:xfrm>
      </p:grpSpPr>
      <p:grpSp>
        <p:nvGrpSpPr>
          <p:cNvPr name="Group 2" id="2"/>
          <p:cNvGrpSpPr/>
          <p:nvPr/>
        </p:nvGrpSpPr>
        <p:grpSpPr>
          <a:xfrm rot="0">
            <a:off x="11771029" y="0"/>
            <a:ext cx="7222571" cy="11168682"/>
            <a:chOff x="0" y="0"/>
            <a:chExt cx="1902241" cy="2941546"/>
          </a:xfrm>
        </p:grpSpPr>
        <p:sp>
          <p:nvSpPr>
            <p:cNvPr name="Freeform 3" id="3"/>
            <p:cNvSpPr/>
            <p:nvPr/>
          </p:nvSpPr>
          <p:spPr>
            <a:xfrm flipH="false" flipV="false" rot="0">
              <a:off x="0" y="0"/>
              <a:ext cx="1902241" cy="2941546"/>
            </a:xfrm>
            <a:custGeom>
              <a:avLst/>
              <a:gdLst/>
              <a:ahLst/>
              <a:cxnLst/>
              <a:rect r="r" b="b" t="t" l="l"/>
              <a:pathLst>
                <a:path h="2941546" w="1902241">
                  <a:moveTo>
                    <a:pt x="0" y="0"/>
                  </a:moveTo>
                  <a:lnTo>
                    <a:pt x="1902241" y="0"/>
                  </a:lnTo>
                  <a:lnTo>
                    <a:pt x="1902241" y="2941546"/>
                  </a:lnTo>
                  <a:lnTo>
                    <a:pt x="0" y="2941546"/>
                  </a:lnTo>
                  <a:close/>
                </a:path>
              </a:pathLst>
            </a:custGeom>
            <a:solidFill>
              <a:srgbClr val="E0DAED"/>
            </a:solidFill>
          </p:spPr>
        </p:sp>
        <p:sp>
          <p:nvSpPr>
            <p:cNvPr name="TextBox 4" id="4"/>
            <p:cNvSpPr txBox="true"/>
            <p:nvPr/>
          </p:nvSpPr>
          <p:spPr>
            <a:xfrm>
              <a:off x="0" y="-38100"/>
              <a:ext cx="1902241" cy="2979646"/>
            </a:xfrm>
            <a:prstGeom prst="rect">
              <a:avLst/>
            </a:prstGeom>
          </p:spPr>
          <p:txBody>
            <a:bodyPr anchor="ctr" rtlCol="false" tIns="50800" lIns="50800" bIns="50800" rIns="50800"/>
            <a:lstStyle/>
            <a:p>
              <a:pPr algn="ctr">
                <a:lnSpc>
                  <a:spcPts val="2659"/>
                </a:lnSpc>
              </a:pPr>
            </a:p>
          </p:txBody>
        </p:sp>
      </p:grpSp>
      <p:sp>
        <p:nvSpPr>
          <p:cNvPr name="AutoShape 5" id="5"/>
          <p:cNvSpPr/>
          <p:nvPr/>
        </p:nvSpPr>
        <p:spPr>
          <a:xfrm>
            <a:off x="11771029" y="0"/>
            <a:ext cx="0" cy="10287000"/>
          </a:xfrm>
          <a:prstGeom prst="line">
            <a:avLst/>
          </a:prstGeom>
          <a:ln cap="flat" w="38100">
            <a:solidFill>
              <a:srgbClr val="602E9E"/>
            </a:solidFill>
            <a:prstDash val="sysDash"/>
            <a:headEnd type="none" len="sm" w="sm"/>
            <a:tailEnd type="none" len="sm" w="sm"/>
          </a:ln>
        </p:spPr>
      </p:sp>
      <p:sp>
        <p:nvSpPr>
          <p:cNvPr name="Freeform 6" id="6"/>
          <p:cNvSpPr/>
          <p:nvPr/>
        </p:nvSpPr>
        <p:spPr>
          <a:xfrm flipH="false" flipV="false" rot="0">
            <a:off x="480283" y="1683356"/>
            <a:ext cx="10891821" cy="5969420"/>
          </a:xfrm>
          <a:custGeom>
            <a:avLst/>
            <a:gdLst/>
            <a:ahLst/>
            <a:cxnLst/>
            <a:rect r="r" b="b" t="t" l="l"/>
            <a:pathLst>
              <a:path h="5969420" w="10891821">
                <a:moveTo>
                  <a:pt x="0" y="0"/>
                </a:moveTo>
                <a:lnTo>
                  <a:pt x="10891821" y="0"/>
                </a:lnTo>
                <a:lnTo>
                  <a:pt x="10891821" y="5969420"/>
                </a:lnTo>
                <a:lnTo>
                  <a:pt x="0" y="5969420"/>
                </a:lnTo>
                <a:lnTo>
                  <a:pt x="0" y="0"/>
                </a:lnTo>
                <a:close/>
              </a:path>
            </a:pathLst>
          </a:custGeom>
          <a:blipFill>
            <a:blip r:embed="rId2"/>
            <a:stretch>
              <a:fillRect l="-683" t="-1038" r="0" b="0"/>
            </a:stretch>
          </a:blipFill>
          <a:ln cap="sq">
            <a:noFill/>
            <a:prstDash val="solid"/>
            <a:miter/>
          </a:ln>
        </p:spPr>
      </p:sp>
      <p:sp>
        <p:nvSpPr>
          <p:cNvPr name="Freeform 7" id="7"/>
          <p:cNvSpPr/>
          <p:nvPr/>
        </p:nvSpPr>
        <p:spPr>
          <a:xfrm flipH="false" flipV="false" rot="0">
            <a:off x="12431921" y="5301487"/>
            <a:ext cx="4959705" cy="3577141"/>
          </a:xfrm>
          <a:custGeom>
            <a:avLst/>
            <a:gdLst/>
            <a:ahLst/>
            <a:cxnLst/>
            <a:rect r="r" b="b" t="t" l="l"/>
            <a:pathLst>
              <a:path h="3577141" w="4959705">
                <a:moveTo>
                  <a:pt x="0" y="0"/>
                </a:moveTo>
                <a:lnTo>
                  <a:pt x="4959705" y="0"/>
                </a:lnTo>
                <a:lnTo>
                  <a:pt x="4959705" y="3577141"/>
                </a:lnTo>
                <a:lnTo>
                  <a:pt x="0" y="3577141"/>
                </a:lnTo>
                <a:lnTo>
                  <a:pt x="0" y="0"/>
                </a:lnTo>
                <a:close/>
              </a:path>
            </a:pathLst>
          </a:custGeom>
          <a:blipFill>
            <a:blip r:embed="rId3"/>
            <a:stretch>
              <a:fillRect l="-138" t="0" r="-754" b="-1239"/>
            </a:stretch>
          </a:blipFill>
          <a:ln w="28575" cap="sq">
            <a:solidFill>
              <a:srgbClr val="000000"/>
            </a:solidFill>
            <a:prstDash val="solid"/>
            <a:miter/>
          </a:ln>
        </p:spPr>
      </p:sp>
      <p:sp>
        <p:nvSpPr>
          <p:cNvPr name="TextBox 8" id="8"/>
          <p:cNvSpPr txBox="true"/>
          <p:nvPr/>
        </p:nvSpPr>
        <p:spPr>
          <a:xfrm rot="0">
            <a:off x="564724" y="8650333"/>
            <a:ext cx="10891821" cy="799490"/>
          </a:xfrm>
          <a:prstGeom prst="rect">
            <a:avLst/>
          </a:prstGeom>
        </p:spPr>
        <p:txBody>
          <a:bodyPr anchor="t" rtlCol="false" tIns="0" lIns="0" bIns="0" rIns="0">
            <a:spAutoFit/>
          </a:bodyPr>
          <a:lstStyle/>
          <a:p>
            <a:pPr algn="just">
              <a:lnSpc>
                <a:spcPts val="3183"/>
              </a:lnSpc>
            </a:pPr>
            <a:r>
              <a:rPr lang="en-US" sz="2274">
                <a:solidFill>
                  <a:srgbClr val="0E0340"/>
                </a:solidFill>
                <a:latin typeface="Questrial"/>
                <a:ea typeface="Questrial"/>
                <a:cs typeface="Questrial"/>
                <a:sym typeface="Questrial"/>
              </a:rPr>
              <a:t>Horizontal bar chart untuk memudahkan perbandingan volume order antar kota pelanggan dan memperlihatkan perbedaan jumlah order antar kota secara jelas</a:t>
            </a:r>
          </a:p>
        </p:txBody>
      </p:sp>
      <p:sp>
        <p:nvSpPr>
          <p:cNvPr name="TextBox 9" id="9"/>
          <p:cNvSpPr txBox="true"/>
          <p:nvPr/>
        </p:nvSpPr>
        <p:spPr>
          <a:xfrm rot="0">
            <a:off x="3197116" y="705429"/>
            <a:ext cx="5627037" cy="579867"/>
          </a:xfrm>
          <a:prstGeom prst="rect">
            <a:avLst/>
          </a:prstGeom>
        </p:spPr>
        <p:txBody>
          <a:bodyPr anchor="t" rtlCol="false" tIns="0" lIns="0" bIns="0" rIns="0">
            <a:spAutoFit/>
          </a:bodyPr>
          <a:lstStyle/>
          <a:p>
            <a:pPr algn="just">
              <a:lnSpc>
                <a:spcPts val="4788"/>
              </a:lnSpc>
            </a:pPr>
            <a:r>
              <a:rPr lang="en-US" sz="3420" b="true">
                <a:solidFill>
                  <a:srgbClr val="0E0340"/>
                </a:solidFill>
                <a:latin typeface="TT Chocolates Bold"/>
                <a:ea typeface="TT Chocolates Bold"/>
                <a:cs typeface="TT Chocolates Bold"/>
                <a:sym typeface="TT Chocolates Bold"/>
              </a:rPr>
              <a:t>Hasil Visualisasi  (Matplotlib)</a:t>
            </a:r>
          </a:p>
        </p:txBody>
      </p:sp>
      <p:sp>
        <p:nvSpPr>
          <p:cNvPr name="TextBox 10" id="10"/>
          <p:cNvSpPr txBox="true"/>
          <p:nvPr/>
        </p:nvSpPr>
        <p:spPr>
          <a:xfrm rot="0">
            <a:off x="12050866" y="1963653"/>
            <a:ext cx="5721814" cy="2399030"/>
          </a:xfrm>
          <a:prstGeom prst="rect">
            <a:avLst/>
          </a:prstGeom>
        </p:spPr>
        <p:txBody>
          <a:bodyPr anchor="t" rtlCol="false" tIns="0" lIns="0" bIns="0" rIns="0">
            <a:spAutoFit/>
          </a:bodyPr>
          <a:lstStyle/>
          <a:p>
            <a:pPr algn="just">
              <a:lnSpc>
                <a:spcPts val="3220"/>
              </a:lnSpc>
            </a:pPr>
            <a:r>
              <a:rPr lang="en-US" sz="2300" b="true">
                <a:solidFill>
                  <a:srgbClr val="0E0340"/>
                </a:solidFill>
                <a:latin typeface="TT Chocolates Bold"/>
                <a:ea typeface="TT Chocolates Bold"/>
                <a:cs typeface="TT Chocolates Bold"/>
                <a:sym typeface="TT Chocolates Bold"/>
              </a:rPr>
              <a:t>Insight :</a:t>
            </a:r>
            <a:r>
              <a:rPr lang="en-US" sz="2300" b="true">
                <a:solidFill>
                  <a:srgbClr val="0E0340"/>
                </a:solidFill>
                <a:latin typeface="TT Chocolates Bold"/>
                <a:ea typeface="TT Chocolates Bold"/>
                <a:cs typeface="TT Chocolates Bold"/>
                <a:sym typeface="TT Chocolates Bold"/>
              </a:rPr>
              <a:t> </a:t>
            </a:r>
          </a:p>
          <a:p>
            <a:pPr algn="just">
              <a:lnSpc>
                <a:spcPts val="3220"/>
              </a:lnSpc>
            </a:pPr>
            <a:r>
              <a:rPr lang="en-US" sz="2300">
                <a:solidFill>
                  <a:srgbClr val="0E0340"/>
                </a:solidFill>
                <a:latin typeface="TT Chocolates"/>
                <a:ea typeface="TT Chocolates"/>
                <a:cs typeface="TT Chocolates"/>
                <a:sym typeface="TT Chocolates"/>
              </a:rPr>
              <a:t>Berdasarkan grafik di samping, mayoritas  transaksi b</a:t>
            </a:r>
            <a:r>
              <a:rPr lang="en-US" sz="2300" u="none">
                <a:solidFill>
                  <a:srgbClr val="0E0340"/>
                </a:solidFill>
                <a:latin typeface="TT Chocolates"/>
                <a:ea typeface="TT Chocolates"/>
                <a:cs typeface="TT Chocolates"/>
                <a:sym typeface="TT Chocolates"/>
              </a:rPr>
              <a:t>e</a:t>
            </a:r>
            <a:r>
              <a:rPr lang="en-US" sz="2300">
                <a:solidFill>
                  <a:srgbClr val="0E0340"/>
                </a:solidFill>
                <a:latin typeface="TT Chocolates"/>
                <a:ea typeface="TT Chocolates"/>
                <a:cs typeface="TT Chocolates"/>
                <a:sym typeface="TT Chocolates"/>
              </a:rPr>
              <a:t>ras</a:t>
            </a:r>
            <a:r>
              <a:rPr lang="en-US" sz="2300" u="none">
                <a:solidFill>
                  <a:srgbClr val="0E0340"/>
                </a:solidFill>
                <a:latin typeface="TT Chocolates"/>
                <a:ea typeface="TT Chocolates"/>
                <a:cs typeface="TT Chocolates"/>
                <a:sym typeface="TT Chocolates"/>
              </a:rPr>
              <a:t>al</a:t>
            </a:r>
            <a:r>
              <a:rPr lang="en-US" sz="2300">
                <a:solidFill>
                  <a:srgbClr val="0E0340"/>
                </a:solidFill>
                <a:latin typeface="TT Chocolates"/>
                <a:ea typeface="TT Chocolates"/>
                <a:cs typeface="TT Chocolates"/>
                <a:sym typeface="TT Chocolates"/>
              </a:rPr>
              <a:t> dari kota besar dengan jumlah populasi banyak. Hal tersebut sesuai dengan grafik bahwa customer terbanyak  masih terkonsentrasi di wilayah sao paulo .</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FBFBF9"/>
        </a:solidFill>
      </p:bgPr>
    </p:bg>
    <p:spTree>
      <p:nvGrpSpPr>
        <p:cNvPr id="1" name=""/>
        <p:cNvGrpSpPr/>
        <p:nvPr/>
      </p:nvGrpSpPr>
      <p:grpSpPr>
        <a:xfrm>
          <a:off x="0" y="0"/>
          <a:ext cx="0" cy="0"/>
          <a:chOff x="0" y="0"/>
          <a:chExt cx="0" cy="0"/>
        </a:xfrm>
      </p:grpSpPr>
      <p:sp>
        <p:nvSpPr>
          <p:cNvPr name="Freeform 2" id="2"/>
          <p:cNvSpPr/>
          <p:nvPr/>
        </p:nvSpPr>
        <p:spPr>
          <a:xfrm flipH="false" flipV="false" rot="0">
            <a:off x="-2267676" y="-6268176"/>
            <a:ext cx="22823352" cy="22823352"/>
          </a:xfrm>
          <a:custGeom>
            <a:avLst/>
            <a:gdLst/>
            <a:ahLst/>
            <a:cxnLst/>
            <a:rect r="r" b="b" t="t" l="l"/>
            <a:pathLst>
              <a:path h="22823352" w="22823352">
                <a:moveTo>
                  <a:pt x="0" y="0"/>
                </a:moveTo>
                <a:lnTo>
                  <a:pt x="22823352" y="0"/>
                </a:lnTo>
                <a:lnTo>
                  <a:pt x="22823352" y="22823352"/>
                </a:lnTo>
                <a:lnTo>
                  <a:pt x="0" y="22823352"/>
                </a:lnTo>
                <a:lnTo>
                  <a:pt x="0" y="0"/>
                </a:lnTo>
                <a:close/>
              </a:path>
            </a:pathLst>
          </a:custGeom>
          <a:blipFill>
            <a:blip r:embed="rId2">
              <a:alphaModFix amt="6000"/>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0" y="1070295"/>
            <a:ext cx="17703247" cy="9876100"/>
            <a:chOff x="0" y="0"/>
            <a:chExt cx="23604329" cy="13168133"/>
          </a:xfrm>
        </p:grpSpPr>
        <p:sp>
          <p:nvSpPr>
            <p:cNvPr name="Freeform 4" id="4"/>
            <p:cNvSpPr/>
            <p:nvPr/>
          </p:nvSpPr>
          <p:spPr>
            <a:xfrm flipH="false" flipV="false" rot="701560">
              <a:off x="197157" y="8873457"/>
              <a:ext cx="1762790" cy="2126173"/>
            </a:xfrm>
            <a:custGeom>
              <a:avLst/>
              <a:gdLst/>
              <a:ahLst/>
              <a:cxnLst/>
              <a:rect r="r" b="b" t="t" l="l"/>
              <a:pathLst>
                <a:path h="2126173" w="1762790">
                  <a:moveTo>
                    <a:pt x="0" y="0"/>
                  </a:moveTo>
                  <a:lnTo>
                    <a:pt x="1762791" y="0"/>
                  </a:lnTo>
                  <a:lnTo>
                    <a:pt x="1762791" y="2126173"/>
                  </a:lnTo>
                  <a:lnTo>
                    <a:pt x="0" y="2126173"/>
                  </a:lnTo>
                  <a:lnTo>
                    <a:pt x="0" y="0"/>
                  </a:lnTo>
                  <a:close/>
                </a:path>
              </a:pathLst>
            </a:custGeom>
            <a:blipFill>
              <a:blip r:embed="rId4">
                <a:alphaModFix amt="15300"/>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2250332">
              <a:off x="22140847" y="891104"/>
              <a:ext cx="1157983" cy="1396690"/>
            </a:xfrm>
            <a:custGeom>
              <a:avLst/>
              <a:gdLst/>
              <a:ahLst/>
              <a:cxnLst/>
              <a:rect r="r" b="b" t="t" l="l"/>
              <a:pathLst>
                <a:path h="1396690" w="1157983">
                  <a:moveTo>
                    <a:pt x="0" y="0"/>
                  </a:moveTo>
                  <a:lnTo>
                    <a:pt x="1157984" y="0"/>
                  </a:lnTo>
                  <a:lnTo>
                    <a:pt x="1157984" y="1396691"/>
                  </a:lnTo>
                  <a:lnTo>
                    <a:pt x="0" y="1396691"/>
                  </a:lnTo>
                  <a:lnTo>
                    <a:pt x="0" y="0"/>
                  </a:lnTo>
                  <a:close/>
                </a:path>
              </a:pathLst>
            </a:custGeom>
            <a:blipFill>
              <a:blip r:embed="rId4">
                <a:alphaModFix amt="15300"/>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701560">
              <a:off x="21052452" y="9468395"/>
              <a:ext cx="1762790" cy="2126173"/>
            </a:xfrm>
            <a:custGeom>
              <a:avLst/>
              <a:gdLst/>
              <a:ahLst/>
              <a:cxnLst/>
              <a:rect r="r" b="b" t="t" l="l"/>
              <a:pathLst>
                <a:path h="2126173" w="1762790">
                  <a:moveTo>
                    <a:pt x="0" y="0"/>
                  </a:moveTo>
                  <a:lnTo>
                    <a:pt x="1762791" y="0"/>
                  </a:lnTo>
                  <a:lnTo>
                    <a:pt x="1762791" y="2126173"/>
                  </a:lnTo>
                  <a:lnTo>
                    <a:pt x="0" y="2126173"/>
                  </a:lnTo>
                  <a:lnTo>
                    <a:pt x="0" y="0"/>
                  </a:lnTo>
                  <a:close/>
                </a:path>
              </a:pathLst>
            </a:custGeom>
            <a:blipFill>
              <a:blip r:embed="rId4">
                <a:alphaModFix amt="15300"/>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2279228">
              <a:off x="4803749" y="156972"/>
              <a:ext cx="872157" cy="1051944"/>
            </a:xfrm>
            <a:custGeom>
              <a:avLst/>
              <a:gdLst/>
              <a:ahLst/>
              <a:cxnLst/>
              <a:rect r="r" b="b" t="t" l="l"/>
              <a:pathLst>
                <a:path h="1051944" w="872157">
                  <a:moveTo>
                    <a:pt x="0" y="0"/>
                  </a:moveTo>
                  <a:lnTo>
                    <a:pt x="872158" y="0"/>
                  </a:lnTo>
                  <a:lnTo>
                    <a:pt x="872158" y="1051944"/>
                  </a:lnTo>
                  <a:lnTo>
                    <a:pt x="0" y="1051944"/>
                  </a:lnTo>
                  <a:lnTo>
                    <a:pt x="0" y="0"/>
                  </a:lnTo>
                  <a:close/>
                </a:path>
              </a:pathLst>
            </a:custGeom>
            <a:blipFill>
              <a:blip r:embed="rId4">
                <a:alphaModFix amt="15300"/>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701560">
              <a:off x="16308552" y="2540853"/>
              <a:ext cx="1091352" cy="1316324"/>
            </a:xfrm>
            <a:custGeom>
              <a:avLst/>
              <a:gdLst/>
              <a:ahLst/>
              <a:cxnLst/>
              <a:rect r="r" b="b" t="t" l="l"/>
              <a:pathLst>
                <a:path h="1316324" w="1091352">
                  <a:moveTo>
                    <a:pt x="0" y="0"/>
                  </a:moveTo>
                  <a:lnTo>
                    <a:pt x="1091353" y="0"/>
                  </a:lnTo>
                  <a:lnTo>
                    <a:pt x="1091353" y="1316324"/>
                  </a:lnTo>
                  <a:lnTo>
                    <a:pt x="0" y="1316324"/>
                  </a:lnTo>
                  <a:lnTo>
                    <a:pt x="0" y="0"/>
                  </a:lnTo>
                  <a:close/>
                </a:path>
              </a:pathLst>
            </a:custGeom>
            <a:blipFill>
              <a:blip r:embed="rId4">
                <a:alphaModFix amt="15300"/>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false" flipV="false" rot="-2250332">
              <a:off x="10617995" y="11563283"/>
              <a:ext cx="1157983" cy="1396690"/>
            </a:xfrm>
            <a:custGeom>
              <a:avLst/>
              <a:gdLst/>
              <a:ahLst/>
              <a:cxnLst/>
              <a:rect r="r" b="b" t="t" l="l"/>
              <a:pathLst>
                <a:path h="1396690" w="1157983">
                  <a:moveTo>
                    <a:pt x="0" y="0"/>
                  </a:moveTo>
                  <a:lnTo>
                    <a:pt x="1157983" y="0"/>
                  </a:lnTo>
                  <a:lnTo>
                    <a:pt x="1157983" y="1396690"/>
                  </a:lnTo>
                  <a:lnTo>
                    <a:pt x="0" y="1396690"/>
                  </a:lnTo>
                  <a:lnTo>
                    <a:pt x="0" y="0"/>
                  </a:lnTo>
                  <a:close/>
                </a:path>
              </a:pathLst>
            </a:custGeom>
            <a:blipFill>
              <a:blip r:embed="rId4">
                <a:alphaModFix amt="15300"/>
                <a:extLst>
                  <a:ext uri="{96DAC541-7B7A-43D3-8B79-37D633B846F1}">
                    <asvg:svgBlip xmlns:asvg="http://schemas.microsoft.com/office/drawing/2016/SVG/main" r:embed="rId5"/>
                  </a:ext>
                </a:extLst>
              </a:blip>
              <a:stretch>
                <a:fillRect l="0" t="0" r="0" b="0"/>
              </a:stretch>
            </a:blipFill>
          </p:spPr>
        </p:sp>
      </p:grpSp>
      <p:grpSp>
        <p:nvGrpSpPr>
          <p:cNvPr name="Group 10" id="10"/>
          <p:cNvGrpSpPr/>
          <p:nvPr/>
        </p:nvGrpSpPr>
        <p:grpSpPr>
          <a:xfrm rot="0">
            <a:off x="0" y="1028700"/>
            <a:ext cx="18288000" cy="763888"/>
            <a:chOff x="0" y="0"/>
            <a:chExt cx="4816593" cy="201189"/>
          </a:xfrm>
        </p:grpSpPr>
        <p:sp>
          <p:nvSpPr>
            <p:cNvPr name="Freeform 11" id="11"/>
            <p:cNvSpPr/>
            <p:nvPr/>
          </p:nvSpPr>
          <p:spPr>
            <a:xfrm flipH="false" flipV="false" rot="0">
              <a:off x="0" y="0"/>
              <a:ext cx="4816592" cy="201189"/>
            </a:xfrm>
            <a:custGeom>
              <a:avLst/>
              <a:gdLst/>
              <a:ahLst/>
              <a:cxnLst/>
              <a:rect r="r" b="b" t="t" l="l"/>
              <a:pathLst>
                <a:path h="201189" w="4816592">
                  <a:moveTo>
                    <a:pt x="0" y="0"/>
                  </a:moveTo>
                  <a:lnTo>
                    <a:pt x="4816592" y="0"/>
                  </a:lnTo>
                  <a:lnTo>
                    <a:pt x="4816592" y="201189"/>
                  </a:lnTo>
                  <a:lnTo>
                    <a:pt x="0" y="201189"/>
                  </a:lnTo>
                  <a:close/>
                </a:path>
              </a:pathLst>
            </a:custGeom>
            <a:solidFill>
              <a:srgbClr val="8574D1"/>
            </a:solidFill>
          </p:spPr>
        </p:sp>
        <p:sp>
          <p:nvSpPr>
            <p:cNvPr name="TextBox 12" id="12"/>
            <p:cNvSpPr txBox="true"/>
            <p:nvPr/>
          </p:nvSpPr>
          <p:spPr>
            <a:xfrm>
              <a:off x="0" y="-57150"/>
              <a:ext cx="4816593" cy="258339"/>
            </a:xfrm>
            <a:prstGeom prst="rect">
              <a:avLst/>
            </a:prstGeom>
          </p:spPr>
          <p:txBody>
            <a:bodyPr anchor="ctr" rtlCol="false" tIns="50800" lIns="50800" bIns="50800" rIns="50800"/>
            <a:lstStyle/>
            <a:p>
              <a:pPr algn="ctr">
                <a:lnSpc>
                  <a:spcPts val="4199"/>
                </a:lnSpc>
                <a:spcBef>
                  <a:spcPct val="0"/>
                </a:spcBef>
              </a:pPr>
            </a:p>
          </p:txBody>
        </p:sp>
      </p:grpSp>
      <p:sp>
        <p:nvSpPr>
          <p:cNvPr name="Freeform 13" id="13"/>
          <p:cNvSpPr/>
          <p:nvPr/>
        </p:nvSpPr>
        <p:spPr>
          <a:xfrm flipH="false" flipV="false" rot="0">
            <a:off x="1028700" y="3469641"/>
            <a:ext cx="6632741" cy="3626312"/>
          </a:xfrm>
          <a:custGeom>
            <a:avLst/>
            <a:gdLst/>
            <a:ahLst/>
            <a:cxnLst/>
            <a:rect r="r" b="b" t="t" l="l"/>
            <a:pathLst>
              <a:path h="3626312" w="6632741">
                <a:moveTo>
                  <a:pt x="0" y="0"/>
                </a:moveTo>
                <a:lnTo>
                  <a:pt x="6632741" y="0"/>
                </a:lnTo>
                <a:lnTo>
                  <a:pt x="6632741" y="3626311"/>
                </a:lnTo>
                <a:lnTo>
                  <a:pt x="0" y="3626311"/>
                </a:lnTo>
                <a:lnTo>
                  <a:pt x="0" y="0"/>
                </a:lnTo>
                <a:close/>
              </a:path>
            </a:pathLst>
          </a:custGeom>
          <a:blipFill>
            <a:blip r:embed="rId6"/>
            <a:stretch>
              <a:fillRect l="0" t="0" r="0" b="0"/>
            </a:stretch>
          </a:blipFill>
          <a:ln w="38100" cap="sq">
            <a:solidFill>
              <a:srgbClr val="000000"/>
            </a:solidFill>
            <a:prstDash val="solid"/>
            <a:miter/>
          </a:ln>
        </p:spPr>
      </p:sp>
      <p:sp>
        <p:nvSpPr>
          <p:cNvPr name="Freeform 14" id="14"/>
          <p:cNvSpPr/>
          <p:nvPr/>
        </p:nvSpPr>
        <p:spPr>
          <a:xfrm flipH="false" flipV="false" rot="0">
            <a:off x="8024999" y="3469641"/>
            <a:ext cx="9403524" cy="3626312"/>
          </a:xfrm>
          <a:custGeom>
            <a:avLst/>
            <a:gdLst/>
            <a:ahLst/>
            <a:cxnLst/>
            <a:rect r="r" b="b" t="t" l="l"/>
            <a:pathLst>
              <a:path h="3626312" w="9403524">
                <a:moveTo>
                  <a:pt x="0" y="0"/>
                </a:moveTo>
                <a:lnTo>
                  <a:pt x="9403524" y="0"/>
                </a:lnTo>
                <a:lnTo>
                  <a:pt x="9403524" y="3626311"/>
                </a:lnTo>
                <a:lnTo>
                  <a:pt x="0" y="3626311"/>
                </a:lnTo>
                <a:lnTo>
                  <a:pt x="0" y="0"/>
                </a:lnTo>
                <a:close/>
              </a:path>
            </a:pathLst>
          </a:custGeom>
          <a:blipFill>
            <a:blip r:embed="rId7"/>
            <a:stretch>
              <a:fillRect l="0" t="0" r="0" b="0"/>
            </a:stretch>
          </a:blipFill>
          <a:ln w="38100" cap="sq">
            <a:solidFill>
              <a:srgbClr val="000000"/>
            </a:solidFill>
            <a:prstDash val="solid"/>
            <a:miter/>
          </a:ln>
        </p:spPr>
      </p:sp>
      <p:sp>
        <p:nvSpPr>
          <p:cNvPr name="TextBox 15" id="15"/>
          <p:cNvSpPr txBox="true"/>
          <p:nvPr/>
        </p:nvSpPr>
        <p:spPr>
          <a:xfrm rot="0">
            <a:off x="1028700" y="1021707"/>
            <a:ext cx="12944061" cy="788035"/>
          </a:xfrm>
          <a:prstGeom prst="rect">
            <a:avLst/>
          </a:prstGeom>
        </p:spPr>
        <p:txBody>
          <a:bodyPr anchor="t" rtlCol="false" tIns="0" lIns="0" bIns="0" rIns="0">
            <a:spAutoFit/>
          </a:bodyPr>
          <a:lstStyle/>
          <a:p>
            <a:pPr algn="l">
              <a:lnSpc>
                <a:spcPts val="6440"/>
              </a:lnSpc>
            </a:pPr>
            <a:r>
              <a:rPr lang="en-US" sz="4600" b="true">
                <a:solidFill>
                  <a:srgbClr val="FFFFFF"/>
                </a:solidFill>
                <a:latin typeface="TT Chocolates Bold"/>
                <a:ea typeface="TT Chocolates Bold"/>
                <a:cs typeface="TT Chocolates Bold"/>
                <a:sym typeface="TT Chocolates Bold"/>
              </a:rPr>
              <a:t>3. Metode Pembayaran Paling Banyak Digunakan</a:t>
            </a:r>
          </a:p>
        </p:txBody>
      </p:sp>
      <p:sp>
        <p:nvSpPr>
          <p:cNvPr name="TextBox 16" id="16"/>
          <p:cNvSpPr txBox="true"/>
          <p:nvPr/>
        </p:nvSpPr>
        <p:spPr>
          <a:xfrm rot="0">
            <a:off x="1028700" y="2545998"/>
            <a:ext cx="3701807" cy="407781"/>
          </a:xfrm>
          <a:prstGeom prst="rect">
            <a:avLst/>
          </a:prstGeom>
        </p:spPr>
        <p:txBody>
          <a:bodyPr anchor="t" rtlCol="false" tIns="0" lIns="0" bIns="0" rIns="0">
            <a:spAutoFit/>
          </a:bodyPr>
          <a:lstStyle/>
          <a:p>
            <a:pPr algn="just">
              <a:lnSpc>
                <a:spcPts val="3248"/>
              </a:lnSpc>
            </a:pPr>
            <a:r>
              <a:rPr lang="en-US" sz="2320">
                <a:solidFill>
                  <a:srgbClr val="0E0340"/>
                </a:solidFill>
                <a:latin typeface="Questrial"/>
                <a:ea typeface="Questrial"/>
                <a:cs typeface="Questrial"/>
                <a:sym typeface="Questrial"/>
              </a:rPr>
              <a:t>SQL Analysis :</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FBFBF9"/>
        </a:solidFill>
      </p:bgPr>
    </p:bg>
    <p:spTree>
      <p:nvGrpSpPr>
        <p:cNvPr id="1" name=""/>
        <p:cNvGrpSpPr/>
        <p:nvPr/>
      </p:nvGrpSpPr>
      <p:grpSpPr>
        <a:xfrm>
          <a:off x="0" y="0"/>
          <a:ext cx="0" cy="0"/>
          <a:chOff x="0" y="0"/>
          <a:chExt cx="0" cy="0"/>
        </a:xfrm>
      </p:grpSpPr>
      <p:grpSp>
        <p:nvGrpSpPr>
          <p:cNvPr name="Group 2" id="2"/>
          <p:cNvGrpSpPr/>
          <p:nvPr/>
        </p:nvGrpSpPr>
        <p:grpSpPr>
          <a:xfrm rot="0">
            <a:off x="11761325" y="0"/>
            <a:ext cx="7232275" cy="11168682"/>
            <a:chOff x="0" y="0"/>
            <a:chExt cx="1904797" cy="2941546"/>
          </a:xfrm>
        </p:grpSpPr>
        <p:sp>
          <p:nvSpPr>
            <p:cNvPr name="Freeform 3" id="3"/>
            <p:cNvSpPr/>
            <p:nvPr/>
          </p:nvSpPr>
          <p:spPr>
            <a:xfrm flipH="false" flipV="false" rot="0">
              <a:off x="0" y="0"/>
              <a:ext cx="1904797" cy="2941546"/>
            </a:xfrm>
            <a:custGeom>
              <a:avLst/>
              <a:gdLst/>
              <a:ahLst/>
              <a:cxnLst/>
              <a:rect r="r" b="b" t="t" l="l"/>
              <a:pathLst>
                <a:path h="2941546" w="1904797">
                  <a:moveTo>
                    <a:pt x="0" y="0"/>
                  </a:moveTo>
                  <a:lnTo>
                    <a:pt x="1904797" y="0"/>
                  </a:lnTo>
                  <a:lnTo>
                    <a:pt x="1904797" y="2941546"/>
                  </a:lnTo>
                  <a:lnTo>
                    <a:pt x="0" y="2941546"/>
                  </a:lnTo>
                  <a:close/>
                </a:path>
              </a:pathLst>
            </a:custGeom>
            <a:solidFill>
              <a:srgbClr val="E0DAED"/>
            </a:solidFill>
          </p:spPr>
        </p:sp>
        <p:sp>
          <p:nvSpPr>
            <p:cNvPr name="TextBox 4" id="4"/>
            <p:cNvSpPr txBox="true"/>
            <p:nvPr/>
          </p:nvSpPr>
          <p:spPr>
            <a:xfrm>
              <a:off x="0" y="-38100"/>
              <a:ext cx="1904797" cy="2979646"/>
            </a:xfrm>
            <a:prstGeom prst="rect">
              <a:avLst/>
            </a:prstGeom>
          </p:spPr>
          <p:txBody>
            <a:bodyPr anchor="ctr" rtlCol="false" tIns="50800" lIns="50800" bIns="50800" rIns="50800"/>
            <a:lstStyle/>
            <a:p>
              <a:pPr algn="ctr">
                <a:lnSpc>
                  <a:spcPts val="2659"/>
                </a:lnSpc>
              </a:pPr>
            </a:p>
          </p:txBody>
        </p:sp>
      </p:grpSp>
      <p:sp>
        <p:nvSpPr>
          <p:cNvPr name="AutoShape 5" id="5"/>
          <p:cNvSpPr/>
          <p:nvPr/>
        </p:nvSpPr>
        <p:spPr>
          <a:xfrm>
            <a:off x="11761325" y="0"/>
            <a:ext cx="0" cy="10287000"/>
          </a:xfrm>
          <a:prstGeom prst="line">
            <a:avLst/>
          </a:prstGeom>
          <a:ln cap="flat" w="38100">
            <a:solidFill>
              <a:srgbClr val="602E9E"/>
            </a:solidFill>
            <a:prstDash val="sysDash"/>
            <a:headEnd type="none" len="sm" w="sm"/>
            <a:tailEnd type="none" len="sm" w="sm"/>
          </a:ln>
        </p:spPr>
      </p:sp>
      <p:sp>
        <p:nvSpPr>
          <p:cNvPr name="Freeform 6" id="6"/>
          <p:cNvSpPr/>
          <p:nvPr/>
        </p:nvSpPr>
        <p:spPr>
          <a:xfrm flipH="false" flipV="false" rot="0">
            <a:off x="1987882" y="1377888"/>
            <a:ext cx="7876623" cy="6953759"/>
          </a:xfrm>
          <a:custGeom>
            <a:avLst/>
            <a:gdLst/>
            <a:ahLst/>
            <a:cxnLst/>
            <a:rect r="r" b="b" t="t" l="l"/>
            <a:pathLst>
              <a:path h="6953759" w="7876623">
                <a:moveTo>
                  <a:pt x="0" y="0"/>
                </a:moveTo>
                <a:lnTo>
                  <a:pt x="7876623" y="0"/>
                </a:lnTo>
                <a:lnTo>
                  <a:pt x="7876623" y="6953759"/>
                </a:lnTo>
                <a:lnTo>
                  <a:pt x="0" y="6953759"/>
                </a:lnTo>
                <a:lnTo>
                  <a:pt x="0" y="0"/>
                </a:lnTo>
                <a:close/>
              </a:path>
            </a:pathLst>
          </a:custGeom>
          <a:blipFill>
            <a:blip r:embed="rId2"/>
            <a:stretch>
              <a:fillRect l="0" t="0" r="0" b="-8648"/>
            </a:stretch>
          </a:blipFill>
          <a:ln w="19050" cap="sq">
            <a:solidFill>
              <a:srgbClr val="602E9E"/>
            </a:solidFill>
            <a:prstDash val="solid"/>
            <a:miter/>
          </a:ln>
        </p:spPr>
      </p:sp>
      <p:sp>
        <p:nvSpPr>
          <p:cNvPr name="TextBox 7" id="7"/>
          <p:cNvSpPr txBox="true"/>
          <p:nvPr/>
        </p:nvSpPr>
        <p:spPr>
          <a:xfrm rot="0">
            <a:off x="12085669" y="1320738"/>
            <a:ext cx="5723965" cy="3599180"/>
          </a:xfrm>
          <a:prstGeom prst="rect">
            <a:avLst/>
          </a:prstGeom>
        </p:spPr>
        <p:txBody>
          <a:bodyPr anchor="t" rtlCol="false" tIns="0" lIns="0" bIns="0" rIns="0">
            <a:spAutoFit/>
          </a:bodyPr>
          <a:lstStyle/>
          <a:p>
            <a:pPr algn="just">
              <a:lnSpc>
                <a:spcPts val="3220"/>
              </a:lnSpc>
            </a:pPr>
            <a:r>
              <a:rPr lang="en-US" sz="2300" b="true">
                <a:solidFill>
                  <a:srgbClr val="0E0340"/>
                </a:solidFill>
                <a:latin typeface="TT Chocolates Bold"/>
                <a:ea typeface="TT Chocolates Bold"/>
                <a:cs typeface="TT Chocolates Bold"/>
                <a:sym typeface="TT Chocolates Bold"/>
              </a:rPr>
              <a:t>Insight : </a:t>
            </a:r>
          </a:p>
          <a:p>
            <a:pPr algn="just">
              <a:lnSpc>
                <a:spcPts val="3220"/>
              </a:lnSpc>
            </a:pPr>
            <a:r>
              <a:rPr lang="en-US" sz="2300">
                <a:solidFill>
                  <a:srgbClr val="0E0340"/>
                </a:solidFill>
                <a:latin typeface="TT Chocolates"/>
                <a:ea typeface="TT Chocolates"/>
                <a:cs typeface="TT Chocolates"/>
                <a:sym typeface="TT Chocolates"/>
              </a:rPr>
              <a:t>Berdasarkan pie chart di samping, t</a:t>
            </a:r>
            <a:r>
              <a:rPr lang="en-US" sz="2300" u="none">
                <a:solidFill>
                  <a:srgbClr val="0E0340"/>
                </a:solidFill>
                <a:latin typeface="TT Chocolates"/>
                <a:ea typeface="TT Chocolates"/>
                <a:cs typeface="TT Chocolates"/>
                <a:sym typeface="TT Chocolates"/>
              </a:rPr>
              <a:t>e</a:t>
            </a:r>
            <a:r>
              <a:rPr lang="en-US" sz="2300">
                <a:solidFill>
                  <a:srgbClr val="0E0340"/>
                </a:solidFill>
                <a:latin typeface="TT Chocolates"/>
                <a:ea typeface="TT Chocolates"/>
                <a:cs typeface="TT Chocolates"/>
                <a:sym typeface="TT Chocolates"/>
              </a:rPr>
              <a:t>r</a:t>
            </a:r>
            <a:r>
              <a:rPr lang="en-US" sz="2300" u="none">
                <a:solidFill>
                  <a:srgbClr val="0E0340"/>
                </a:solidFill>
                <a:latin typeface="TT Chocolates"/>
                <a:ea typeface="TT Chocolates"/>
                <a:cs typeface="TT Chocolates"/>
                <a:sym typeface="TT Chocolates"/>
              </a:rPr>
              <a:t>lihat</a:t>
            </a:r>
            <a:r>
              <a:rPr lang="en-US" sz="2300">
                <a:solidFill>
                  <a:srgbClr val="0E0340"/>
                </a:solidFill>
                <a:latin typeface="TT Chocolates"/>
                <a:ea typeface="TT Chocolates"/>
                <a:cs typeface="TT Chocolates"/>
                <a:sym typeface="TT Chocolates"/>
              </a:rPr>
              <a:t> bahwa metode pembayaran menggunkaan </a:t>
            </a:r>
            <a:r>
              <a:rPr lang="en-US" b="true" sz="2300" i="true">
                <a:solidFill>
                  <a:srgbClr val="0E0340"/>
                </a:solidFill>
                <a:latin typeface="TT Chocolates Bold Italics"/>
                <a:ea typeface="TT Chocolates Bold Italics"/>
                <a:cs typeface="TT Chocolates Bold Italics"/>
                <a:sym typeface="TT Chocolates Bold Italics"/>
              </a:rPr>
              <a:t>credit card</a:t>
            </a:r>
            <a:r>
              <a:rPr lang="en-US" sz="2300">
                <a:solidFill>
                  <a:srgbClr val="0E0340"/>
                </a:solidFill>
                <a:latin typeface="TT Chocolates"/>
                <a:ea typeface="TT Chocolates"/>
                <a:cs typeface="TT Chocolates"/>
                <a:sym typeface="TT Chocolates"/>
              </a:rPr>
              <a:t> mendominasi sebanyak </a:t>
            </a:r>
            <a:r>
              <a:rPr lang="en-US" sz="2300" u="sng">
                <a:solidFill>
                  <a:srgbClr val="0E0340"/>
                </a:solidFill>
                <a:latin typeface="TT Chocolates"/>
                <a:ea typeface="TT Chocolates"/>
                <a:cs typeface="TT Chocolates"/>
                <a:sym typeface="TT Chocolates"/>
              </a:rPr>
              <a:t>74% </a:t>
            </a:r>
            <a:r>
              <a:rPr lang="en-US" sz="2300">
                <a:solidFill>
                  <a:srgbClr val="0E0340"/>
                </a:solidFill>
                <a:latin typeface="TT Chocolates"/>
                <a:ea typeface="TT Chocolates"/>
                <a:cs typeface="TT Chocolates"/>
                <a:sym typeface="TT Chocolates"/>
              </a:rPr>
              <a:t>dari seluruh transaksi, jauh lebih tinggi dibanding:</a:t>
            </a:r>
          </a:p>
          <a:p>
            <a:pPr algn="just" marL="496571" indent="-248285" lvl="1">
              <a:lnSpc>
                <a:spcPts val="3220"/>
              </a:lnSpc>
              <a:buFont typeface="Arial"/>
              <a:buChar char="•"/>
            </a:pPr>
            <a:r>
              <a:rPr lang="en-US" sz="2300">
                <a:solidFill>
                  <a:srgbClr val="0E0340"/>
                </a:solidFill>
                <a:latin typeface="TT Chocolates"/>
                <a:ea typeface="TT Chocolates"/>
                <a:cs typeface="TT Chocolates"/>
                <a:sym typeface="TT Chocolates"/>
              </a:rPr>
              <a:t>Boleto: ±</a:t>
            </a:r>
            <a:r>
              <a:rPr lang="en-US" sz="2300" u="none">
                <a:solidFill>
                  <a:srgbClr val="0E0340"/>
                </a:solidFill>
                <a:latin typeface="TT Chocolates"/>
                <a:ea typeface="TT Chocolates"/>
                <a:cs typeface="TT Chocolates"/>
                <a:sym typeface="TT Chocolates"/>
              </a:rPr>
              <a:t> </a:t>
            </a:r>
            <a:r>
              <a:rPr lang="en-US" sz="2300">
                <a:solidFill>
                  <a:srgbClr val="0E0340"/>
                </a:solidFill>
                <a:latin typeface="TT Chocolates"/>
                <a:ea typeface="TT Chocolates"/>
                <a:cs typeface="TT Chocolates"/>
                <a:sym typeface="TT Chocolates"/>
              </a:rPr>
              <a:t>19%</a:t>
            </a:r>
          </a:p>
          <a:p>
            <a:pPr algn="just" marL="496571" indent="-248285" lvl="1">
              <a:lnSpc>
                <a:spcPts val="3220"/>
              </a:lnSpc>
              <a:buFont typeface="Arial"/>
              <a:buChar char="•"/>
            </a:pPr>
            <a:r>
              <a:rPr lang="en-US" sz="2300">
                <a:solidFill>
                  <a:srgbClr val="0E0340"/>
                </a:solidFill>
                <a:latin typeface="TT Chocolates"/>
                <a:ea typeface="TT Chocolates"/>
                <a:cs typeface="TT Chocolates"/>
                <a:sym typeface="TT Chocolates"/>
              </a:rPr>
              <a:t>Vouch</a:t>
            </a:r>
            <a:r>
              <a:rPr lang="en-US" sz="2300" u="none">
                <a:solidFill>
                  <a:srgbClr val="0E0340"/>
                </a:solidFill>
                <a:latin typeface="TT Chocolates"/>
                <a:ea typeface="TT Chocolates"/>
                <a:cs typeface="TT Chocolates"/>
                <a:sym typeface="TT Chocolates"/>
              </a:rPr>
              <a:t>e</a:t>
            </a:r>
            <a:r>
              <a:rPr lang="en-US" sz="2300">
                <a:solidFill>
                  <a:srgbClr val="0E0340"/>
                </a:solidFill>
                <a:latin typeface="TT Chocolates"/>
                <a:ea typeface="TT Chocolates"/>
                <a:cs typeface="TT Chocolates"/>
                <a:sym typeface="TT Chocolates"/>
              </a:rPr>
              <a:t>r: ± 5,5%</a:t>
            </a:r>
          </a:p>
          <a:p>
            <a:pPr algn="just" marL="496571" indent="-248285" lvl="1">
              <a:lnSpc>
                <a:spcPts val="3220"/>
              </a:lnSpc>
              <a:buFont typeface="Arial"/>
              <a:buChar char="•"/>
            </a:pPr>
            <a:r>
              <a:rPr lang="en-US" sz="2300">
                <a:solidFill>
                  <a:srgbClr val="0E0340"/>
                </a:solidFill>
                <a:latin typeface="TT Chocolates"/>
                <a:ea typeface="TT Chocolates"/>
                <a:cs typeface="TT Chocolates"/>
                <a:sym typeface="TT Chocolates"/>
              </a:rPr>
              <a:t>Debit c</a:t>
            </a:r>
            <a:r>
              <a:rPr lang="en-US" sz="2300" u="none">
                <a:solidFill>
                  <a:srgbClr val="0E0340"/>
                </a:solidFill>
                <a:latin typeface="TT Chocolates"/>
                <a:ea typeface="TT Chocolates"/>
                <a:cs typeface="TT Chocolates"/>
                <a:sym typeface="TT Chocolates"/>
              </a:rPr>
              <a:t>a</a:t>
            </a:r>
            <a:r>
              <a:rPr lang="en-US" sz="2300">
                <a:solidFill>
                  <a:srgbClr val="0E0340"/>
                </a:solidFill>
                <a:latin typeface="TT Chocolates"/>
                <a:ea typeface="TT Chocolates"/>
                <a:cs typeface="TT Chocolates"/>
                <a:sym typeface="TT Chocolates"/>
              </a:rPr>
              <a:t>rd</a:t>
            </a:r>
            <a:r>
              <a:rPr lang="en-US" sz="2300" u="none">
                <a:solidFill>
                  <a:srgbClr val="0E0340"/>
                </a:solidFill>
                <a:latin typeface="TT Chocolates"/>
                <a:ea typeface="TT Chocolates"/>
                <a:cs typeface="TT Chocolates"/>
                <a:sym typeface="TT Chocolates"/>
              </a:rPr>
              <a:t> </a:t>
            </a:r>
            <a:r>
              <a:rPr lang="en-US" sz="2300">
                <a:solidFill>
                  <a:srgbClr val="0E0340"/>
                </a:solidFill>
                <a:latin typeface="TT Chocolates"/>
                <a:ea typeface="TT Chocolates"/>
                <a:cs typeface="TT Chocolates"/>
                <a:sym typeface="TT Chocolates"/>
              </a:rPr>
              <a:t>da</a:t>
            </a:r>
            <a:r>
              <a:rPr lang="en-US" sz="2300" u="none">
                <a:solidFill>
                  <a:srgbClr val="0E0340"/>
                </a:solidFill>
                <a:latin typeface="TT Chocolates"/>
                <a:ea typeface="TT Chocolates"/>
                <a:cs typeface="TT Chocolates"/>
                <a:sym typeface="TT Chocolates"/>
              </a:rPr>
              <a:t>n</a:t>
            </a:r>
            <a:r>
              <a:rPr lang="en-US" sz="2300">
                <a:solidFill>
                  <a:srgbClr val="0E0340"/>
                </a:solidFill>
                <a:latin typeface="TT Chocolates"/>
                <a:ea typeface="TT Chocolates"/>
                <a:cs typeface="TT Chocolates"/>
                <a:sym typeface="TT Chocolates"/>
              </a:rPr>
              <a:t> </a:t>
            </a:r>
            <a:r>
              <a:rPr lang="en-US" sz="2300" u="none">
                <a:solidFill>
                  <a:srgbClr val="0E0340"/>
                </a:solidFill>
                <a:latin typeface="TT Chocolates"/>
                <a:ea typeface="TT Chocolates"/>
                <a:cs typeface="TT Chocolates"/>
                <a:sym typeface="TT Chocolates"/>
              </a:rPr>
              <a:t>l</a:t>
            </a:r>
            <a:r>
              <a:rPr lang="en-US" sz="2300">
                <a:solidFill>
                  <a:srgbClr val="0E0340"/>
                </a:solidFill>
                <a:latin typeface="TT Chocolates"/>
                <a:ea typeface="TT Chocolates"/>
                <a:cs typeface="TT Chocolates"/>
                <a:sym typeface="TT Chocolates"/>
              </a:rPr>
              <a:t>a</a:t>
            </a:r>
            <a:r>
              <a:rPr lang="en-US" sz="2300" u="none">
                <a:solidFill>
                  <a:srgbClr val="0E0340"/>
                </a:solidFill>
                <a:latin typeface="TT Chocolates"/>
                <a:ea typeface="TT Chocolates"/>
                <a:cs typeface="TT Chocolates"/>
                <a:sym typeface="TT Chocolates"/>
              </a:rPr>
              <a:t>in</a:t>
            </a:r>
            <a:r>
              <a:rPr lang="en-US" sz="2300">
                <a:solidFill>
                  <a:srgbClr val="0E0340"/>
                </a:solidFill>
                <a:latin typeface="TT Chocolates"/>
                <a:ea typeface="TT Chocolates"/>
                <a:cs typeface="TT Chocolates"/>
                <a:sym typeface="TT Chocolates"/>
              </a:rPr>
              <a:t>nya:</a:t>
            </a:r>
            <a:r>
              <a:rPr lang="en-US" sz="2300" u="none">
                <a:solidFill>
                  <a:srgbClr val="0E0340"/>
                </a:solidFill>
                <a:latin typeface="TT Chocolates"/>
                <a:ea typeface="TT Chocolates"/>
                <a:cs typeface="TT Chocolates"/>
                <a:sym typeface="TT Chocolates"/>
              </a:rPr>
              <a:t> ± 1.5</a:t>
            </a:r>
            <a:r>
              <a:rPr lang="en-US" sz="2300">
                <a:solidFill>
                  <a:srgbClr val="0E0340"/>
                </a:solidFill>
                <a:latin typeface="TT Chocolates"/>
                <a:ea typeface="TT Chocolates"/>
                <a:cs typeface="TT Chocolates"/>
                <a:sym typeface="TT Chocolates"/>
              </a:rPr>
              <a:t>%</a:t>
            </a:r>
          </a:p>
          <a:p>
            <a:pPr algn="just">
              <a:lnSpc>
                <a:spcPts val="3220"/>
              </a:lnSpc>
            </a:pPr>
          </a:p>
        </p:txBody>
      </p:sp>
      <p:sp>
        <p:nvSpPr>
          <p:cNvPr name="TextBox 8" id="8"/>
          <p:cNvSpPr txBox="true"/>
          <p:nvPr/>
        </p:nvSpPr>
        <p:spPr>
          <a:xfrm rot="0">
            <a:off x="510477" y="8829980"/>
            <a:ext cx="10831432" cy="799490"/>
          </a:xfrm>
          <a:prstGeom prst="rect">
            <a:avLst/>
          </a:prstGeom>
        </p:spPr>
        <p:txBody>
          <a:bodyPr anchor="t" rtlCol="false" tIns="0" lIns="0" bIns="0" rIns="0">
            <a:spAutoFit/>
          </a:bodyPr>
          <a:lstStyle/>
          <a:p>
            <a:pPr algn="just">
              <a:lnSpc>
                <a:spcPts val="3183"/>
              </a:lnSpc>
            </a:pPr>
            <a:r>
              <a:rPr lang="en-US" sz="2274">
                <a:solidFill>
                  <a:srgbClr val="0E0340"/>
                </a:solidFill>
                <a:latin typeface="Questrial"/>
                <a:ea typeface="Questrial"/>
                <a:cs typeface="Questrial"/>
                <a:sym typeface="Questrial"/>
              </a:rPr>
              <a:t>Pie chart untuk menunjukkan proporsi penggunaan beberapa metode pembayaran sehingga dapat melihat persentase metode pembayaran terbesar.</a:t>
            </a:r>
          </a:p>
        </p:txBody>
      </p:sp>
      <p:sp>
        <p:nvSpPr>
          <p:cNvPr name="TextBox 9" id="9"/>
          <p:cNvSpPr txBox="true"/>
          <p:nvPr/>
        </p:nvSpPr>
        <p:spPr>
          <a:xfrm rot="0">
            <a:off x="3115324" y="448833"/>
            <a:ext cx="5621739" cy="579867"/>
          </a:xfrm>
          <a:prstGeom prst="rect">
            <a:avLst/>
          </a:prstGeom>
        </p:spPr>
        <p:txBody>
          <a:bodyPr anchor="t" rtlCol="false" tIns="0" lIns="0" bIns="0" rIns="0">
            <a:spAutoFit/>
          </a:bodyPr>
          <a:lstStyle/>
          <a:p>
            <a:pPr algn="just">
              <a:lnSpc>
                <a:spcPts val="4788"/>
              </a:lnSpc>
            </a:pPr>
            <a:r>
              <a:rPr lang="en-US" sz="3420" b="true">
                <a:solidFill>
                  <a:srgbClr val="0E0340"/>
                </a:solidFill>
                <a:latin typeface="TT Chocolates Bold"/>
                <a:ea typeface="TT Chocolates Bold"/>
                <a:cs typeface="TT Chocolates Bold"/>
                <a:sym typeface="TT Chocolates Bold"/>
              </a:rPr>
              <a:t>Hasil Visualisasi (Matplotlib)</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FBFBF9"/>
        </a:solidFill>
      </p:bgPr>
    </p:bg>
    <p:spTree>
      <p:nvGrpSpPr>
        <p:cNvPr id="1" name=""/>
        <p:cNvGrpSpPr/>
        <p:nvPr/>
      </p:nvGrpSpPr>
      <p:grpSpPr>
        <a:xfrm>
          <a:off x="0" y="0"/>
          <a:ext cx="0" cy="0"/>
          <a:chOff x="0" y="0"/>
          <a:chExt cx="0" cy="0"/>
        </a:xfrm>
      </p:grpSpPr>
      <p:sp>
        <p:nvSpPr>
          <p:cNvPr name="Freeform 2" id="2"/>
          <p:cNvSpPr/>
          <p:nvPr/>
        </p:nvSpPr>
        <p:spPr>
          <a:xfrm flipH="false" flipV="false" rot="0">
            <a:off x="-2267676" y="-6268176"/>
            <a:ext cx="22823352" cy="22823352"/>
          </a:xfrm>
          <a:custGeom>
            <a:avLst/>
            <a:gdLst/>
            <a:ahLst/>
            <a:cxnLst/>
            <a:rect r="r" b="b" t="t" l="l"/>
            <a:pathLst>
              <a:path h="22823352" w="22823352">
                <a:moveTo>
                  <a:pt x="0" y="0"/>
                </a:moveTo>
                <a:lnTo>
                  <a:pt x="22823352" y="0"/>
                </a:lnTo>
                <a:lnTo>
                  <a:pt x="22823352" y="22823352"/>
                </a:lnTo>
                <a:lnTo>
                  <a:pt x="0" y="22823352"/>
                </a:lnTo>
                <a:lnTo>
                  <a:pt x="0" y="0"/>
                </a:lnTo>
                <a:close/>
              </a:path>
            </a:pathLst>
          </a:custGeom>
          <a:blipFill>
            <a:blip r:embed="rId2">
              <a:alphaModFix amt="6000"/>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0" y="1070295"/>
            <a:ext cx="17703247" cy="9876100"/>
            <a:chOff x="0" y="0"/>
            <a:chExt cx="23604329" cy="13168133"/>
          </a:xfrm>
        </p:grpSpPr>
        <p:sp>
          <p:nvSpPr>
            <p:cNvPr name="Freeform 4" id="4"/>
            <p:cNvSpPr/>
            <p:nvPr/>
          </p:nvSpPr>
          <p:spPr>
            <a:xfrm flipH="false" flipV="false" rot="701560">
              <a:off x="197157" y="8873457"/>
              <a:ext cx="1762790" cy="2126173"/>
            </a:xfrm>
            <a:custGeom>
              <a:avLst/>
              <a:gdLst/>
              <a:ahLst/>
              <a:cxnLst/>
              <a:rect r="r" b="b" t="t" l="l"/>
              <a:pathLst>
                <a:path h="2126173" w="1762790">
                  <a:moveTo>
                    <a:pt x="0" y="0"/>
                  </a:moveTo>
                  <a:lnTo>
                    <a:pt x="1762791" y="0"/>
                  </a:lnTo>
                  <a:lnTo>
                    <a:pt x="1762791" y="2126173"/>
                  </a:lnTo>
                  <a:lnTo>
                    <a:pt x="0" y="2126173"/>
                  </a:lnTo>
                  <a:lnTo>
                    <a:pt x="0" y="0"/>
                  </a:lnTo>
                  <a:close/>
                </a:path>
              </a:pathLst>
            </a:custGeom>
            <a:blipFill>
              <a:blip r:embed="rId4">
                <a:alphaModFix amt="15300"/>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2250332">
              <a:off x="22140847" y="891104"/>
              <a:ext cx="1157983" cy="1396690"/>
            </a:xfrm>
            <a:custGeom>
              <a:avLst/>
              <a:gdLst/>
              <a:ahLst/>
              <a:cxnLst/>
              <a:rect r="r" b="b" t="t" l="l"/>
              <a:pathLst>
                <a:path h="1396690" w="1157983">
                  <a:moveTo>
                    <a:pt x="0" y="0"/>
                  </a:moveTo>
                  <a:lnTo>
                    <a:pt x="1157984" y="0"/>
                  </a:lnTo>
                  <a:lnTo>
                    <a:pt x="1157984" y="1396691"/>
                  </a:lnTo>
                  <a:lnTo>
                    <a:pt x="0" y="1396691"/>
                  </a:lnTo>
                  <a:lnTo>
                    <a:pt x="0" y="0"/>
                  </a:lnTo>
                  <a:close/>
                </a:path>
              </a:pathLst>
            </a:custGeom>
            <a:blipFill>
              <a:blip r:embed="rId4">
                <a:alphaModFix amt="15300"/>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701560">
              <a:off x="21052452" y="9468395"/>
              <a:ext cx="1762790" cy="2126173"/>
            </a:xfrm>
            <a:custGeom>
              <a:avLst/>
              <a:gdLst/>
              <a:ahLst/>
              <a:cxnLst/>
              <a:rect r="r" b="b" t="t" l="l"/>
              <a:pathLst>
                <a:path h="2126173" w="1762790">
                  <a:moveTo>
                    <a:pt x="0" y="0"/>
                  </a:moveTo>
                  <a:lnTo>
                    <a:pt x="1762791" y="0"/>
                  </a:lnTo>
                  <a:lnTo>
                    <a:pt x="1762791" y="2126173"/>
                  </a:lnTo>
                  <a:lnTo>
                    <a:pt x="0" y="2126173"/>
                  </a:lnTo>
                  <a:lnTo>
                    <a:pt x="0" y="0"/>
                  </a:lnTo>
                  <a:close/>
                </a:path>
              </a:pathLst>
            </a:custGeom>
            <a:blipFill>
              <a:blip r:embed="rId4">
                <a:alphaModFix amt="15300"/>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2279228">
              <a:off x="4803749" y="156972"/>
              <a:ext cx="872157" cy="1051944"/>
            </a:xfrm>
            <a:custGeom>
              <a:avLst/>
              <a:gdLst/>
              <a:ahLst/>
              <a:cxnLst/>
              <a:rect r="r" b="b" t="t" l="l"/>
              <a:pathLst>
                <a:path h="1051944" w="872157">
                  <a:moveTo>
                    <a:pt x="0" y="0"/>
                  </a:moveTo>
                  <a:lnTo>
                    <a:pt x="872158" y="0"/>
                  </a:lnTo>
                  <a:lnTo>
                    <a:pt x="872158" y="1051944"/>
                  </a:lnTo>
                  <a:lnTo>
                    <a:pt x="0" y="1051944"/>
                  </a:lnTo>
                  <a:lnTo>
                    <a:pt x="0" y="0"/>
                  </a:lnTo>
                  <a:close/>
                </a:path>
              </a:pathLst>
            </a:custGeom>
            <a:blipFill>
              <a:blip r:embed="rId4">
                <a:alphaModFix amt="15300"/>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701560">
              <a:off x="16308552" y="2540853"/>
              <a:ext cx="1091352" cy="1316324"/>
            </a:xfrm>
            <a:custGeom>
              <a:avLst/>
              <a:gdLst/>
              <a:ahLst/>
              <a:cxnLst/>
              <a:rect r="r" b="b" t="t" l="l"/>
              <a:pathLst>
                <a:path h="1316324" w="1091352">
                  <a:moveTo>
                    <a:pt x="0" y="0"/>
                  </a:moveTo>
                  <a:lnTo>
                    <a:pt x="1091353" y="0"/>
                  </a:lnTo>
                  <a:lnTo>
                    <a:pt x="1091353" y="1316324"/>
                  </a:lnTo>
                  <a:lnTo>
                    <a:pt x="0" y="1316324"/>
                  </a:lnTo>
                  <a:lnTo>
                    <a:pt x="0" y="0"/>
                  </a:lnTo>
                  <a:close/>
                </a:path>
              </a:pathLst>
            </a:custGeom>
            <a:blipFill>
              <a:blip r:embed="rId4">
                <a:alphaModFix amt="15300"/>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false" flipV="false" rot="-2250332">
              <a:off x="10617995" y="11563283"/>
              <a:ext cx="1157983" cy="1396690"/>
            </a:xfrm>
            <a:custGeom>
              <a:avLst/>
              <a:gdLst/>
              <a:ahLst/>
              <a:cxnLst/>
              <a:rect r="r" b="b" t="t" l="l"/>
              <a:pathLst>
                <a:path h="1396690" w="1157983">
                  <a:moveTo>
                    <a:pt x="0" y="0"/>
                  </a:moveTo>
                  <a:lnTo>
                    <a:pt x="1157983" y="0"/>
                  </a:lnTo>
                  <a:lnTo>
                    <a:pt x="1157983" y="1396690"/>
                  </a:lnTo>
                  <a:lnTo>
                    <a:pt x="0" y="1396690"/>
                  </a:lnTo>
                  <a:lnTo>
                    <a:pt x="0" y="0"/>
                  </a:lnTo>
                  <a:close/>
                </a:path>
              </a:pathLst>
            </a:custGeom>
            <a:blipFill>
              <a:blip r:embed="rId4">
                <a:alphaModFix amt="15300"/>
                <a:extLst>
                  <a:ext uri="{96DAC541-7B7A-43D3-8B79-37D633B846F1}">
                    <asvg:svgBlip xmlns:asvg="http://schemas.microsoft.com/office/drawing/2016/SVG/main" r:embed="rId5"/>
                  </a:ext>
                </a:extLst>
              </a:blip>
              <a:stretch>
                <a:fillRect l="0" t="0" r="0" b="0"/>
              </a:stretch>
            </a:blipFill>
          </p:spPr>
        </p:sp>
      </p:grpSp>
      <p:grpSp>
        <p:nvGrpSpPr>
          <p:cNvPr name="Group 10" id="10"/>
          <p:cNvGrpSpPr/>
          <p:nvPr/>
        </p:nvGrpSpPr>
        <p:grpSpPr>
          <a:xfrm rot="0">
            <a:off x="0" y="1028700"/>
            <a:ext cx="18288000" cy="763888"/>
            <a:chOff x="0" y="0"/>
            <a:chExt cx="4816593" cy="201189"/>
          </a:xfrm>
        </p:grpSpPr>
        <p:sp>
          <p:nvSpPr>
            <p:cNvPr name="Freeform 11" id="11"/>
            <p:cNvSpPr/>
            <p:nvPr/>
          </p:nvSpPr>
          <p:spPr>
            <a:xfrm flipH="false" flipV="false" rot="0">
              <a:off x="0" y="0"/>
              <a:ext cx="4816592" cy="201189"/>
            </a:xfrm>
            <a:custGeom>
              <a:avLst/>
              <a:gdLst/>
              <a:ahLst/>
              <a:cxnLst/>
              <a:rect r="r" b="b" t="t" l="l"/>
              <a:pathLst>
                <a:path h="201189" w="4816592">
                  <a:moveTo>
                    <a:pt x="0" y="0"/>
                  </a:moveTo>
                  <a:lnTo>
                    <a:pt x="4816592" y="0"/>
                  </a:lnTo>
                  <a:lnTo>
                    <a:pt x="4816592" y="201189"/>
                  </a:lnTo>
                  <a:lnTo>
                    <a:pt x="0" y="201189"/>
                  </a:lnTo>
                  <a:close/>
                </a:path>
              </a:pathLst>
            </a:custGeom>
            <a:solidFill>
              <a:srgbClr val="8574D1"/>
            </a:solidFill>
          </p:spPr>
        </p:sp>
        <p:sp>
          <p:nvSpPr>
            <p:cNvPr name="TextBox 12" id="12"/>
            <p:cNvSpPr txBox="true"/>
            <p:nvPr/>
          </p:nvSpPr>
          <p:spPr>
            <a:xfrm>
              <a:off x="0" y="-57150"/>
              <a:ext cx="4816593" cy="258339"/>
            </a:xfrm>
            <a:prstGeom prst="rect">
              <a:avLst/>
            </a:prstGeom>
          </p:spPr>
          <p:txBody>
            <a:bodyPr anchor="ctr" rtlCol="false" tIns="50800" lIns="50800" bIns="50800" rIns="50800"/>
            <a:lstStyle/>
            <a:p>
              <a:pPr algn="ctr">
                <a:lnSpc>
                  <a:spcPts val="4199"/>
                </a:lnSpc>
                <a:spcBef>
                  <a:spcPct val="0"/>
                </a:spcBef>
              </a:pPr>
            </a:p>
          </p:txBody>
        </p:sp>
      </p:grpSp>
      <p:sp>
        <p:nvSpPr>
          <p:cNvPr name="Freeform 13" id="13"/>
          <p:cNvSpPr/>
          <p:nvPr/>
        </p:nvSpPr>
        <p:spPr>
          <a:xfrm flipH="false" flipV="false" rot="0">
            <a:off x="1390435" y="3323659"/>
            <a:ext cx="7873847" cy="4511410"/>
          </a:xfrm>
          <a:custGeom>
            <a:avLst/>
            <a:gdLst/>
            <a:ahLst/>
            <a:cxnLst/>
            <a:rect r="r" b="b" t="t" l="l"/>
            <a:pathLst>
              <a:path h="4511410" w="7873847">
                <a:moveTo>
                  <a:pt x="0" y="0"/>
                </a:moveTo>
                <a:lnTo>
                  <a:pt x="7873846" y="0"/>
                </a:lnTo>
                <a:lnTo>
                  <a:pt x="7873846" y="4511410"/>
                </a:lnTo>
                <a:lnTo>
                  <a:pt x="0" y="4511410"/>
                </a:lnTo>
                <a:lnTo>
                  <a:pt x="0" y="0"/>
                </a:lnTo>
                <a:close/>
              </a:path>
            </a:pathLst>
          </a:custGeom>
          <a:blipFill>
            <a:blip r:embed="rId6"/>
            <a:stretch>
              <a:fillRect l="0" t="0" r="0" b="0"/>
            </a:stretch>
          </a:blipFill>
          <a:ln w="38100" cap="sq">
            <a:solidFill>
              <a:srgbClr val="000000"/>
            </a:solidFill>
            <a:prstDash val="solid"/>
            <a:miter/>
          </a:ln>
        </p:spPr>
      </p:sp>
      <p:sp>
        <p:nvSpPr>
          <p:cNvPr name="Freeform 14" id="14"/>
          <p:cNvSpPr/>
          <p:nvPr/>
        </p:nvSpPr>
        <p:spPr>
          <a:xfrm flipH="false" flipV="false" rot="0">
            <a:off x="9840540" y="3323659"/>
            <a:ext cx="6488633" cy="4511410"/>
          </a:xfrm>
          <a:custGeom>
            <a:avLst/>
            <a:gdLst/>
            <a:ahLst/>
            <a:cxnLst/>
            <a:rect r="r" b="b" t="t" l="l"/>
            <a:pathLst>
              <a:path h="4511410" w="6488633">
                <a:moveTo>
                  <a:pt x="0" y="0"/>
                </a:moveTo>
                <a:lnTo>
                  <a:pt x="6488633" y="0"/>
                </a:lnTo>
                <a:lnTo>
                  <a:pt x="6488633" y="4511410"/>
                </a:lnTo>
                <a:lnTo>
                  <a:pt x="0" y="4511410"/>
                </a:lnTo>
                <a:lnTo>
                  <a:pt x="0" y="0"/>
                </a:lnTo>
                <a:close/>
              </a:path>
            </a:pathLst>
          </a:custGeom>
          <a:blipFill>
            <a:blip r:embed="rId7"/>
            <a:stretch>
              <a:fillRect l="0" t="0" r="0" b="0"/>
            </a:stretch>
          </a:blipFill>
          <a:ln w="38100" cap="sq">
            <a:solidFill>
              <a:srgbClr val="000000"/>
            </a:solidFill>
            <a:prstDash val="solid"/>
            <a:miter/>
          </a:ln>
        </p:spPr>
      </p:sp>
      <p:sp>
        <p:nvSpPr>
          <p:cNvPr name="TextBox 15" id="15"/>
          <p:cNvSpPr txBox="true"/>
          <p:nvPr/>
        </p:nvSpPr>
        <p:spPr>
          <a:xfrm rot="0">
            <a:off x="1390435" y="1004554"/>
            <a:ext cx="12944061" cy="788035"/>
          </a:xfrm>
          <a:prstGeom prst="rect">
            <a:avLst/>
          </a:prstGeom>
        </p:spPr>
        <p:txBody>
          <a:bodyPr anchor="t" rtlCol="false" tIns="0" lIns="0" bIns="0" rIns="0">
            <a:spAutoFit/>
          </a:bodyPr>
          <a:lstStyle/>
          <a:p>
            <a:pPr algn="l">
              <a:lnSpc>
                <a:spcPts val="6440"/>
              </a:lnSpc>
            </a:pPr>
            <a:r>
              <a:rPr lang="en-US" sz="4600" b="true">
                <a:solidFill>
                  <a:srgbClr val="FFFFFF"/>
                </a:solidFill>
                <a:latin typeface="TT Chocolates Bold"/>
                <a:ea typeface="TT Chocolates Bold"/>
                <a:cs typeface="TT Chocolates Bold"/>
                <a:sym typeface="TT Chocolates Bold"/>
              </a:rPr>
              <a:t>4. Seller dengan Revenue Tertinggi </a:t>
            </a:r>
          </a:p>
        </p:txBody>
      </p:sp>
      <p:sp>
        <p:nvSpPr>
          <p:cNvPr name="TextBox 16" id="16"/>
          <p:cNvSpPr txBox="true"/>
          <p:nvPr/>
        </p:nvSpPr>
        <p:spPr>
          <a:xfrm rot="0">
            <a:off x="1390435" y="2325328"/>
            <a:ext cx="3701807" cy="407781"/>
          </a:xfrm>
          <a:prstGeom prst="rect">
            <a:avLst/>
          </a:prstGeom>
        </p:spPr>
        <p:txBody>
          <a:bodyPr anchor="t" rtlCol="false" tIns="0" lIns="0" bIns="0" rIns="0">
            <a:spAutoFit/>
          </a:bodyPr>
          <a:lstStyle/>
          <a:p>
            <a:pPr algn="just">
              <a:lnSpc>
                <a:spcPts val="3248"/>
              </a:lnSpc>
            </a:pPr>
            <a:r>
              <a:rPr lang="en-US" sz="2320">
                <a:solidFill>
                  <a:srgbClr val="0E0340"/>
                </a:solidFill>
                <a:latin typeface="Questrial"/>
                <a:ea typeface="Questrial"/>
                <a:cs typeface="Questrial"/>
                <a:sym typeface="Questrial"/>
              </a:rPr>
              <a:t>SQL Analysis :</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FBFBF9"/>
        </a:solidFill>
      </p:bgPr>
    </p:bg>
    <p:spTree>
      <p:nvGrpSpPr>
        <p:cNvPr id="1" name=""/>
        <p:cNvGrpSpPr/>
        <p:nvPr/>
      </p:nvGrpSpPr>
      <p:grpSpPr>
        <a:xfrm>
          <a:off x="0" y="0"/>
          <a:ext cx="0" cy="0"/>
          <a:chOff x="0" y="0"/>
          <a:chExt cx="0" cy="0"/>
        </a:xfrm>
      </p:grpSpPr>
      <p:grpSp>
        <p:nvGrpSpPr>
          <p:cNvPr name="Group 2" id="2"/>
          <p:cNvGrpSpPr/>
          <p:nvPr/>
        </p:nvGrpSpPr>
        <p:grpSpPr>
          <a:xfrm rot="0">
            <a:off x="11495388" y="0"/>
            <a:ext cx="7498211" cy="11168682"/>
            <a:chOff x="0" y="0"/>
            <a:chExt cx="1974838" cy="2941546"/>
          </a:xfrm>
        </p:grpSpPr>
        <p:sp>
          <p:nvSpPr>
            <p:cNvPr name="Freeform 3" id="3"/>
            <p:cNvSpPr/>
            <p:nvPr/>
          </p:nvSpPr>
          <p:spPr>
            <a:xfrm flipH="false" flipV="false" rot="0">
              <a:off x="0" y="0"/>
              <a:ext cx="1974838" cy="2941546"/>
            </a:xfrm>
            <a:custGeom>
              <a:avLst/>
              <a:gdLst/>
              <a:ahLst/>
              <a:cxnLst/>
              <a:rect r="r" b="b" t="t" l="l"/>
              <a:pathLst>
                <a:path h="2941546" w="1974838">
                  <a:moveTo>
                    <a:pt x="0" y="0"/>
                  </a:moveTo>
                  <a:lnTo>
                    <a:pt x="1974838" y="0"/>
                  </a:lnTo>
                  <a:lnTo>
                    <a:pt x="1974838" y="2941546"/>
                  </a:lnTo>
                  <a:lnTo>
                    <a:pt x="0" y="2941546"/>
                  </a:lnTo>
                  <a:close/>
                </a:path>
              </a:pathLst>
            </a:custGeom>
            <a:solidFill>
              <a:srgbClr val="E0DAED"/>
            </a:solidFill>
          </p:spPr>
        </p:sp>
        <p:sp>
          <p:nvSpPr>
            <p:cNvPr name="TextBox 4" id="4"/>
            <p:cNvSpPr txBox="true"/>
            <p:nvPr/>
          </p:nvSpPr>
          <p:spPr>
            <a:xfrm>
              <a:off x="0" y="-38100"/>
              <a:ext cx="1974838" cy="2979646"/>
            </a:xfrm>
            <a:prstGeom prst="rect">
              <a:avLst/>
            </a:prstGeom>
          </p:spPr>
          <p:txBody>
            <a:bodyPr anchor="ctr" rtlCol="false" tIns="50800" lIns="50800" bIns="50800" rIns="50800"/>
            <a:lstStyle/>
            <a:p>
              <a:pPr algn="ctr">
                <a:lnSpc>
                  <a:spcPts val="2659"/>
                </a:lnSpc>
              </a:pPr>
            </a:p>
          </p:txBody>
        </p:sp>
      </p:grpSp>
      <p:sp>
        <p:nvSpPr>
          <p:cNvPr name="AutoShape 5" id="5"/>
          <p:cNvSpPr/>
          <p:nvPr/>
        </p:nvSpPr>
        <p:spPr>
          <a:xfrm flipH="true">
            <a:off x="11495388" y="0"/>
            <a:ext cx="0" cy="10287000"/>
          </a:xfrm>
          <a:prstGeom prst="line">
            <a:avLst/>
          </a:prstGeom>
          <a:ln cap="flat" w="38100">
            <a:solidFill>
              <a:srgbClr val="602E9E"/>
            </a:solidFill>
            <a:prstDash val="sysDash"/>
            <a:headEnd type="none" len="sm" w="sm"/>
            <a:tailEnd type="none" len="sm" w="sm"/>
          </a:ln>
        </p:spPr>
      </p:sp>
      <p:sp>
        <p:nvSpPr>
          <p:cNvPr name="Freeform 6" id="6"/>
          <p:cNvSpPr/>
          <p:nvPr/>
        </p:nvSpPr>
        <p:spPr>
          <a:xfrm flipH="false" flipV="false" rot="0">
            <a:off x="429730" y="1808187"/>
            <a:ext cx="10523095" cy="6774242"/>
          </a:xfrm>
          <a:custGeom>
            <a:avLst/>
            <a:gdLst/>
            <a:ahLst/>
            <a:cxnLst/>
            <a:rect r="r" b="b" t="t" l="l"/>
            <a:pathLst>
              <a:path h="6774242" w="10523095">
                <a:moveTo>
                  <a:pt x="0" y="0"/>
                </a:moveTo>
                <a:lnTo>
                  <a:pt x="10523095" y="0"/>
                </a:lnTo>
                <a:lnTo>
                  <a:pt x="10523095" y="6774243"/>
                </a:lnTo>
                <a:lnTo>
                  <a:pt x="0" y="6774243"/>
                </a:lnTo>
                <a:lnTo>
                  <a:pt x="0" y="0"/>
                </a:lnTo>
                <a:close/>
              </a:path>
            </a:pathLst>
          </a:custGeom>
          <a:blipFill>
            <a:blip r:embed="rId2"/>
            <a:stretch>
              <a:fillRect l="0" t="0" r="0" b="0"/>
            </a:stretch>
          </a:blipFill>
        </p:spPr>
      </p:sp>
      <p:sp>
        <p:nvSpPr>
          <p:cNvPr name="TextBox 7" id="7"/>
          <p:cNvSpPr txBox="true"/>
          <p:nvPr/>
        </p:nvSpPr>
        <p:spPr>
          <a:xfrm rot="0">
            <a:off x="12038313" y="1985671"/>
            <a:ext cx="5868334" cy="3598670"/>
          </a:xfrm>
          <a:prstGeom prst="rect">
            <a:avLst/>
          </a:prstGeom>
        </p:spPr>
        <p:txBody>
          <a:bodyPr anchor="t" rtlCol="false" tIns="0" lIns="0" bIns="0" rIns="0">
            <a:spAutoFit/>
          </a:bodyPr>
          <a:lstStyle/>
          <a:p>
            <a:pPr algn="just">
              <a:lnSpc>
                <a:spcPts val="3220"/>
              </a:lnSpc>
            </a:pPr>
            <a:r>
              <a:rPr lang="en-US" sz="2300" b="true">
                <a:solidFill>
                  <a:srgbClr val="0E0340"/>
                </a:solidFill>
                <a:latin typeface="TT Chocolates Bold"/>
                <a:ea typeface="TT Chocolates Bold"/>
                <a:cs typeface="TT Chocolates Bold"/>
                <a:sym typeface="TT Chocolates Bold"/>
              </a:rPr>
              <a:t>Insight :</a:t>
            </a:r>
          </a:p>
          <a:p>
            <a:pPr algn="just">
              <a:lnSpc>
                <a:spcPts val="3220"/>
              </a:lnSpc>
            </a:pPr>
            <a:r>
              <a:rPr lang="en-US" sz="2300">
                <a:solidFill>
                  <a:srgbClr val="0E0340"/>
                </a:solidFill>
                <a:latin typeface="TT Chocolates"/>
                <a:ea typeface="TT Chocolates"/>
                <a:cs typeface="TT Chocolates"/>
                <a:sym typeface="TT Chocolates"/>
              </a:rPr>
              <a:t>Berdasarkan grafik di samping, yang berada di kota </a:t>
            </a:r>
            <a:r>
              <a:rPr lang="en-US" b="true" sz="2300" i="true">
                <a:solidFill>
                  <a:srgbClr val="0E0340"/>
                </a:solidFill>
                <a:latin typeface="TT Chocolates Bold Italics"/>
                <a:ea typeface="TT Chocolates Bold Italics"/>
                <a:cs typeface="TT Chocolates Bold Italics"/>
                <a:sym typeface="TT Chocolates Bold Italics"/>
              </a:rPr>
              <a:t>seller Sao Paulo</a:t>
            </a:r>
            <a:r>
              <a:rPr lang="en-US" sz="2300">
                <a:solidFill>
                  <a:srgbClr val="0E0340"/>
                </a:solidFill>
                <a:latin typeface="TT Chocolates"/>
                <a:ea typeface="TT Chocolates"/>
                <a:cs typeface="TT Chocolates"/>
                <a:sym typeface="TT Chocolates"/>
              </a:rPr>
              <a:t> menghasilkan total </a:t>
            </a:r>
            <a:r>
              <a:rPr lang="en-US" sz="2300" u="sng">
                <a:solidFill>
                  <a:srgbClr val="0E0340"/>
                </a:solidFill>
                <a:latin typeface="TT Chocolates"/>
                <a:ea typeface="TT Chocolates"/>
                <a:cs typeface="TT Chocolates"/>
                <a:sym typeface="TT Chocolates"/>
              </a:rPr>
              <a:t>revenue tertinggi </a:t>
            </a:r>
            <a:r>
              <a:rPr lang="en-US" sz="2300">
                <a:solidFill>
                  <a:srgbClr val="0E0340"/>
                </a:solidFill>
                <a:latin typeface="TT Chocolates"/>
                <a:ea typeface="TT Chocolates"/>
                <a:cs typeface="TT Chocolates"/>
                <a:sym typeface="TT Chocolates"/>
              </a:rPr>
              <a:t>seb</a:t>
            </a:r>
            <a:r>
              <a:rPr lang="en-US" sz="2300" u="none">
                <a:solidFill>
                  <a:srgbClr val="0E0340"/>
                </a:solidFill>
                <a:latin typeface="TT Chocolates"/>
                <a:ea typeface="TT Chocolates"/>
                <a:cs typeface="TT Chocolates"/>
                <a:sym typeface="TT Chocolates"/>
              </a:rPr>
              <a:t>e</a:t>
            </a:r>
            <a:r>
              <a:rPr lang="en-US" sz="2300">
                <a:solidFill>
                  <a:srgbClr val="0E0340"/>
                </a:solidFill>
                <a:latin typeface="TT Chocolates"/>
                <a:ea typeface="TT Chocolates"/>
                <a:cs typeface="TT Chocolates"/>
                <a:sym typeface="TT Chocolates"/>
              </a:rPr>
              <a:t>s</a:t>
            </a:r>
            <a:r>
              <a:rPr lang="en-US" sz="2300" u="none">
                <a:solidFill>
                  <a:srgbClr val="0E0340"/>
                </a:solidFill>
                <a:latin typeface="TT Chocolates"/>
                <a:ea typeface="TT Chocolates"/>
                <a:cs typeface="TT Chocolates"/>
                <a:sym typeface="TT Chocolates"/>
              </a:rPr>
              <a:t>ar </a:t>
            </a:r>
            <a:r>
              <a:rPr lang="en-US" sz="2300" i="true">
                <a:solidFill>
                  <a:srgbClr val="0E0340"/>
                </a:solidFill>
                <a:latin typeface="TT Chocolates Italics"/>
                <a:ea typeface="TT Chocolates Italics"/>
                <a:cs typeface="TT Chocolates Italics"/>
                <a:sym typeface="TT Chocolates Italics"/>
              </a:rPr>
              <a:t>3,6 juta</a:t>
            </a:r>
            <a:r>
              <a:rPr lang="en-US" sz="2300">
                <a:solidFill>
                  <a:srgbClr val="0E0340"/>
                </a:solidFill>
                <a:latin typeface="TT Chocolates"/>
                <a:ea typeface="TT Chocolates"/>
                <a:cs typeface="TT Chocolates"/>
                <a:sym typeface="TT Chocolates"/>
              </a:rPr>
              <a:t>. Hal tersebut dikarenakan Sao Paulo merupakan pusat ekonomi dan bisnis terbesar di Brazil juga didukung oleh kemungkinan  tingginya jumlah seller, customer, dan aktivitas transaksi e-commerce (order)</a:t>
            </a:r>
          </a:p>
        </p:txBody>
      </p:sp>
      <p:sp>
        <p:nvSpPr>
          <p:cNvPr name="TextBox 8" id="8"/>
          <p:cNvSpPr txBox="true"/>
          <p:nvPr/>
        </p:nvSpPr>
        <p:spPr>
          <a:xfrm rot="0">
            <a:off x="429730" y="8829980"/>
            <a:ext cx="10523095" cy="799490"/>
          </a:xfrm>
          <a:prstGeom prst="rect">
            <a:avLst/>
          </a:prstGeom>
        </p:spPr>
        <p:txBody>
          <a:bodyPr anchor="t" rtlCol="false" tIns="0" lIns="0" bIns="0" rIns="0">
            <a:spAutoFit/>
          </a:bodyPr>
          <a:lstStyle/>
          <a:p>
            <a:pPr algn="just">
              <a:lnSpc>
                <a:spcPts val="3183"/>
              </a:lnSpc>
            </a:pPr>
            <a:r>
              <a:rPr lang="en-US" sz="2274">
                <a:solidFill>
                  <a:srgbClr val="0E0340"/>
                </a:solidFill>
                <a:latin typeface="Questrial"/>
                <a:ea typeface="Questrial"/>
                <a:cs typeface="Questrial"/>
                <a:sym typeface="Questrial"/>
              </a:rPr>
              <a:t>Bar chart untuk memudahkan perbandingan total revenue antar kota seller dan membantu mengidentifikasi kota seller dengan kontribusi pendapatan terbesar</a:t>
            </a:r>
          </a:p>
        </p:txBody>
      </p:sp>
      <p:sp>
        <p:nvSpPr>
          <p:cNvPr name="TextBox 9" id="9"/>
          <p:cNvSpPr txBox="true"/>
          <p:nvPr/>
        </p:nvSpPr>
        <p:spPr>
          <a:xfrm rot="0">
            <a:off x="3575063" y="962025"/>
            <a:ext cx="5130883" cy="579867"/>
          </a:xfrm>
          <a:prstGeom prst="rect">
            <a:avLst/>
          </a:prstGeom>
        </p:spPr>
        <p:txBody>
          <a:bodyPr anchor="t" rtlCol="false" tIns="0" lIns="0" bIns="0" rIns="0">
            <a:spAutoFit/>
          </a:bodyPr>
          <a:lstStyle/>
          <a:p>
            <a:pPr algn="just">
              <a:lnSpc>
                <a:spcPts val="4788"/>
              </a:lnSpc>
            </a:pPr>
            <a:r>
              <a:rPr lang="en-US" sz="3420" b="true">
                <a:solidFill>
                  <a:srgbClr val="0E0340"/>
                </a:solidFill>
                <a:latin typeface="TT Chocolates Bold"/>
                <a:ea typeface="TT Chocolates Bold"/>
                <a:cs typeface="TT Chocolates Bold"/>
                <a:sym typeface="TT Chocolates Bold"/>
              </a:rPr>
              <a:t>Hasil Visualisasi (Seaborn)</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bg>
      <p:bgPr>
        <a:solidFill>
          <a:srgbClr val="FBFBF9"/>
        </a:solidFill>
      </p:bgPr>
    </p:bg>
    <p:spTree>
      <p:nvGrpSpPr>
        <p:cNvPr id="1" name=""/>
        <p:cNvGrpSpPr/>
        <p:nvPr/>
      </p:nvGrpSpPr>
      <p:grpSpPr>
        <a:xfrm>
          <a:off x="0" y="0"/>
          <a:ext cx="0" cy="0"/>
          <a:chOff x="0" y="0"/>
          <a:chExt cx="0" cy="0"/>
        </a:xfrm>
      </p:grpSpPr>
      <p:sp>
        <p:nvSpPr>
          <p:cNvPr name="Freeform 2" id="2"/>
          <p:cNvSpPr/>
          <p:nvPr/>
        </p:nvSpPr>
        <p:spPr>
          <a:xfrm flipH="false" flipV="false" rot="0">
            <a:off x="-2267676" y="-6268176"/>
            <a:ext cx="22823352" cy="22823352"/>
          </a:xfrm>
          <a:custGeom>
            <a:avLst/>
            <a:gdLst/>
            <a:ahLst/>
            <a:cxnLst/>
            <a:rect r="r" b="b" t="t" l="l"/>
            <a:pathLst>
              <a:path h="22823352" w="22823352">
                <a:moveTo>
                  <a:pt x="0" y="0"/>
                </a:moveTo>
                <a:lnTo>
                  <a:pt x="22823352" y="0"/>
                </a:lnTo>
                <a:lnTo>
                  <a:pt x="22823352" y="22823352"/>
                </a:lnTo>
                <a:lnTo>
                  <a:pt x="0" y="22823352"/>
                </a:lnTo>
                <a:lnTo>
                  <a:pt x="0" y="0"/>
                </a:lnTo>
                <a:close/>
              </a:path>
            </a:pathLst>
          </a:custGeom>
          <a:blipFill>
            <a:blip r:embed="rId2">
              <a:alphaModFix amt="6000"/>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0" y="1070295"/>
            <a:ext cx="17703247" cy="9876100"/>
            <a:chOff x="0" y="0"/>
            <a:chExt cx="23604329" cy="13168133"/>
          </a:xfrm>
        </p:grpSpPr>
        <p:sp>
          <p:nvSpPr>
            <p:cNvPr name="Freeform 4" id="4"/>
            <p:cNvSpPr/>
            <p:nvPr/>
          </p:nvSpPr>
          <p:spPr>
            <a:xfrm flipH="false" flipV="false" rot="701560">
              <a:off x="197157" y="8873457"/>
              <a:ext cx="1762790" cy="2126173"/>
            </a:xfrm>
            <a:custGeom>
              <a:avLst/>
              <a:gdLst/>
              <a:ahLst/>
              <a:cxnLst/>
              <a:rect r="r" b="b" t="t" l="l"/>
              <a:pathLst>
                <a:path h="2126173" w="1762790">
                  <a:moveTo>
                    <a:pt x="0" y="0"/>
                  </a:moveTo>
                  <a:lnTo>
                    <a:pt x="1762791" y="0"/>
                  </a:lnTo>
                  <a:lnTo>
                    <a:pt x="1762791" y="2126173"/>
                  </a:lnTo>
                  <a:lnTo>
                    <a:pt x="0" y="2126173"/>
                  </a:lnTo>
                  <a:lnTo>
                    <a:pt x="0" y="0"/>
                  </a:lnTo>
                  <a:close/>
                </a:path>
              </a:pathLst>
            </a:custGeom>
            <a:blipFill>
              <a:blip r:embed="rId4">
                <a:alphaModFix amt="15300"/>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2250332">
              <a:off x="22140847" y="891104"/>
              <a:ext cx="1157983" cy="1396690"/>
            </a:xfrm>
            <a:custGeom>
              <a:avLst/>
              <a:gdLst/>
              <a:ahLst/>
              <a:cxnLst/>
              <a:rect r="r" b="b" t="t" l="l"/>
              <a:pathLst>
                <a:path h="1396690" w="1157983">
                  <a:moveTo>
                    <a:pt x="0" y="0"/>
                  </a:moveTo>
                  <a:lnTo>
                    <a:pt x="1157984" y="0"/>
                  </a:lnTo>
                  <a:lnTo>
                    <a:pt x="1157984" y="1396691"/>
                  </a:lnTo>
                  <a:lnTo>
                    <a:pt x="0" y="1396691"/>
                  </a:lnTo>
                  <a:lnTo>
                    <a:pt x="0" y="0"/>
                  </a:lnTo>
                  <a:close/>
                </a:path>
              </a:pathLst>
            </a:custGeom>
            <a:blipFill>
              <a:blip r:embed="rId4">
                <a:alphaModFix amt="15300"/>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701560">
              <a:off x="21052452" y="9468395"/>
              <a:ext cx="1762790" cy="2126173"/>
            </a:xfrm>
            <a:custGeom>
              <a:avLst/>
              <a:gdLst/>
              <a:ahLst/>
              <a:cxnLst/>
              <a:rect r="r" b="b" t="t" l="l"/>
              <a:pathLst>
                <a:path h="2126173" w="1762790">
                  <a:moveTo>
                    <a:pt x="0" y="0"/>
                  </a:moveTo>
                  <a:lnTo>
                    <a:pt x="1762791" y="0"/>
                  </a:lnTo>
                  <a:lnTo>
                    <a:pt x="1762791" y="2126173"/>
                  </a:lnTo>
                  <a:lnTo>
                    <a:pt x="0" y="2126173"/>
                  </a:lnTo>
                  <a:lnTo>
                    <a:pt x="0" y="0"/>
                  </a:lnTo>
                  <a:close/>
                </a:path>
              </a:pathLst>
            </a:custGeom>
            <a:blipFill>
              <a:blip r:embed="rId4">
                <a:alphaModFix amt="15300"/>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2279228">
              <a:off x="4803749" y="156972"/>
              <a:ext cx="872157" cy="1051944"/>
            </a:xfrm>
            <a:custGeom>
              <a:avLst/>
              <a:gdLst/>
              <a:ahLst/>
              <a:cxnLst/>
              <a:rect r="r" b="b" t="t" l="l"/>
              <a:pathLst>
                <a:path h="1051944" w="872157">
                  <a:moveTo>
                    <a:pt x="0" y="0"/>
                  </a:moveTo>
                  <a:lnTo>
                    <a:pt x="872158" y="0"/>
                  </a:lnTo>
                  <a:lnTo>
                    <a:pt x="872158" y="1051944"/>
                  </a:lnTo>
                  <a:lnTo>
                    <a:pt x="0" y="1051944"/>
                  </a:lnTo>
                  <a:lnTo>
                    <a:pt x="0" y="0"/>
                  </a:lnTo>
                  <a:close/>
                </a:path>
              </a:pathLst>
            </a:custGeom>
            <a:blipFill>
              <a:blip r:embed="rId4">
                <a:alphaModFix amt="15300"/>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701560">
              <a:off x="16308552" y="2540853"/>
              <a:ext cx="1091352" cy="1316324"/>
            </a:xfrm>
            <a:custGeom>
              <a:avLst/>
              <a:gdLst/>
              <a:ahLst/>
              <a:cxnLst/>
              <a:rect r="r" b="b" t="t" l="l"/>
              <a:pathLst>
                <a:path h="1316324" w="1091352">
                  <a:moveTo>
                    <a:pt x="0" y="0"/>
                  </a:moveTo>
                  <a:lnTo>
                    <a:pt x="1091353" y="0"/>
                  </a:lnTo>
                  <a:lnTo>
                    <a:pt x="1091353" y="1316324"/>
                  </a:lnTo>
                  <a:lnTo>
                    <a:pt x="0" y="1316324"/>
                  </a:lnTo>
                  <a:lnTo>
                    <a:pt x="0" y="0"/>
                  </a:lnTo>
                  <a:close/>
                </a:path>
              </a:pathLst>
            </a:custGeom>
            <a:blipFill>
              <a:blip r:embed="rId4">
                <a:alphaModFix amt="15300"/>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false" flipV="false" rot="-2250332">
              <a:off x="10617995" y="11563283"/>
              <a:ext cx="1157983" cy="1396690"/>
            </a:xfrm>
            <a:custGeom>
              <a:avLst/>
              <a:gdLst/>
              <a:ahLst/>
              <a:cxnLst/>
              <a:rect r="r" b="b" t="t" l="l"/>
              <a:pathLst>
                <a:path h="1396690" w="1157983">
                  <a:moveTo>
                    <a:pt x="0" y="0"/>
                  </a:moveTo>
                  <a:lnTo>
                    <a:pt x="1157983" y="0"/>
                  </a:lnTo>
                  <a:lnTo>
                    <a:pt x="1157983" y="1396690"/>
                  </a:lnTo>
                  <a:lnTo>
                    <a:pt x="0" y="1396690"/>
                  </a:lnTo>
                  <a:lnTo>
                    <a:pt x="0" y="0"/>
                  </a:lnTo>
                  <a:close/>
                </a:path>
              </a:pathLst>
            </a:custGeom>
            <a:blipFill>
              <a:blip r:embed="rId4">
                <a:alphaModFix amt="15300"/>
                <a:extLst>
                  <a:ext uri="{96DAC541-7B7A-43D3-8B79-37D633B846F1}">
                    <asvg:svgBlip xmlns:asvg="http://schemas.microsoft.com/office/drawing/2016/SVG/main" r:embed="rId5"/>
                  </a:ext>
                </a:extLst>
              </a:blip>
              <a:stretch>
                <a:fillRect l="0" t="0" r="0" b="0"/>
              </a:stretch>
            </a:blipFill>
          </p:spPr>
        </p:sp>
      </p:grpSp>
      <p:grpSp>
        <p:nvGrpSpPr>
          <p:cNvPr name="Group 10" id="10"/>
          <p:cNvGrpSpPr/>
          <p:nvPr/>
        </p:nvGrpSpPr>
        <p:grpSpPr>
          <a:xfrm rot="0">
            <a:off x="0" y="1028700"/>
            <a:ext cx="18288000" cy="763888"/>
            <a:chOff x="0" y="0"/>
            <a:chExt cx="4816593" cy="201189"/>
          </a:xfrm>
        </p:grpSpPr>
        <p:sp>
          <p:nvSpPr>
            <p:cNvPr name="Freeform 11" id="11"/>
            <p:cNvSpPr/>
            <p:nvPr/>
          </p:nvSpPr>
          <p:spPr>
            <a:xfrm flipH="false" flipV="false" rot="0">
              <a:off x="0" y="0"/>
              <a:ext cx="4816592" cy="201189"/>
            </a:xfrm>
            <a:custGeom>
              <a:avLst/>
              <a:gdLst/>
              <a:ahLst/>
              <a:cxnLst/>
              <a:rect r="r" b="b" t="t" l="l"/>
              <a:pathLst>
                <a:path h="201189" w="4816592">
                  <a:moveTo>
                    <a:pt x="0" y="0"/>
                  </a:moveTo>
                  <a:lnTo>
                    <a:pt x="4816592" y="0"/>
                  </a:lnTo>
                  <a:lnTo>
                    <a:pt x="4816592" y="201189"/>
                  </a:lnTo>
                  <a:lnTo>
                    <a:pt x="0" y="201189"/>
                  </a:lnTo>
                  <a:close/>
                </a:path>
              </a:pathLst>
            </a:custGeom>
            <a:solidFill>
              <a:srgbClr val="8574D1"/>
            </a:solidFill>
          </p:spPr>
        </p:sp>
        <p:sp>
          <p:nvSpPr>
            <p:cNvPr name="TextBox 12" id="12"/>
            <p:cNvSpPr txBox="true"/>
            <p:nvPr/>
          </p:nvSpPr>
          <p:spPr>
            <a:xfrm>
              <a:off x="0" y="-57150"/>
              <a:ext cx="4816593" cy="258339"/>
            </a:xfrm>
            <a:prstGeom prst="rect">
              <a:avLst/>
            </a:prstGeom>
          </p:spPr>
          <p:txBody>
            <a:bodyPr anchor="ctr" rtlCol="false" tIns="50800" lIns="50800" bIns="50800" rIns="50800"/>
            <a:lstStyle/>
            <a:p>
              <a:pPr algn="ctr">
                <a:lnSpc>
                  <a:spcPts val="4199"/>
                </a:lnSpc>
                <a:spcBef>
                  <a:spcPct val="0"/>
                </a:spcBef>
              </a:pPr>
            </a:p>
          </p:txBody>
        </p:sp>
      </p:grpSp>
      <p:sp>
        <p:nvSpPr>
          <p:cNvPr name="Freeform 13" id="13"/>
          <p:cNvSpPr/>
          <p:nvPr/>
        </p:nvSpPr>
        <p:spPr>
          <a:xfrm flipH="false" flipV="false" rot="0">
            <a:off x="1028700" y="3323370"/>
            <a:ext cx="7870925" cy="3784440"/>
          </a:xfrm>
          <a:custGeom>
            <a:avLst/>
            <a:gdLst/>
            <a:ahLst/>
            <a:cxnLst/>
            <a:rect r="r" b="b" t="t" l="l"/>
            <a:pathLst>
              <a:path h="3784440" w="7870925">
                <a:moveTo>
                  <a:pt x="0" y="0"/>
                </a:moveTo>
                <a:lnTo>
                  <a:pt x="7870925" y="0"/>
                </a:lnTo>
                <a:lnTo>
                  <a:pt x="7870925" y="3784441"/>
                </a:lnTo>
                <a:lnTo>
                  <a:pt x="0" y="3784441"/>
                </a:lnTo>
                <a:lnTo>
                  <a:pt x="0" y="0"/>
                </a:lnTo>
                <a:close/>
              </a:path>
            </a:pathLst>
          </a:custGeom>
          <a:blipFill>
            <a:blip r:embed="rId6"/>
            <a:stretch>
              <a:fillRect l="0" t="0" r="0" b="0"/>
            </a:stretch>
          </a:blipFill>
          <a:ln w="38100" cap="sq">
            <a:solidFill>
              <a:srgbClr val="000000"/>
            </a:solidFill>
            <a:prstDash val="solid"/>
            <a:miter/>
          </a:ln>
        </p:spPr>
      </p:sp>
      <p:sp>
        <p:nvSpPr>
          <p:cNvPr name="Freeform 14" id="14"/>
          <p:cNvSpPr/>
          <p:nvPr/>
        </p:nvSpPr>
        <p:spPr>
          <a:xfrm flipH="false" flipV="false" rot="0">
            <a:off x="10324870" y="3323370"/>
            <a:ext cx="6934430" cy="3784440"/>
          </a:xfrm>
          <a:custGeom>
            <a:avLst/>
            <a:gdLst/>
            <a:ahLst/>
            <a:cxnLst/>
            <a:rect r="r" b="b" t="t" l="l"/>
            <a:pathLst>
              <a:path h="3784440" w="6934430">
                <a:moveTo>
                  <a:pt x="0" y="0"/>
                </a:moveTo>
                <a:lnTo>
                  <a:pt x="6934430" y="0"/>
                </a:lnTo>
                <a:lnTo>
                  <a:pt x="6934430" y="3784441"/>
                </a:lnTo>
                <a:lnTo>
                  <a:pt x="0" y="3784441"/>
                </a:lnTo>
                <a:lnTo>
                  <a:pt x="0" y="0"/>
                </a:lnTo>
                <a:close/>
              </a:path>
            </a:pathLst>
          </a:custGeom>
          <a:blipFill>
            <a:blip r:embed="rId7"/>
            <a:stretch>
              <a:fillRect l="0" t="0" r="0" b="0"/>
            </a:stretch>
          </a:blipFill>
          <a:ln w="38100" cap="sq">
            <a:solidFill>
              <a:srgbClr val="000000"/>
            </a:solidFill>
            <a:prstDash val="solid"/>
            <a:miter/>
          </a:ln>
        </p:spPr>
      </p:sp>
      <p:sp>
        <p:nvSpPr>
          <p:cNvPr name="TextBox 15" id="15"/>
          <p:cNvSpPr txBox="true"/>
          <p:nvPr/>
        </p:nvSpPr>
        <p:spPr>
          <a:xfrm rot="0">
            <a:off x="1028700" y="1004554"/>
            <a:ext cx="12944061" cy="788035"/>
          </a:xfrm>
          <a:prstGeom prst="rect">
            <a:avLst/>
          </a:prstGeom>
        </p:spPr>
        <p:txBody>
          <a:bodyPr anchor="t" rtlCol="false" tIns="0" lIns="0" bIns="0" rIns="0">
            <a:spAutoFit/>
          </a:bodyPr>
          <a:lstStyle/>
          <a:p>
            <a:pPr algn="l">
              <a:lnSpc>
                <a:spcPts val="6440"/>
              </a:lnSpc>
            </a:pPr>
            <a:r>
              <a:rPr lang="en-US" sz="4600" b="true">
                <a:solidFill>
                  <a:srgbClr val="FFFFFF"/>
                </a:solidFill>
                <a:latin typeface="TT Chocolates Bold"/>
                <a:ea typeface="TT Chocolates Bold"/>
                <a:cs typeface="TT Chocolates Bold"/>
                <a:sym typeface="TT Chocolates Bold"/>
              </a:rPr>
              <a:t>5. Kategori Produk yang Paling Banyak Terjual </a:t>
            </a:r>
          </a:p>
        </p:txBody>
      </p:sp>
      <p:sp>
        <p:nvSpPr>
          <p:cNvPr name="TextBox 16" id="16"/>
          <p:cNvSpPr txBox="true"/>
          <p:nvPr/>
        </p:nvSpPr>
        <p:spPr>
          <a:xfrm rot="0">
            <a:off x="1028700" y="2325514"/>
            <a:ext cx="3701807" cy="407781"/>
          </a:xfrm>
          <a:prstGeom prst="rect">
            <a:avLst/>
          </a:prstGeom>
        </p:spPr>
        <p:txBody>
          <a:bodyPr anchor="t" rtlCol="false" tIns="0" lIns="0" bIns="0" rIns="0">
            <a:spAutoFit/>
          </a:bodyPr>
          <a:lstStyle/>
          <a:p>
            <a:pPr algn="just">
              <a:lnSpc>
                <a:spcPts val="3248"/>
              </a:lnSpc>
            </a:pPr>
            <a:r>
              <a:rPr lang="en-US" sz="2320">
                <a:solidFill>
                  <a:srgbClr val="0E0340"/>
                </a:solidFill>
                <a:latin typeface="Questrial"/>
                <a:ea typeface="Questrial"/>
                <a:cs typeface="Questrial"/>
                <a:sym typeface="Questrial"/>
              </a:rPr>
              <a:t>SQL Analysis :</a:t>
            </a: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bg>
      <p:bgPr>
        <a:solidFill>
          <a:srgbClr val="FBFBF9"/>
        </a:solidFill>
      </p:bgPr>
    </p:bg>
    <p:spTree>
      <p:nvGrpSpPr>
        <p:cNvPr id="1" name=""/>
        <p:cNvGrpSpPr/>
        <p:nvPr/>
      </p:nvGrpSpPr>
      <p:grpSpPr>
        <a:xfrm>
          <a:off x="0" y="0"/>
          <a:ext cx="0" cy="0"/>
          <a:chOff x="0" y="0"/>
          <a:chExt cx="0" cy="0"/>
        </a:xfrm>
      </p:grpSpPr>
      <p:grpSp>
        <p:nvGrpSpPr>
          <p:cNvPr name="Group 2" id="2"/>
          <p:cNvGrpSpPr/>
          <p:nvPr/>
        </p:nvGrpSpPr>
        <p:grpSpPr>
          <a:xfrm rot="0">
            <a:off x="11770598" y="0"/>
            <a:ext cx="7223001" cy="11168682"/>
            <a:chOff x="0" y="0"/>
            <a:chExt cx="1902354" cy="2941546"/>
          </a:xfrm>
        </p:grpSpPr>
        <p:sp>
          <p:nvSpPr>
            <p:cNvPr name="Freeform 3" id="3"/>
            <p:cNvSpPr/>
            <p:nvPr/>
          </p:nvSpPr>
          <p:spPr>
            <a:xfrm flipH="false" flipV="false" rot="0">
              <a:off x="0" y="0"/>
              <a:ext cx="1902354" cy="2941546"/>
            </a:xfrm>
            <a:custGeom>
              <a:avLst/>
              <a:gdLst/>
              <a:ahLst/>
              <a:cxnLst/>
              <a:rect r="r" b="b" t="t" l="l"/>
              <a:pathLst>
                <a:path h="2941546" w="1902354">
                  <a:moveTo>
                    <a:pt x="0" y="0"/>
                  </a:moveTo>
                  <a:lnTo>
                    <a:pt x="1902354" y="0"/>
                  </a:lnTo>
                  <a:lnTo>
                    <a:pt x="1902354" y="2941546"/>
                  </a:lnTo>
                  <a:lnTo>
                    <a:pt x="0" y="2941546"/>
                  </a:lnTo>
                  <a:close/>
                </a:path>
              </a:pathLst>
            </a:custGeom>
            <a:solidFill>
              <a:srgbClr val="E0DAED"/>
            </a:solidFill>
          </p:spPr>
        </p:sp>
        <p:sp>
          <p:nvSpPr>
            <p:cNvPr name="TextBox 4" id="4"/>
            <p:cNvSpPr txBox="true"/>
            <p:nvPr/>
          </p:nvSpPr>
          <p:spPr>
            <a:xfrm>
              <a:off x="0" y="-38100"/>
              <a:ext cx="1902354" cy="2979646"/>
            </a:xfrm>
            <a:prstGeom prst="rect">
              <a:avLst/>
            </a:prstGeom>
          </p:spPr>
          <p:txBody>
            <a:bodyPr anchor="ctr" rtlCol="false" tIns="50800" lIns="50800" bIns="50800" rIns="50800"/>
            <a:lstStyle/>
            <a:p>
              <a:pPr algn="ctr">
                <a:lnSpc>
                  <a:spcPts val="2659"/>
                </a:lnSpc>
              </a:pPr>
            </a:p>
          </p:txBody>
        </p:sp>
      </p:grpSp>
      <p:sp>
        <p:nvSpPr>
          <p:cNvPr name="AutoShape 5" id="5"/>
          <p:cNvSpPr/>
          <p:nvPr/>
        </p:nvSpPr>
        <p:spPr>
          <a:xfrm flipH="true">
            <a:off x="11770598" y="0"/>
            <a:ext cx="0" cy="10287000"/>
          </a:xfrm>
          <a:prstGeom prst="line">
            <a:avLst/>
          </a:prstGeom>
          <a:ln cap="flat" w="38100">
            <a:solidFill>
              <a:srgbClr val="602E9E"/>
            </a:solidFill>
            <a:prstDash val="sysDash"/>
            <a:headEnd type="none" len="sm" w="sm"/>
            <a:tailEnd type="none" len="sm" w="sm"/>
          </a:ln>
        </p:spPr>
      </p:sp>
      <p:sp>
        <p:nvSpPr>
          <p:cNvPr name="Freeform 6" id="6"/>
          <p:cNvSpPr/>
          <p:nvPr/>
        </p:nvSpPr>
        <p:spPr>
          <a:xfrm flipH="false" flipV="false" rot="0">
            <a:off x="589469" y="1344364"/>
            <a:ext cx="10826017" cy="6942183"/>
          </a:xfrm>
          <a:custGeom>
            <a:avLst/>
            <a:gdLst/>
            <a:ahLst/>
            <a:cxnLst/>
            <a:rect r="r" b="b" t="t" l="l"/>
            <a:pathLst>
              <a:path h="6942183" w="10826017">
                <a:moveTo>
                  <a:pt x="0" y="0"/>
                </a:moveTo>
                <a:lnTo>
                  <a:pt x="10826017" y="0"/>
                </a:lnTo>
                <a:lnTo>
                  <a:pt x="10826017" y="6942183"/>
                </a:lnTo>
                <a:lnTo>
                  <a:pt x="0" y="6942183"/>
                </a:lnTo>
                <a:lnTo>
                  <a:pt x="0" y="0"/>
                </a:lnTo>
                <a:close/>
              </a:path>
            </a:pathLst>
          </a:custGeom>
          <a:blipFill>
            <a:blip r:embed="rId2"/>
            <a:stretch>
              <a:fillRect l="0" t="0" r="0" b="0"/>
            </a:stretch>
          </a:blipFill>
        </p:spPr>
      </p:sp>
      <p:sp>
        <p:nvSpPr>
          <p:cNvPr name="TextBox 7" id="7"/>
          <p:cNvSpPr txBox="true"/>
          <p:nvPr/>
        </p:nvSpPr>
        <p:spPr>
          <a:xfrm rot="0">
            <a:off x="12077970" y="1539402"/>
            <a:ext cx="5723965" cy="4399280"/>
          </a:xfrm>
          <a:prstGeom prst="rect">
            <a:avLst/>
          </a:prstGeom>
        </p:spPr>
        <p:txBody>
          <a:bodyPr anchor="t" rtlCol="false" tIns="0" lIns="0" bIns="0" rIns="0">
            <a:spAutoFit/>
          </a:bodyPr>
          <a:lstStyle/>
          <a:p>
            <a:pPr algn="just">
              <a:lnSpc>
                <a:spcPts val="3220"/>
              </a:lnSpc>
            </a:pPr>
            <a:r>
              <a:rPr lang="en-US" sz="2300" b="true">
                <a:solidFill>
                  <a:srgbClr val="0E0340"/>
                </a:solidFill>
                <a:latin typeface="TT Chocolates Bold"/>
                <a:ea typeface="TT Chocolates Bold"/>
                <a:cs typeface="TT Chocolates Bold"/>
                <a:sym typeface="TT Chocolates Bold"/>
              </a:rPr>
              <a:t>Insight :</a:t>
            </a:r>
            <a:r>
              <a:rPr lang="en-US" sz="2300" b="true">
                <a:solidFill>
                  <a:srgbClr val="0E0340"/>
                </a:solidFill>
                <a:latin typeface="TT Chocolates Bold"/>
                <a:ea typeface="TT Chocolates Bold"/>
                <a:cs typeface="TT Chocolates Bold"/>
                <a:sym typeface="TT Chocolates Bold"/>
              </a:rPr>
              <a:t> </a:t>
            </a:r>
          </a:p>
          <a:p>
            <a:pPr algn="just">
              <a:lnSpc>
                <a:spcPts val="3220"/>
              </a:lnSpc>
            </a:pPr>
            <a:r>
              <a:rPr lang="en-US" sz="2300">
                <a:solidFill>
                  <a:srgbClr val="0E0340"/>
                </a:solidFill>
                <a:latin typeface="TT Chocolates"/>
                <a:ea typeface="TT Chocolates"/>
                <a:cs typeface="TT Chocolates"/>
                <a:sym typeface="TT Chocolates"/>
              </a:rPr>
              <a:t>Berdasarkan grafik di samping, dapat disimpulkan bahwa kategori </a:t>
            </a:r>
            <a:r>
              <a:rPr lang="en-US" b="true" sz="2300" i="true">
                <a:solidFill>
                  <a:srgbClr val="0E0340"/>
                </a:solidFill>
                <a:latin typeface="TT Chocolates Bold Italics"/>
                <a:ea typeface="TT Chocolates Bold Italics"/>
                <a:cs typeface="TT Chocolates Bold Italics"/>
                <a:sym typeface="TT Chocolates Bold Italics"/>
              </a:rPr>
              <a:t>cama mesa banho</a:t>
            </a:r>
            <a:r>
              <a:rPr lang="en-US" sz="2300">
                <a:solidFill>
                  <a:srgbClr val="0E0340"/>
                </a:solidFill>
                <a:latin typeface="TT Chocolates"/>
                <a:ea typeface="TT Chocolates"/>
                <a:cs typeface="TT Chocolates"/>
                <a:sym typeface="TT Chocolates"/>
              </a:rPr>
              <a:t> (perlengkapan rumah tangga untuk kamar tidur, meja makan, dan kamar mandi) merupakan kategori yang </a:t>
            </a:r>
            <a:r>
              <a:rPr lang="en-US" sz="2300" u="sng">
                <a:solidFill>
                  <a:srgbClr val="0E0340"/>
                </a:solidFill>
                <a:latin typeface="TT Chocolates"/>
                <a:ea typeface="TT Chocolates"/>
                <a:cs typeface="TT Chocolates"/>
                <a:sym typeface="TT Chocolates"/>
              </a:rPr>
              <a:t>paling banyak terjual.</a:t>
            </a:r>
            <a:r>
              <a:rPr lang="en-US" sz="2300">
                <a:solidFill>
                  <a:srgbClr val="0E0340"/>
                </a:solidFill>
                <a:latin typeface="TT Chocolates"/>
                <a:ea typeface="TT Chocolates"/>
                <a:cs typeface="TT Chocolates"/>
                <a:sym typeface="TT Chocolates"/>
              </a:rPr>
              <a:t> Hal tersebut dikarenakan barang tersebut termasuk kebutuhan rumah tangga yang digunakan hampir semua orang yang permintaannya cenderung stabil sepanjang tahun dibanding kategori lainnya.</a:t>
            </a:r>
          </a:p>
        </p:txBody>
      </p:sp>
      <p:sp>
        <p:nvSpPr>
          <p:cNvPr name="TextBox 8" id="8"/>
          <p:cNvSpPr txBox="true"/>
          <p:nvPr/>
        </p:nvSpPr>
        <p:spPr>
          <a:xfrm rot="0">
            <a:off x="589469" y="8543722"/>
            <a:ext cx="10826017" cy="799490"/>
          </a:xfrm>
          <a:prstGeom prst="rect">
            <a:avLst/>
          </a:prstGeom>
        </p:spPr>
        <p:txBody>
          <a:bodyPr anchor="t" rtlCol="false" tIns="0" lIns="0" bIns="0" rIns="0">
            <a:spAutoFit/>
          </a:bodyPr>
          <a:lstStyle/>
          <a:p>
            <a:pPr algn="just">
              <a:lnSpc>
                <a:spcPts val="3183"/>
              </a:lnSpc>
            </a:pPr>
            <a:r>
              <a:rPr lang="en-US" sz="2274">
                <a:solidFill>
                  <a:srgbClr val="0E0340"/>
                </a:solidFill>
                <a:latin typeface="Questrial"/>
                <a:ea typeface="Questrial"/>
                <a:cs typeface="Questrial"/>
                <a:sym typeface="Questrial"/>
              </a:rPr>
              <a:t>Bar chart untuk memudahkan perbandingan total produk terjual antar kategori produk dan membantu mengidentifikasi kategori dengan jumlah produk terjual</a:t>
            </a:r>
          </a:p>
        </p:txBody>
      </p:sp>
      <p:sp>
        <p:nvSpPr>
          <p:cNvPr name="TextBox 9" id="9"/>
          <p:cNvSpPr txBox="true"/>
          <p:nvPr/>
        </p:nvSpPr>
        <p:spPr>
          <a:xfrm rot="0">
            <a:off x="3415746" y="448833"/>
            <a:ext cx="5217505" cy="579867"/>
          </a:xfrm>
          <a:prstGeom prst="rect">
            <a:avLst/>
          </a:prstGeom>
        </p:spPr>
        <p:txBody>
          <a:bodyPr anchor="t" rtlCol="false" tIns="0" lIns="0" bIns="0" rIns="0">
            <a:spAutoFit/>
          </a:bodyPr>
          <a:lstStyle/>
          <a:p>
            <a:pPr algn="just">
              <a:lnSpc>
                <a:spcPts val="4788"/>
              </a:lnSpc>
            </a:pPr>
            <a:r>
              <a:rPr lang="en-US" sz="3420" b="true">
                <a:solidFill>
                  <a:srgbClr val="0E0340"/>
                </a:solidFill>
                <a:latin typeface="TT Chocolates Bold"/>
                <a:ea typeface="TT Chocolates Bold"/>
                <a:cs typeface="TT Chocolates Bold"/>
                <a:sym typeface="TT Chocolates Bold"/>
              </a:rPr>
              <a:t>Hasil Visualisasi (Seaborn)</a:t>
            </a: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bg>
      <p:bgPr>
        <a:solidFill>
          <a:srgbClr val="FBFBF9"/>
        </a:solidFill>
      </p:bgPr>
    </p:bg>
    <p:spTree>
      <p:nvGrpSpPr>
        <p:cNvPr id="1" name=""/>
        <p:cNvGrpSpPr/>
        <p:nvPr/>
      </p:nvGrpSpPr>
      <p:grpSpPr>
        <a:xfrm>
          <a:off x="0" y="0"/>
          <a:ext cx="0" cy="0"/>
          <a:chOff x="0" y="0"/>
          <a:chExt cx="0" cy="0"/>
        </a:xfrm>
      </p:grpSpPr>
      <p:sp>
        <p:nvSpPr>
          <p:cNvPr name="Freeform 2" id="2"/>
          <p:cNvSpPr/>
          <p:nvPr/>
        </p:nvSpPr>
        <p:spPr>
          <a:xfrm flipH="false" flipV="false" rot="0">
            <a:off x="-2267676" y="-6268176"/>
            <a:ext cx="22823352" cy="22823352"/>
          </a:xfrm>
          <a:custGeom>
            <a:avLst/>
            <a:gdLst/>
            <a:ahLst/>
            <a:cxnLst/>
            <a:rect r="r" b="b" t="t" l="l"/>
            <a:pathLst>
              <a:path h="22823352" w="22823352">
                <a:moveTo>
                  <a:pt x="0" y="0"/>
                </a:moveTo>
                <a:lnTo>
                  <a:pt x="22823352" y="0"/>
                </a:lnTo>
                <a:lnTo>
                  <a:pt x="22823352" y="22823352"/>
                </a:lnTo>
                <a:lnTo>
                  <a:pt x="0" y="22823352"/>
                </a:lnTo>
                <a:lnTo>
                  <a:pt x="0" y="0"/>
                </a:lnTo>
                <a:close/>
              </a:path>
            </a:pathLst>
          </a:custGeom>
          <a:blipFill>
            <a:blip r:embed="rId2">
              <a:alphaModFix amt="6000"/>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0" y="1070295"/>
            <a:ext cx="17703247" cy="9876100"/>
            <a:chOff x="0" y="0"/>
            <a:chExt cx="23604329" cy="13168133"/>
          </a:xfrm>
        </p:grpSpPr>
        <p:sp>
          <p:nvSpPr>
            <p:cNvPr name="Freeform 4" id="4"/>
            <p:cNvSpPr/>
            <p:nvPr/>
          </p:nvSpPr>
          <p:spPr>
            <a:xfrm flipH="false" flipV="false" rot="701560">
              <a:off x="197157" y="8873457"/>
              <a:ext cx="1762790" cy="2126173"/>
            </a:xfrm>
            <a:custGeom>
              <a:avLst/>
              <a:gdLst/>
              <a:ahLst/>
              <a:cxnLst/>
              <a:rect r="r" b="b" t="t" l="l"/>
              <a:pathLst>
                <a:path h="2126173" w="1762790">
                  <a:moveTo>
                    <a:pt x="0" y="0"/>
                  </a:moveTo>
                  <a:lnTo>
                    <a:pt x="1762791" y="0"/>
                  </a:lnTo>
                  <a:lnTo>
                    <a:pt x="1762791" y="2126173"/>
                  </a:lnTo>
                  <a:lnTo>
                    <a:pt x="0" y="2126173"/>
                  </a:lnTo>
                  <a:lnTo>
                    <a:pt x="0" y="0"/>
                  </a:lnTo>
                  <a:close/>
                </a:path>
              </a:pathLst>
            </a:custGeom>
            <a:blipFill>
              <a:blip r:embed="rId4">
                <a:alphaModFix amt="15300"/>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2250332">
              <a:off x="22140847" y="891104"/>
              <a:ext cx="1157983" cy="1396690"/>
            </a:xfrm>
            <a:custGeom>
              <a:avLst/>
              <a:gdLst/>
              <a:ahLst/>
              <a:cxnLst/>
              <a:rect r="r" b="b" t="t" l="l"/>
              <a:pathLst>
                <a:path h="1396690" w="1157983">
                  <a:moveTo>
                    <a:pt x="0" y="0"/>
                  </a:moveTo>
                  <a:lnTo>
                    <a:pt x="1157984" y="0"/>
                  </a:lnTo>
                  <a:lnTo>
                    <a:pt x="1157984" y="1396691"/>
                  </a:lnTo>
                  <a:lnTo>
                    <a:pt x="0" y="1396691"/>
                  </a:lnTo>
                  <a:lnTo>
                    <a:pt x="0" y="0"/>
                  </a:lnTo>
                  <a:close/>
                </a:path>
              </a:pathLst>
            </a:custGeom>
            <a:blipFill>
              <a:blip r:embed="rId4">
                <a:alphaModFix amt="15300"/>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701560">
              <a:off x="21052452" y="9468395"/>
              <a:ext cx="1762790" cy="2126173"/>
            </a:xfrm>
            <a:custGeom>
              <a:avLst/>
              <a:gdLst/>
              <a:ahLst/>
              <a:cxnLst/>
              <a:rect r="r" b="b" t="t" l="l"/>
              <a:pathLst>
                <a:path h="2126173" w="1762790">
                  <a:moveTo>
                    <a:pt x="0" y="0"/>
                  </a:moveTo>
                  <a:lnTo>
                    <a:pt x="1762791" y="0"/>
                  </a:lnTo>
                  <a:lnTo>
                    <a:pt x="1762791" y="2126173"/>
                  </a:lnTo>
                  <a:lnTo>
                    <a:pt x="0" y="2126173"/>
                  </a:lnTo>
                  <a:lnTo>
                    <a:pt x="0" y="0"/>
                  </a:lnTo>
                  <a:close/>
                </a:path>
              </a:pathLst>
            </a:custGeom>
            <a:blipFill>
              <a:blip r:embed="rId4">
                <a:alphaModFix amt="15300"/>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2279228">
              <a:off x="4803749" y="156972"/>
              <a:ext cx="872157" cy="1051944"/>
            </a:xfrm>
            <a:custGeom>
              <a:avLst/>
              <a:gdLst/>
              <a:ahLst/>
              <a:cxnLst/>
              <a:rect r="r" b="b" t="t" l="l"/>
              <a:pathLst>
                <a:path h="1051944" w="872157">
                  <a:moveTo>
                    <a:pt x="0" y="0"/>
                  </a:moveTo>
                  <a:lnTo>
                    <a:pt x="872158" y="0"/>
                  </a:lnTo>
                  <a:lnTo>
                    <a:pt x="872158" y="1051944"/>
                  </a:lnTo>
                  <a:lnTo>
                    <a:pt x="0" y="1051944"/>
                  </a:lnTo>
                  <a:lnTo>
                    <a:pt x="0" y="0"/>
                  </a:lnTo>
                  <a:close/>
                </a:path>
              </a:pathLst>
            </a:custGeom>
            <a:blipFill>
              <a:blip r:embed="rId4">
                <a:alphaModFix amt="15300"/>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701560">
              <a:off x="16308552" y="2540853"/>
              <a:ext cx="1091352" cy="1316324"/>
            </a:xfrm>
            <a:custGeom>
              <a:avLst/>
              <a:gdLst/>
              <a:ahLst/>
              <a:cxnLst/>
              <a:rect r="r" b="b" t="t" l="l"/>
              <a:pathLst>
                <a:path h="1316324" w="1091352">
                  <a:moveTo>
                    <a:pt x="0" y="0"/>
                  </a:moveTo>
                  <a:lnTo>
                    <a:pt x="1091353" y="0"/>
                  </a:lnTo>
                  <a:lnTo>
                    <a:pt x="1091353" y="1316324"/>
                  </a:lnTo>
                  <a:lnTo>
                    <a:pt x="0" y="1316324"/>
                  </a:lnTo>
                  <a:lnTo>
                    <a:pt x="0" y="0"/>
                  </a:lnTo>
                  <a:close/>
                </a:path>
              </a:pathLst>
            </a:custGeom>
            <a:blipFill>
              <a:blip r:embed="rId4">
                <a:alphaModFix amt="15300"/>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false" flipV="false" rot="-2250332">
              <a:off x="10617995" y="11563283"/>
              <a:ext cx="1157983" cy="1396690"/>
            </a:xfrm>
            <a:custGeom>
              <a:avLst/>
              <a:gdLst/>
              <a:ahLst/>
              <a:cxnLst/>
              <a:rect r="r" b="b" t="t" l="l"/>
              <a:pathLst>
                <a:path h="1396690" w="1157983">
                  <a:moveTo>
                    <a:pt x="0" y="0"/>
                  </a:moveTo>
                  <a:lnTo>
                    <a:pt x="1157983" y="0"/>
                  </a:lnTo>
                  <a:lnTo>
                    <a:pt x="1157983" y="1396690"/>
                  </a:lnTo>
                  <a:lnTo>
                    <a:pt x="0" y="1396690"/>
                  </a:lnTo>
                  <a:lnTo>
                    <a:pt x="0" y="0"/>
                  </a:lnTo>
                  <a:close/>
                </a:path>
              </a:pathLst>
            </a:custGeom>
            <a:blipFill>
              <a:blip r:embed="rId4">
                <a:alphaModFix amt="15300"/>
                <a:extLst>
                  <a:ext uri="{96DAC541-7B7A-43D3-8B79-37D633B846F1}">
                    <asvg:svgBlip xmlns:asvg="http://schemas.microsoft.com/office/drawing/2016/SVG/main" r:embed="rId5"/>
                  </a:ext>
                </a:extLst>
              </a:blip>
              <a:stretch>
                <a:fillRect l="0" t="0" r="0" b="0"/>
              </a:stretch>
            </a:blipFill>
          </p:spPr>
        </p:sp>
      </p:grpSp>
      <p:grpSp>
        <p:nvGrpSpPr>
          <p:cNvPr name="Group 10" id="10"/>
          <p:cNvGrpSpPr/>
          <p:nvPr/>
        </p:nvGrpSpPr>
        <p:grpSpPr>
          <a:xfrm rot="0">
            <a:off x="0" y="1028700"/>
            <a:ext cx="18288000" cy="763888"/>
            <a:chOff x="0" y="0"/>
            <a:chExt cx="4816593" cy="201189"/>
          </a:xfrm>
        </p:grpSpPr>
        <p:sp>
          <p:nvSpPr>
            <p:cNvPr name="Freeform 11" id="11"/>
            <p:cNvSpPr/>
            <p:nvPr/>
          </p:nvSpPr>
          <p:spPr>
            <a:xfrm flipH="false" flipV="false" rot="0">
              <a:off x="0" y="0"/>
              <a:ext cx="4816592" cy="201189"/>
            </a:xfrm>
            <a:custGeom>
              <a:avLst/>
              <a:gdLst/>
              <a:ahLst/>
              <a:cxnLst/>
              <a:rect r="r" b="b" t="t" l="l"/>
              <a:pathLst>
                <a:path h="201189" w="4816592">
                  <a:moveTo>
                    <a:pt x="0" y="0"/>
                  </a:moveTo>
                  <a:lnTo>
                    <a:pt x="4816592" y="0"/>
                  </a:lnTo>
                  <a:lnTo>
                    <a:pt x="4816592" y="201189"/>
                  </a:lnTo>
                  <a:lnTo>
                    <a:pt x="0" y="201189"/>
                  </a:lnTo>
                  <a:close/>
                </a:path>
              </a:pathLst>
            </a:custGeom>
            <a:solidFill>
              <a:srgbClr val="8574D1"/>
            </a:solidFill>
          </p:spPr>
        </p:sp>
        <p:sp>
          <p:nvSpPr>
            <p:cNvPr name="TextBox 12" id="12"/>
            <p:cNvSpPr txBox="true"/>
            <p:nvPr/>
          </p:nvSpPr>
          <p:spPr>
            <a:xfrm>
              <a:off x="0" y="-57150"/>
              <a:ext cx="4816593" cy="258339"/>
            </a:xfrm>
            <a:prstGeom prst="rect">
              <a:avLst/>
            </a:prstGeom>
          </p:spPr>
          <p:txBody>
            <a:bodyPr anchor="ctr" rtlCol="false" tIns="50800" lIns="50800" bIns="50800" rIns="50800"/>
            <a:lstStyle/>
            <a:p>
              <a:pPr algn="ctr">
                <a:lnSpc>
                  <a:spcPts val="4199"/>
                </a:lnSpc>
                <a:spcBef>
                  <a:spcPct val="0"/>
                </a:spcBef>
              </a:pPr>
            </a:p>
          </p:txBody>
        </p:sp>
      </p:grpSp>
      <p:sp>
        <p:nvSpPr>
          <p:cNvPr name="Freeform 13" id="13"/>
          <p:cNvSpPr/>
          <p:nvPr/>
        </p:nvSpPr>
        <p:spPr>
          <a:xfrm flipH="false" flipV="false" rot="0">
            <a:off x="1028700" y="3073695"/>
            <a:ext cx="8115300" cy="4539660"/>
          </a:xfrm>
          <a:custGeom>
            <a:avLst/>
            <a:gdLst/>
            <a:ahLst/>
            <a:cxnLst/>
            <a:rect r="r" b="b" t="t" l="l"/>
            <a:pathLst>
              <a:path h="4539660" w="8115300">
                <a:moveTo>
                  <a:pt x="0" y="0"/>
                </a:moveTo>
                <a:lnTo>
                  <a:pt x="8115300" y="0"/>
                </a:lnTo>
                <a:lnTo>
                  <a:pt x="8115300" y="4539660"/>
                </a:lnTo>
                <a:lnTo>
                  <a:pt x="0" y="4539660"/>
                </a:lnTo>
                <a:lnTo>
                  <a:pt x="0" y="0"/>
                </a:lnTo>
                <a:close/>
              </a:path>
            </a:pathLst>
          </a:custGeom>
          <a:blipFill>
            <a:blip r:embed="rId6"/>
            <a:stretch>
              <a:fillRect l="0" t="0" r="0" b="0"/>
            </a:stretch>
          </a:blipFill>
          <a:ln w="38100" cap="sq">
            <a:solidFill>
              <a:srgbClr val="000000"/>
            </a:solidFill>
            <a:prstDash val="solid"/>
            <a:miter/>
          </a:ln>
        </p:spPr>
      </p:sp>
      <p:sp>
        <p:nvSpPr>
          <p:cNvPr name="Freeform 14" id="14"/>
          <p:cNvSpPr/>
          <p:nvPr/>
        </p:nvSpPr>
        <p:spPr>
          <a:xfrm flipH="false" flipV="false" rot="0">
            <a:off x="10299399" y="3073695"/>
            <a:ext cx="6959901" cy="4539660"/>
          </a:xfrm>
          <a:custGeom>
            <a:avLst/>
            <a:gdLst/>
            <a:ahLst/>
            <a:cxnLst/>
            <a:rect r="r" b="b" t="t" l="l"/>
            <a:pathLst>
              <a:path h="4539660" w="6959901">
                <a:moveTo>
                  <a:pt x="0" y="0"/>
                </a:moveTo>
                <a:lnTo>
                  <a:pt x="6959901" y="0"/>
                </a:lnTo>
                <a:lnTo>
                  <a:pt x="6959901" y="4539660"/>
                </a:lnTo>
                <a:lnTo>
                  <a:pt x="0" y="4539660"/>
                </a:lnTo>
                <a:lnTo>
                  <a:pt x="0" y="0"/>
                </a:lnTo>
                <a:close/>
              </a:path>
            </a:pathLst>
          </a:custGeom>
          <a:blipFill>
            <a:blip r:embed="rId7"/>
            <a:stretch>
              <a:fillRect l="0" t="0" r="0" b="0"/>
            </a:stretch>
          </a:blipFill>
          <a:ln w="38100" cap="sq">
            <a:solidFill>
              <a:srgbClr val="000000"/>
            </a:solidFill>
            <a:prstDash val="solid"/>
            <a:miter/>
          </a:ln>
        </p:spPr>
      </p:sp>
      <p:sp>
        <p:nvSpPr>
          <p:cNvPr name="TextBox 15" id="15"/>
          <p:cNvSpPr txBox="true"/>
          <p:nvPr/>
        </p:nvSpPr>
        <p:spPr>
          <a:xfrm rot="0">
            <a:off x="1028700" y="1004554"/>
            <a:ext cx="12944061" cy="788035"/>
          </a:xfrm>
          <a:prstGeom prst="rect">
            <a:avLst/>
          </a:prstGeom>
        </p:spPr>
        <p:txBody>
          <a:bodyPr anchor="t" rtlCol="false" tIns="0" lIns="0" bIns="0" rIns="0">
            <a:spAutoFit/>
          </a:bodyPr>
          <a:lstStyle/>
          <a:p>
            <a:pPr algn="l">
              <a:lnSpc>
                <a:spcPts val="6440"/>
              </a:lnSpc>
            </a:pPr>
            <a:r>
              <a:rPr lang="en-US" sz="4600" b="true">
                <a:solidFill>
                  <a:srgbClr val="FFFFFF"/>
                </a:solidFill>
                <a:latin typeface="TT Chocolates Bold"/>
                <a:ea typeface="TT Chocolates Bold"/>
                <a:cs typeface="TT Chocolates Bold"/>
                <a:sym typeface="TT Chocolates Bold"/>
              </a:rPr>
              <a:t>6. Revenue Berdasarkan State Customer</a:t>
            </a:r>
          </a:p>
        </p:txBody>
      </p:sp>
      <p:sp>
        <p:nvSpPr>
          <p:cNvPr name="TextBox 16" id="16"/>
          <p:cNvSpPr txBox="true"/>
          <p:nvPr/>
        </p:nvSpPr>
        <p:spPr>
          <a:xfrm rot="0">
            <a:off x="1028700" y="2275421"/>
            <a:ext cx="3701807" cy="407781"/>
          </a:xfrm>
          <a:prstGeom prst="rect">
            <a:avLst/>
          </a:prstGeom>
        </p:spPr>
        <p:txBody>
          <a:bodyPr anchor="t" rtlCol="false" tIns="0" lIns="0" bIns="0" rIns="0">
            <a:spAutoFit/>
          </a:bodyPr>
          <a:lstStyle/>
          <a:p>
            <a:pPr algn="just">
              <a:lnSpc>
                <a:spcPts val="3248"/>
              </a:lnSpc>
            </a:pPr>
            <a:r>
              <a:rPr lang="en-US" sz="2320">
                <a:solidFill>
                  <a:srgbClr val="0E0340"/>
                </a:solidFill>
                <a:latin typeface="Questrial"/>
                <a:ea typeface="Questrial"/>
                <a:cs typeface="Questrial"/>
                <a:sym typeface="Questrial"/>
              </a:rPr>
              <a:t>SQL Analysis :</a:t>
            </a:r>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bg>
      <p:bgPr>
        <a:solidFill>
          <a:srgbClr val="FBFBF9"/>
        </a:solidFill>
      </p:bgPr>
    </p:bg>
    <p:spTree>
      <p:nvGrpSpPr>
        <p:cNvPr id="1" name=""/>
        <p:cNvGrpSpPr/>
        <p:nvPr/>
      </p:nvGrpSpPr>
      <p:grpSpPr>
        <a:xfrm>
          <a:off x="0" y="0"/>
          <a:ext cx="0" cy="0"/>
          <a:chOff x="0" y="0"/>
          <a:chExt cx="0" cy="0"/>
        </a:xfrm>
      </p:grpSpPr>
      <p:grpSp>
        <p:nvGrpSpPr>
          <p:cNvPr name="Group 2" id="2"/>
          <p:cNvGrpSpPr/>
          <p:nvPr/>
        </p:nvGrpSpPr>
        <p:grpSpPr>
          <a:xfrm rot="0">
            <a:off x="11652651" y="0"/>
            <a:ext cx="7340949" cy="11168682"/>
            <a:chOff x="0" y="0"/>
            <a:chExt cx="1933419" cy="2941546"/>
          </a:xfrm>
        </p:grpSpPr>
        <p:sp>
          <p:nvSpPr>
            <p:cNvPr name="Freeform 3" id="3"/>
            <p:cNvSpPr/>
            <p:nvPr/>
          </p:nvSpPr>
          <p:spPr>
            <a:xfrm flipH="false" flipV="false" rot="0">
              <a:off x="0" y="0"/>
              <a:ext cx="1933419" cy="2941546"/>
            </a:xfrm>
            <a:custGeom>
              <a:avLst/>
              <a:gdLst/>
              <a:ahLst/>
              <a:cxnLst/>
              <a:rect r="r" b="b" t="t" l="l"/>
              <a:pathLst>
                <a:path h="2941546" w="1933419">
                  <a:moveTo>
                    <a:pt x="0" y="0"/>
                  </a:moveTo>
                  <a:lnTo>
                    <a:pt x="1933419" y="0"/>
                  </a:lnTo>
                  <a:lnTo>
                    <a:pt x="1933419" y="2941546"/>
                  </a:lnTo>
                  <a:lnTo>
                    <a:pt x="0" y="2941546"/>
                  </a:lnTo>
                  <a:close/>
                </a:path>
              </a:pathLst>
            </a:custGeom>
            <a:solidFill>
              <a:srgbClr val="E0DAED"/>
            </a:solidFill>
          </p:spPr>
        </p:sp>
        <p:sp>
          <p:nvSpPr>
            <p:cNvPr name="TextBox 4" id="4"/>
            <p:cNvSpPr txBox="true"/>
            <p:nvPr/>
          </p:nvSpPr>
          <p:spPr>
            <a:xfrm>
              <a:off x="0" y="-38100"/>
              <a:ext cx="1933419" cy="2979646"/>
            </a:xfrm>
            <a:prstGeom prst="rect">
              <a:avLst/>
            </a:prstGeom>
          </p:spPr>
          <p:txBody>
            <a:bodyPr anchor="ctr" rtlCol="false" tIns="50800" lIns="50800" bIns="50800" rIns="50800"/>
            <a:lstStyle/>
            <a:p>
              <a:pPr algn="ctr">
                <a:lnSpc>
                  <a:spcPts val="2659"/>
                </a:lnSpc>
              </a:pPr>
            </a:p>
          </p:txBody>
        </p:sp>
      </p:grpSp>
      <p:sp>
        <p:nvSpPr>
          <p:cNvPr name="AutoShape 5" id="5"/>
          <p:cNvSpPr/>
          <p:nvPr/>
        </p:nvSpPr>
        <p:spPr>
          <a:xfrm>
            <a:off x="11652651" y="0"/>
            <a:ext cx="0" cy="10287000"/>
          </a:xfrm>
          <a:prstGeom prst="line">
            <a:avLst/>
          </a:prstGeom>
          <a:ln cap="flat" w="38100">
            <a:solidFill>
              <a:srgbClr val="602E9E"/>
            </a:solidFill>
            <a:prstDash val="sysDash"/>
            <a:headEnd type="none" len="sm" w="sm"/>
            <a:tailEnd type="none" len="sm" w="sm"/>
          </a:ln>
        </p:spPr>
      </p:sp>
      <p:sp>
        <p:nvSpPr>
          <p:cNvPr name="Freeform 6" id="6"/>
          <p:cNvSpPr/>
          <p:nvPr/>
        </p:nvSpPr>
        <p:spPr>
          <a:xfrm flipH="false" flipV="false" rot="0">
            <a:off x="627019" y="1544589"/>
            <a:ext cx="10738403" cy="6080621"/>
          </a:xfrm>
          <a:custGeom>
            <a:avLst/>
            <a:gdLst/>
            <a:ahLst/>
            <a:cxnLst/>
            <a:rect r="r" b="b" t="t" l="l"/>
            <a:pathLst>
              <a:path h="6080621" w="10738403">
                <a:moveTo>
                  <a:pt x="0" y="0"/>
                </a:moveTo>
                <a:lnTo>
                  <a:pt x="10738402" y="0"/>
                </a:lnTo>
                <a:lnTo>
                  <a:pt x="10738402" y="6080621"/>
                </a:lnTo>
                <a:lnTo>
                  <a:pt x="0" y="6080621"/>
                </a:lnTo>
                <a:lnTo>
                  <a:pt x="0" y="0"/>
                </a:lnTo>
                <a:close/>
              </a:path>
            </a:pathLst>
          </a:custGeom>
          <a:blipFill>
            <a:blip r:embed="rId2"/>
            <a:stretch>
              <a:fillRect l="0" t="0" r="0" b="0"/>
            </a:stretch>
          </a:blipFill>
        </p:spPr>
      </p:sp>
      <p:sp>
        <p:nvSpPr>
          <p:cNvPr name="TextBox 7" id="7"/>
          <p:cNvSpPr txBox="true"/>
          <p:nvPr/>
        </p:nvSpPr>
        <p:spPr>
          <a:xfrm rot="0">
            <a:off x="11938401" y="1487439"/>
            <a:ext cx="5723965" cy="3999230"/>
          </a:xfrm>
          <a:prstGeom prst="rect">
            <a:avLst/>
          </a:prstGeom>
        </p:spPr>
        <p:txBody>
          <a:bodyPr anchor="t" rtlCol="false" tIns="0" lIns="0" bIns="0" rIns="0">
            <a:spAutoFit/>
          </a:bodyPr>
          <a:lstStyle/>
          <a:p>
            <a:pPr algn="just">
              <a:lnSpc>
                <a:spcPts val="3220"/>
              </a:lnSpc>
            </a:pPr>
            <a:r>
              <a:rPr lang="en-US" sz="2300" b="true">
                <a:solidFill>
                  <a:srgbClr val="0E0340"/>
                </a:solidFill>
                <a:latin typeface="TT Chocolates Bold"/>
                <a:ea typeface="TT Chocolates Bold"/>
                <a:cs typeface="TT Chocolates Bold"/>
                <a:sym typeface="TT Chocolates Bold"/>
              </a:rPr>
              <a:t>Insight : </a:t>
            </a:r>
          </a:p>
          <a:p>
            <a:pPr algn="just">
              <a:lnSpc>
                <a:spcPts val="3220"/>
              </a:lnSpc>
            </a:pPr>
            <a:r>
              <a:rPr lang="en-US" sz="2300">
                <a:solidFill>
                  <a:srgbClr val="0E0340"/>
                </a:solidFill>
                <a:latin typeface="TT Chocolates"/>
                <a:ea typeface="TT Chocolates"/>
                <a:cs typeface="TT Chocolates"/>
                <a:sym typeface="TT Chocolates"/>
              </a:rPr>
              <a:t>Berdasarkan grafik di samping, </a:t>
            </a:r>
            <a:r>
              <a:rPr lang="en-US" b="true" sz="2300" i="true">
                <a:solidFill>
                  <a:srgbClr val="0E0340"/>
                </a:solidFill>
                <a:latin typeface="TT Chocolates Bold Italics"/>
                <a:ea typeface="TT Chocolates Bold Italics"/>
                <a:cs typeface="TT Chocolates Bold Italics"/>
                <a:sym typeface="TT Chocolates Bold Italics"/>
              </a:rPr>
              <a:t>state sao paulo</a:t>
            </a:r>
            <a:r>
              <a:rPr lang="en-US" sz="2300">
                <a:solidFill>
                  <a:srgbClr val="0E0340"/>
                </a:solidFill>
                <a:latin typeface="TT Chocolates"/>
                <a:ea typeface="TT Chocolates"/>
                <a:cs typeface="TT Chocolates"/>
                <a:sym typeface="TT Chocolates"/>
              </a:rPr>
              <a:t> menghasilkan </a:t>
            </a:r>
            <a:r>
              <a:rPr lang="en-US" sz="2300" u="sng">
                <a:solidFill>
                  <a:srgbClr val="0E0340"/>
                </a:solidFill>
                <a:latin typeface="TT Chocolates"/>
                <a:ea typeface="TT Chocolates"/>
                <a:cs typeface="TT Chocolates"/>
                <a:sym typeface="TT Chocolates"/>
              </a:rPr>
              <a:t>total revenue terbesar</a:t>
            </a:r>
            <a:r>
              <a:rPr lang="en-US" sz="2300">
                <a:solidFill>
                  <a:srgbClr val="0E0340"/>
                </a:solidFill>
                <a:latin typeface="TT Chocolates"/>
                <a:ea typeface="TT Chocolates"/>
                <a:cs typeface="TT Chocolates"/>
                <a:sym typeface="TT Chocolates"/>
              </a:rPr>
              <a:t> dibandingkan state yang lain. Temuan ini menunjukkan pentingnya menjaga kontribusi revenue dari wilayah tersebut serta melakukan evaluasi terhadap faktor-faktor yang mendorong kinerja tinggi di Sao Paulo agar dapat diterapkan pada state lain dengan revenue yang lebih rendah.</a:t>
            </a:r>
          </a:p>
        </p:txBody>
      </p:sp>
      <p:sp>
        <p:nvSpPr>
          <p:cNvPr name="TextBox 8" id="8"/>
          <p:cNvSpPr txBox="true"/>
          <p:nvPr/>
        </p:nvSpPr>
        <p:spPr>
          <a:xfrm rot="0">
            <a:off x="1028700" y="8300454"/>
            <a:ext cx="10336721" cy="799490"/>
          </a:xfrm>
          <a:prstGeom prst="rect">
            <a:avLst/>
          </a:prstGeom>
        </p:spPr>
        <p:txBody>
          <a:bodyPr anchor="t" rtlCol="false" tIns="0" lIns="0" bIns="0" rIns="0">
            <a:spAutoFit/>
          </a:bodyPr>
          <a:lstStyle/>
          <a:p>
            <a:pPr algn="just">
              <a:lnSpc>
                <a:spcPts val="3183"/>
              </a:lnSpc>
            </a:pPr>
            <a:r>
              <a:rPr lang="en-US" sz="2274">
                <a:solidFill>
                  <a:srgbClr val="0E0340"/>
                </a:solidFill>
                <a:latin typeface="Questrial"/>
                <a:ea typeface="Questrial"/>
                <a:cs typeface="Questrial"/>
                <a:sym typeface="Questrial"/>
              </a:rPr>
              <a:t>Bar chart untuk memudahkan pembacan perbandingan antara total revenue pada masing-masing state. </a:t>
            </a:r>
          </a:p>
        </p:txBody>
      </p:sp>
      <p:sp>
        <p:nvSpPr>
          <p:cNvPr name="TextBox 9" id="9"/>
          <p:cNvSpPr txBox="true"/>
          <p:nvPr/>
        </p:nvSpPr>
        <p:spPr>
          <a:xfrm rot="0">
            <a:off x="3234457" y="448833"/>
            <a:ext cx="5513925" cy="579867"/>
          </a:xfrm>
          <a:prstGeom prst="rect">
            <a:avLst/>
          </a:prstGeom>
        </p:spPr>
        <p:txBody>
          <a:bodyPr anchor="t" rtlCol="false" tIns="0" lIns="0" bIns="0" rIns="0">
            <a:spAutoFit/>
          </a:bodyPr>
          <a:lstStyle/>
          <a:p>
            <a:pPr algn="just">
              <a:lnSpc>
                <a:spcPts val="4788"/>
              </a:lnSpc>
            </a:pPr>
            <a:r>
              <a:rPr lang="en-US" sz="3420" b="true">
                <a:solidFill>
                  <a:srgbClr val="0E0340"/>
                </a:solidFill>
                <a:latin typeface="TT Chocolates Bold"/>
                <a:ea typeface="TT Chocolates Bold"/>
                <a:cs typeface="TT Chocolates Bold"/>
                <a:sym typeface="TT Chocolates Bold"/>
              </a:rPr>
              <a:t>Hasil Visualisasi (Seaborn)</a:t>
            </a:r>
          </a:p>
        </p:txBody>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bg>
      <p:bgPr>
        <a:solidFill>
          <a:srgbClr val="FBFBF9"/>
        </a:solidFill>
      </p:bgPr>
    </p:bg>
    <p:spTree>
      <p:nvGrpSpPr>
        <p:cNvPr id="1" name=""/>
        <p:cNvGrpSpPr/>
        <p:nvPr/>
      </p:nvGrpSpPr>
      <p:grpSpPr>
        <a:xfrm>
          <a:off x="0" y="0"/>
          <a:ext cx="0" cy="0"/>
          <a:chOff x="0" y="0"/>
          <a:chExt cx="0" cy="0"/>
        </a:xfrm>
      </p:grpSpPr>
      <p:sp>
        <p:nvSpPr>
          <p:cNvPr name="Freeform 2" id="2"/>
          <p:cNvSpPr/>
          <p:nvPr/>
        </p:nvSpPr>
        <p:spPr>
          <a:xfrm flipH="false" flipV="false" rot="0">
            <a:off x="-2267676" y="-6268176"/>
            <a:ext cx="22823352" cy="22823352"/>
          </a:xfrm>
          <a:custGeom>
            <a:avLst/>
            <a:gdLst/>
            <a:ahLst/>
            <a:cxnLst/>
            <a:rect r="r" b="b" t="t" l="l"/>
            <a:pathLst>
              <a:path h="22823352" w="22823352">
                <a:moveTo>
                  <a:pt x="0" y="0"/>
                </a:moveTo>
                <a:lnTo>
                  <a:pt x="22823352" y="0"/>
                </a:lnTo>
                <a:lnTo>
                  <a:pt x="22823352" y="22823352"/>
                </a:lnTo>
                <a:lnTo>
                  <a:pt x="0" y="22823352"/>
                </a:lnTo>
                <a:lnTo>
                  <a:pt x="0" y="0"/>
                </a:lnTo>
                <a:close/>
              </a:path>
            </a:pathLst>
          </a:custGeom>
          <a:blipFill>
            <a:blip r:embed="rId2">
              <a:alphaModFix amt="6000"/>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0" y="1070295"/>
            <a:ext cx="17703247" cy="9876100"/>
            <a:chOff x="0" y="0"/>
            <a:chExt cx="23604329" cy="13168133"/>
          </a:xfrm>
        </p:grpSpPr>
        <p:sp>
          <p:nvSpPr>
            <p:cNvPr name="Freeform 4" id="4"/>
            <p:cNvSpPr/>
            <p:nvPr/>
          </p:nvSpPr>
          <p:spPr>
            <a:xfrm flipH="false" flipV="false" rot="701560">
              <a:off x="197157" y="8873457"/>
              <a:ext cx="1762790" cy="2126173"/>
            </a:xfrm>
            <a:custGeom>
              <a:avLst/>
              <a:gdLst/>
              <a:ahLst/>
              <a:cxnLst/>
              <a:rect r="r" b="b" t="t" l="l"/>
              <a:pathLst>
                <a:path h="2126173" w="1762790">
                  <a:moveTo>
                    <a:pt x="0" y="0"/>
                  </a:moveTo>
                  <a:lnTo>
                    <a:pt x="1762791" y="0"/>
                  </a:lnTo>
                  <a:lnTo>
                    <a:pt x="1762791" y="2126173"/>
                  </a:lnTo>
                  <a:lnTo>
                    <a:pt x="0" y="2126173"/>
                  </a:lnTo>
                  <a:lnTo>
                    <a:pt x="0" y="0"/>
                  </a:lnTo>
                  <a:close/>
                </a:path>
              </a:pathLst>
            </a:custGeom>
            <a:blipFill>
              <a:blip r:embed="rId4">
                <a:alphaModFix amt="15300"/>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2250332">
              <a:off x="22140847" y="891104"/>
              <a:ext cx="1157983" cy="1396690"/>
            </a:xfrm>
            <a:custGeom>
              <a:avLst/>
              <a:gdLst/>
              <a:ahLst/>
              <a:cxnLst/>
              <a:rect r="r" b="b" t="t" l="l"/>
              <a:pathLst>
                <a:path h="1396690" w="1157983">
                  <a:moveTo>
                    <a:pt x="0" y="0"/>
                  </a:moveTo>
                  <a:lnTo>
                    <a:pt x="1157984" y="0"/>
                  </a:lnTo>
                  <a:lnTo>
                    <a:pt x="1157984" y="1396691"/>
                  </a:lnTo>
                  <a:lnTo>
                    <a:pt x="0" y="1396691"/>
                  </a:lnTo>
                  <a:lnTo>
                    <a:pt x="0" y="0"/>
                  </a:lnTo>
                  <a:close/>
                </a:path>
              </a:pathLst>
            </a:custGeom>
            <a:blipFill>
              <a:blip r:embed="rId4">
                <a:alphaModFix amt="15300"/>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701560">
              <a:off x="21052452" y="9468395"/>
              <a:ext cx="1762790" cy="2126173"/>
            </a:xfrm>
            <a:custGeom>
              <a:avLst/>
              <a:gdLst/>
              <a:ahLst/>
              <a:cxnLst/>
              <a:rect r="r" b="b" t="t" l="l"/>
              <a:pathLst>
                <a:path h="2126173" w="1762790">
                  <a:moveTo>
                    <a:pt x="0" y="0"/>
                  </a:moveTo>
                  <a:lnTo>
                    <a:pt x="1762791" y="0"/>
                  </a:lnTo>
                  <a:lnTo>
                    <a:pt x="1762791" y="2126173"/>
                  </a:lnTo>
                  <a:lnTo>
                    <a:pt x="0" y="2126173"/>
                  </a:lnTo>
                  <a:lnTo>
                    <a:pt x="0" y="0"/>
                  </a:lnTo>
                  <a:close/>
                </a:path>
              </a:pathLst>
            </a:custGeom>
            <a:blipFill>
              <a:blip r:embed="rId4">
                <a:alphaModFix amt="15300"/>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2279228">
              <a:off x="4803749" y="156972"/>
              <a:ext cx="872157" cy="1051944"/>
            </a:xfrm>
            <a:custGeom>
              <a:avLst/>
              <a:gdLst/>
              <a:ahLst/>
              <a:cxnLst/>
              <a:rect r="r" b="b" t="t" l="l"/>
              <a:pathLst>
                <a:path h="1051944" w="872157">
                  <a:moveTo>
                    <a:pt x="0" y="0"/>
                  </a:moveTo>
                  <a:lnTo>
                    <a:pt x="872158" y="0"/>
                  </a:lnTo>
                  <a:lnTo>
                    <a:pt x="872158" y="1051944"/>
                  </a:lnTo>
                  <a:lnTo>
                    <a:pt x="0" y="1051944"/>
                  </a:lnTo>
                  <a:lnTo>
                    <a:pt x="0" y="0"/>
                  </a:lnTo>
                  <a:close/>
                </a:path>
              </a:pathLst>
            </a:custGeom>
            <a:blipFill>
              <a:blip r:embed="rId4">
                <a:alphaModFix amt="15300"/>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701560">
              <a:off x="16308552" y="2540853"/>
              <a:ext cx="1091352" cy="1316324"/>
            </a:xfrm>
            <a:custGeom>
              <a:avLst/>
              <a:gdLst/>
              <a:ahLst/>
              <a:cxnLst/>
              <a:rect r="r" b="b" t="t" l="l"/>
              <a:pathLst>
                <a:path h="1316324" w="1091352">
                  <a:moveTo>
                    <a:pt x="0" y="0"/>
                  </a:moveTo>
                  <a:lnTo>
                    <a:pt x="1091353" y="0"/>
                  </a:lnTo>
                  <a:lnTo>
                    <a:pt x="1091353" y="1316324"/>
                  </a:lnTo>
                  <a:lnTo>
                    <a:pt x="0" y="1316324"/>
                  </a:lnTo>
                  <a:lnTo>
                    <a:pt x="0" y="0"/>
                  </a:lnTo>
                  <a:close/>
                </a:path>
              </a:pathLst>
            </a:custGeom>
            <a:blipFill>
              <a:blip r:embed="rId4">
                <a:alphaModFix amt="15300"/>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false" flipV="false" rot="-2250332">
              <a:off x="10617995" y="11563283"/>
              <a:ext cx="1157983" cy="1396690"/>
            </a:xfrm>
            <a:custGeom>
              <a:avLst/>
              <a:gdLst/>
              <a:ahLst/>
              <a:cxnLst/>
              <a:rect r="r" b="b" t="t" l="l"/>
              <a:pathLst>
                <a:path h="1396690" w="1157983">
                  <a:moveTo>
                    <a:pt x="0" y="0"/>
                  </a:moveTo>
                  <a:lnTo>
                    <a:pt x="1157983" y="0"/>
                  </a:lnTo>
                  <a:lnTo>
                    <a:pt x="1157983" y="1396690"/>
                  </a:lnTo>
                  <a:lnTo>
                    <a:pt x="0" y="1396690"/>
                  </a:lnTo>
                  <a:lnTo>
                    <a:pt x="0" y="0"/>
                  </a:lnTo>
                  <a:close/>
                </a:path>
              </a:pathLst>
            </a:custGeom>
            <a:blipFill>
              <a:blip r:embed="rId4">
                <a:alphaModFix amt="15300"/>
                <a:extLst>
                  <a:ext uri="{96DAC541-7B7A-43D3-8B79-37D633B846F1}">
                    <asvg:svgBlip xmlns:asvg="http://schemas.microsoft.com/office/drawing/2016/SVG/main" r:embed="rId5"/>
                  </a:ext>
                </a:extLst>
              </a:blip>
              <a:stretch>
                <a:fillRect l="0" t="0" r="0" b="0"/>
              </a:stretch>
            </a:blipFill>
          </p:spPr>
        </p:sp>
      </p:grpSp>
      <p:grpSp>
        <p:nvGrpSpPr>
          <p:cNvPr name="Group 10" id="10"/>
          <p:cNvGrpSpPr/>
          <p:nvPr/>
        </p:nvGrpSpPr>
        <p:grpSpPr>
          <a:xfrm rot="0">
            <a:off x="0" y="1028700"/>
            <a:ext cx="18288000" cy="763888"/>
            <a:chOff x="0" y="0"/>
            <a:chExt cx="4816593" cy="201189"/>
          </a:xfrm>
        </p:grpSpPr>
        <p:sp>
          <p:nvSpPr>
            <p:cNvPr name="Freeform 11" id="11"/>
            <p:cNvSpPr/>
            <p:nvPr/>
          </p:nvSpPr>
          <p:spPr>
            <a:xfrm flipH="false" flipV="false" rot="0">
              <a:off x="0" y="0"/>
              <a:ext cx="4816592" cy="201189"/>
            </a:xfrm>
            <a:custGeom>
              <a:avLst/>
              <a:gdLst/>
              <a:ahLst/>
              <a:cxnLst/>
              <a:rect r="r" b="b" t="t" l="l"/>
              <a:pathLst>
                <a:path h="201189" w="4816592">
                  <a:moveTo>
                    <a:pt x="0" y="0"/>
                  </a:moveTo>
                  <a:lnTo>
                    <a:pt x="4816592" y="0"/>
                  </a:lnTo>
                  <a:lnTo>
                    <a:pt x="4816592" y="201189"/>
                  </a:lnTo>
                  <a:lnTo>
                    <a:pt x="0" y="201189"/>
                  </a:lnTo>
                  <a:close/>
                </a:path>
              </a:pathLst>
            </a:custGeom>
            <a:solidFill>
              <a:srgbClr val="8574D1"/>
            </a:solidFill>
          </p:spPr>
        </p:sp>
        <p:sp>
          <p:nvSpPr>
            <p:cNvPr name="TextBox 12" id="12"/>
            <p:cNvSpPr txBox="true"/>
            <p:nvPr/>
          </p:nvSpPr>
          <p:spPr>
            <a:xfrm>
              <a:off x="0" y="-57150"/>
              <a:ext cx="4816593" cy="258339"/>
            </a:xfrm>
            <a:prstGeom prst="rect">
              <a:avLst/>
            </a:prstGeom>
          </p:spPr>
          <p:txBody>
            <a:bodyPr anchor="ctr" rtlCol="false" tIns="50800" lIns="50800" bIns="50800" rIns="50800"/>
            <a:lstStyle/>
            <a:p>
              <a:pPr algn="ctr">
                <a:lnSpc>
                  <a:spcPts val="4199"/>
                </a:lnSpc>
                <a:spcBef>
                  <a:spcPct val="0"/>
                </a:spcBef>
              </a:pPr>
            </a:p>
          </p:txBody>
        </p:sp>
      </p:grpSp>
      <p:sp>
        <p:nvSpPr>
          <p:cNvPr name="Freeform 13" id="13"/>
          <p:cNvSpPr/>
          <p:nvPr/>
        </p:nvSpPr>
        <p:spPr>
          <a:xfrm flipH="false" flipV="false" rot="0">
            <a:off x="8331213" y="3177819"/>
            <a:ext cx="9245700" cy="2202542"/>
          </a:xfrm>
          <a:custGeom>
            <a:avLst/>
            <a:gdLst/>
            <a:ahLst/>
            <a:cxnLst/>
            <a:rect r="r" b="b" t="t" l="l"/>
            <a:pathLst>
              <a:path h="2202542" w="9245700">
                <a:moveTo>
                  <a:pt x="0" y="0"/>
                </a:moveTo>
                <a:lnTo>
                  <a:pt x="9245700" y="0"/>
                </a:lnTo>
                <a:lnTo>
                  <a:pt x="9245700" y="2202542"/>
                </a:lnTo>
                <a:lnTo>
                  <a:pt x="0" y="2202542"/>
                </a:lnTo>
                <a:lnTo>
                  <a:pt x="0" y="0"/>
                </a:lnTo>
                <a:close/>
              </a:path>
            </a:pathLst>
          </a:custGeom>
          <a:blipFill>
            <a:blip r:embed="rId6"/>
            <a:stretch>
              <a:fillRect l="0" t="0" r="0" b="0"/>
            </a:stretch>
          </a:blipFill>
          <a:ln w="38100" cap="sq">
            <a:solidFill>
              <a:srgbClr val="000000"/>
            </a:solidFill>
            <a:prstDash val="solid"/>
            <a:miter/>
          </a:ln>
        </p:spPr>
      </p:sp>
      <p:sp>
        <p:nvSpPr>
          <p:cNvPr name="Freeform 14" id="14"/>
          <p:cNvSpPr/>
          <p:nvPr/>
        </p:nvSpPr>
        <p:spPr>
          <a:xfrm flipH="false" flipV="false" rot="0">
            <a:off x="1028700" y="3177819"/>
            <a:ext cx="6984900" cy="6080481"/>
          </a:xfrm>
          <a:custGeom>
            <a:avLst/>
            <a:gdLst/>
            <a:ahLst/>
            <a:cxnLst/>
            <a:rect r="r" b="b" t="t" l="l"/>
            <a:pathLst>
              <a:path h="6080481" w="6984900">
                <a:moveTo>
                  <a:pt x="0" y="0"/>
                </a:moveTo>
                <a:lnTo>
                  <a:pt x="6984900" y="0"/>
                </a:lnTo>
                <a:lnTo>
                  <a:pt x="6984900" y="6080481"/>
                </a:lnTo>
                <a:lnTo>
                  <a:pt x="0" y="6080481"/>
                </a:lnTo>
                <a:lnTo>
                  <a:pt x="0" y="0"/>
                </a:lnTo>
                <a:close/>
              </a:path>
            </a:pathLst>
          </a:custGeom>
          <a:blipFill>
            <a:blip r:embed="rId7"/>
            <a:stretch>
              <a:fillRect l="0" t="0" r="0" b="0"/>
            </a:stretch>
          </a:blipFill>
          <a:ln w="38100" cap="sq">
            <a:solidFill>
              <a:srgbClr val="000000"/>
            </a:solidFill>
            <a:prstDash val="solid"/>
            <a:miter/>
          </a:ln>
        </p:spPr>
      </p:sp>
      <p:sp>
        <p:nvSpPr>
          <p:cNvPr name="TextBox 15" id="15"/>
          <p:cNvSpPr txBox="true"/>
          <p:nvPr/>
        </p:nvSpPr>
        <p:spPr>
          <a:xfrm rot="0">
            <a:off x="1028700" y="933450"/>
            <a:ext cx="13969800" cy="788035"/>
          </a:xfrm>
          <a:prstGeom prst="rect">
            <a:avLst/>
          </a:prstGeom>
        </p:spPr>
        <p:txBody>
          <a:bodyPr anchor="t" rtlCol="false" tIns="0" lIns="0" bIns="0" rIns="0">
            <a:spAutoFit/>
          </a:bodyPr>
          <a:lstStyle/>
          <a:p>
            <a:pPr algn="l">
              <a:lnSpc>
                <a:spcPts val="6440"/>
              </a:lnSpc>
            </a:pPr>
            <a:r>
              <a:rPr lang="en-US" sz="4600" b="true">
                <a:solidFill>
                  <a:srgbClr val="FFFFFF"/>
                </a:solidFill>
                <a:latin typeface="TT Chocolates Bold"/>
                <a:ea typeface="TT Chocolates Bold"/>
                <a:cs typeface="TT Chocolates Bold"/>
                <a:sym typeface="TT Chocolates Bold"/>
              </a:rPr>
              <a:t>7. Status Pengiriman Berdasarkan Rata - Rata Review </a:t>
            </a:r>
          </a:p>
        </p:txBody>
      </p:sp>
      <p:sp>
        <p:nvSpPr>
          <p:cNvPr name="TextBox 16" id="16"/>
          <p:cNvSpPr txBox="true"/>
          <p:nvPr/>
        </p:nvSpPr>
        <p:spPr>
          <a:xfrm rot="0">
            <a:off x="1028700" y="2325514"/>
            <a:ext cx="3701807" cy="407781"/>
          </a:xfrm>
          <a:prstGeom prst="rect">
            <a:avLst/>
          </a:prstGeom>
        </p:spPr>
        <p:txBody>
          <a:bodyPr anchor="t" rtlCol="false" tIns="0" lIns="0" bIns="0" rIns="0">
            <a:spAutoFit/>
          </a:bodyPr>
          <a:lstStyle/>
          <a:p>
            <a:pPr algn="just">
              <a:lnSpc>
                <a:spcPts val="3248"/>
              </a:lnSpc>
            </a:pPr>
            <a:r>
              <a:rPr lang="en-US" sz="2320">
                <a:solidFill>
                  <a:srgbClr val="0E0340"/>
                </a:solidFill>
                <a:latin typeface="Questrial"/>
                <a:ea typeface="Questrial"/>
                <a:cs typeface="Questrial"/>
                <a:sym typeface="Questrial"/>
              </a:rPr>
              <a:t>SQL Analysis :</a:t>
            </a:r>
          </a:p>
        </p:txBody>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bg>
      <p:bgPr>
        <a:solidFill>
          <a:srgbClr val="FBFBF9"/>
        </a:solidFill>
      </p:bgPr>
    </p:bg>
    <p:spTree>
      <p:nvGrpSpPr>
        <p:cNvPr id="1" name=""/>
        <p:cNvGrpSpPr/>
        <p:nvPr/>
      </p:nvGrpSpPr>
      <p:grpSpPr>
        <a:xfrm>
          <a:off x="0" y="0"/>
          <a:ext cx="0" cy="0"/>
          <a:chOff x="0" y="0"/>
          <a:chExt cx="0" cy="0"/>
        </a:xfrm>
      </p:grpSpPr>
      <p:grpSp>
        <p:nvGrpSpPr>
          <p:cNvPr name="Group 2" id="2"/>
          <p:cNvGrpSpPr/>
          <p:nvPr/>
        </p:nvGrpSpPr>
        <p:grpSpPr>
          <a:xfrm rot="0">
            <a:off x="11495388" y="0"/>
            <a:ext cx="6792612" cy="10287000"/>
            <a:chOff x="0" y="0"/>
            <a:chExt cx="1789001" cy="2709333"/>
          </a:xfrm>
        </p:grpSpPr>
        <p:sp>
          <p:nvSpPr>
            <p:cNvPr name="Freeform 3" id="3"/>
            <p:cNvSpPr/>
            <p:nvPr/>
          </p:nvSpPr>
          <p:spPr>
            <a:xfrm flipH="false" flipV="false" rot="0">
              <a:off x="0" y="0"/>
              <a:ext cx="1789000" cy="2709333"/>
            </a:xfrm>
            <a:custGeom>
              <a:avLst/>
              <a:gdLst/>
              <a:ahLst/>
              <a:cxnLst/>
              <a:rect r="r" b="b" t="t" l="l"/>
              <a:pathLst>
                <a:path h="2709333" w="1789000">
                  <a:moveTo>
                    <a:pt x="0" y="0"/>
                  </a:moveTo>
                  <a:lnTo>
                    <a:pt x="1789000" y="0"/>
                  </a:lnTo>
                  <a:lnTo>
                    <a:pt x="1789000" y="2709333"/>
                  </a:lnTo>
                  <a:lnTo>
                    <a:pt x="0" y="2709333"/>
                  </a:lnTo>
                  <a:close/>
                </a:path>
              </a:pathLst>
            </a:custGeom>
            <a:solidFill>
              <a:srgbClr val="E0DAED"/>
            </a:solidFill>
          </p:spPr>
        </p:sp>
        <p:sp>
          <p:nvSpPr>
            <p:cNvPr name="TextBox 4" id="4"/>
            <p:cNvSpPr txBox="true"/>
            <p:nvPr/>
          </p:nvSpPr>
          <p:spPr>
            <a:xfrm>
              <a:off x="0" y="-38100"/>
              <a:ext cx="1789001" cy="2747433"/>
            </a:xfrm>
            <a:prstGeom prst="rect">
              <a:avLst/>
            </a:prstGeom>
          </p:spPr>
          <p:txBody>
            <a:bodyPr anchor="ctr" rtlCol="false" tIns="50800" lIns="50800" bIns="50800" rIns="50800"/>
            <a:lstStyle/>
            <a:p>
              <a:pPr algn="ctr">
                <a:lnSpc>
                  <a:spcPts val="2659"/>
                </a:lnSpc>
              </a:pPr>
            </a:p>
          </p:txBody>
        </p:sp>
      </p:grpSp>
      <p:sp>
        <p:nvSpPr>
          <p:cNvPr name="AutoShape 5" id="5"/>
          <p:cNvSpPr/>
          <p:nvPr/>
        </p:nvSpPr>
        <p:spPr>
          <a:xfrm>
            <a:off x="11495388" y="0"/>
            <a:ext cx="0" cy="10287000"/>
          </a:xfrm>
          <a:prstGeom prst="line">
            <a:avLst/>
          </a:prstGeom>
          <a:ln cap="flat" w="38100">
            <a:solidFill>
              <a:srgbClr val="602E9E"/>
            </a:solidFill>
            <a:prstDash val="sysDash"/>
            <a:headEnd type="none" len="sm" w="sm"/>
            <a:tailEnd type="none" len="sm" w="sm"/>
          </a:ln>
        </p:spPr>
      </p:sp>
      <p:sp>
        <p:nvSpPr>
          <p:cNvPr name="Freeform 6" id="6"/>
          <p:cNvSpPr/>
          <p:nvPr/>
        </p:nvSpPr>
        <p:spPr>
          <a:xfrm flipH="false" flipV="false" rot="0">
            <a:off x="624122" y="1536967"/>
            <a:ext cx="10628188" cy="6841896"/>
          </a:xfrm>
          <a:custGeom>
            <a:avLst/>
            <a:gdLst/>
            <a:ahLst/>
            <a:cxnLst/>
            <a:rect r="r" b="b" t="t" l="l"/>
            <a:pathLst>
              <a:path h="6841896" w="10628188">
                <a:moveTo>
                  <a:pt x="0" y="0"/>
                </a:moveTo>
                <a:lnTo>
                  <a:pt x="10628188" y="0"/>
                </a:lnTo>
                <a:lnTo>
                  <a:pt x="10628188" y="6841896"/>
                </a:lnTo>
                <a:lnTo>
                  <a:pt x="0" y="6841896"/>
                </a:lnTo>
                <a:lnTo>
                  <a:pt x="0" y="0"/>
                </a:lnTo>
                <a:close/>
              </a:path>
            </a:pathLst>
          </a:custGeom>
          <a:blipFill>
            <a:blip r:embed="rId2"/>
            <a:stretch>
              <a:fillRect l="0" t="0" r="0" b="0"/>
            </a:stretch>
          </a:blipFill>
        </p:spPr>
      </p:sp>
      <p:sp>
        <p:nvSpPr>
          <p:cNvPr name="TextBox 7" id="7"/>
          <p:cNvSpPr txBox="true"/>
          <p:nvPr/>
        </p:nvSpPr>
        <p:spPr>
          <a:xfrm rot="0">
            <a:off x="11880243" y="1479817"/>
            <a:ext cx="5870503" cy="5599430"/>
          </a:xfrm>
          <a:prstGeom prst="rect">
            <a:avLst/>
          </a:prstGeom>
        </p:spPr>
        <p:txBody>
          <a:bodyPr anchor="t" rtlCol="false" tIns="0" lIns="0" bIns="0" rIns="0">
            <a:spAutoFit/>
          </a:bodyPr>
          <a:lstStyle/>
          <a:p>
            <a:pPr algn="just">
              <a:lnSpc>
                <a:spcPts val="3220"/>
              </a:lnSpc>
            </a:pPr>
            <a:r>
              <a:rPr lang="en-US" b="true" sz="2300">
                <a:solidFill>
                  <a:srgbClr val="0E0340"/>
                </a:solidFill>
                <a:latin typeface="TT Chocolates Bold"/>
                <a:ea typeface="TT Chocolates Bold"/>
                <a:cs typeface="TT Chocolates Bold"/>
                <a:sym typeface="TT Chocolates Bold"/>
              </a:rPr>
              <a:t>Insight:</a:t>
            </a:r>
          </a:p>
          <a:p>
            <a:pPr algn="just">
              <a:lnSpc>
                <a:spcPts val="3220"/>
              </a:lnSpc>
            </a:pPr>
            <a:r>
              <a:rPr lang="en-US" sz="2300">
                <a:solidFill>
                  <a:srgbClr val="0E0340"/>
                </a:solidFill>
                <a:latin typeface="TT Chocolates"/>
                <a:ea typeface="TT Chocolates"/>
                <a:cs typeface="TT Chocolates"/>
                <a:sym typeface="TT Chocolates"/>
              </a:rPr>
              <a:t>Berdasarkan grafik di samping, mayoritas rata-rata review berada pada status kecepetan dan tepat waktu memperoleh rata-rata review yang tinggi. Namun, status  terlambat masih memiliki rata-rata review sebesar 2,27 dan status belum dikirim hanya memperoleh rata-rata review sebesar 1,76. Temuan ini menunjukkan bahwa keterlambatan dan kegagalan pengiriman berdampak signifikan terhadap kepuasan pelanggan. Perlu adanya peningkatan efisiensi proses logistik dan meminimalkan keterlambatan pengiriman kualitas layanan dan kepuasan customer dapat meningkat.</a:t>
            </a:r>
          </a:p>
        </p:txBody>
      </p:sp>
      <p:sp>
        <p:nvSpPr>
          <p:cNvPr name="TextBox 8" id="8"/>
          <p:cNvSpPr txBox="true"/>
          <p:nvPr/>
        </p:nvSpPr>
        <p:spPr>
          <a:xfrm rot="0">
            <a:off x="624122" y="8829980"/>
            <a:ext cx="10628188" cy="799490"/>
          </a:xfrm>
          <a:prstGeom prst="rect">
            <a:avLst/>
          </a:prstGeom>
        </p:spPr>
        <p:txBody>
          <a:bodyPr anchor="t" rtlCol="false" tIns="0" lIns="0" bIns="0" rIns="0">
            <a:spAutoFit/>
          </a:bodyPr>
          <a:lstStyle/>
          <a:p>
            <a:pPr algn="just">
              <a:lnSpc>
                <a:spcPts val="3183"/>
              </a:lnSpc>
            </a:pPr>
            <a:r>
              <a:rPr lang="en-US" sz="2274">
                <a:solidFill>
                  <a:srgbClr val="0E0340"/>
                </a:solidFill>
                <a:latin typeface="Questrial"/>
                <a:ea typeface="Questrial"/>
                <a:cs typeface="Questrial"/>
                <a:sym typeface="Questrial"/>
              </a:rPr>
              <a:t>Bar chart digunakan untuk membandingkan rata-rata review antar kategori status pengiriman secara jelas dan mudah dipahami</a:t>
            </a:r>
          </a:p>
        </p:txBody>
      </p:sp>
      <p:sp>
        <p:nvSpPr>
          <p:cNvPr name="TextBox 9" id="9"/>
          <p:cNvSpPr txBox="true"/>
          <p:nvPr/>
        </p:nvSpPr>
        <p:spPr>
          <a:xfrm rot="0">
            <a:off x="3316987" y="585625"/>
            <a:ext cx="5242458" cy="579867"/>
          </a:xfrm>
          <a:prstGeom prst="rect">
            <a:avLst/>
          </a:prstGeom>
        </p:spPr>
        <p:txBody>
          <a:bodyPr anchor="t" rtlCol="false" tIns="0" lIns="0" bIns="0" rIns="0">
            <a:spAutoFit/>
          </a:bodyPr>
          <a:lstStyle/>
          <a:p>
            <a:pPr algn="ctr">
              <a:lnSpc>
                <a:spcPts val="4788"/>
              </a:lnSpc>
            </a:pPr>
            <a:r>
              <a:rPr lang="en-US" sz="3420" b="true">
                <a:solidFill>
                  <a:srgbClr val="0E0340"/>
                </a:solidFill>
                <a:latin typeface="TT Chocolates Bold"/>
                <a:ea typeface="TT Chocolates Bold"/>
                <a:cs typeface="TT Chocolates Bold"/>
                <a:sym typeface="TT Chocolates Bold"/>
              </a:rPr>
              <a:t>Hasil Visualisasi (Seaborn)</a:t>
            </a:r>
          </a:p>
        </p:txBody>
      </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bg>
      <p:bgPr>
        <a:solidFill>
          <a:srgbClr val="FBFBF9"/>
        </a:solidFill>
      </p:bgPr>
    </p:bg>
    <p:spTree>
      <p:nvGrpSpPr>
        <p:cNvPr id="1" name=""/>
        <p:cNvGrpSpPr/>
        <p:nvPr/>
      </p:nvGrpSpPr>
      <p:grpSpPr>
        <a:xfrm>
          <a:off x="0" y="0"/>
          <a:ext cx="0" cy="0"/>
          <a:chOff x="0" y="0"/>
          <a:chExt cx="0" cy="0"/>
        </a:xfrm>
      </p:grpSpPr>
      <p:sp>
        <p:nvSpPr>
          <p:cNvPr name="Freeform 2" id="2"/>
          <p:cNvSpPr/>
          <p:nvPr/>
        </p:nvSpPr>
        <p:spPr>
          <a:xfrm flipH="false" flipV="false" rot="0">
            <a:off x="-1090204" y="-4940295"/>
            <a:ext cx="22823352" cy="22823352"/>
          </a:xfrm>
          <a:custGeom>
            <a:avLst/>
            <a:gdLst/>
            <a:ahLst/>
            <a:cxnLst/>
            <a:rect r="r" b="b" t="t" l="l"/>
            <a:pathLst>
              <a:path h="22823352" w="22823352">
                <a:moveTo>
                  <a:pt x="0" y="0"/>
                </a:moveTo>
                <a:lnTo>
                  <a:pt x="22823352" y="0"/>
                </a:lnTo>
                <a:lnTo>
                  <a:pt x="22823352" y="22823352"/>
                </a:lnTo>
                <a:lnTo>
                  <a:pt x="0" y="22823352"/>
                </a:lnTo>
                <a:lnTo>
                  <a:pt x="0" y="0"/>
                </a:lnTo>
                <a:close/>
              </a:path>
            </a:pathLst>
          </a:custGeom>
          <a:blipFill>
            <a:blip r:embed="rId2">
              <a:alphaModFix amt="6000"/>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333135" y="853799"/>
            <a:ext cx="17703247" cy="9876100"/>
            <a:chOff x="0" y="0"/>
            <a:chExt cx="23604329" cy="13168133"/>
          </a:xfrm>
        </p:grpSpPr>
        <p:sp>
          <p:nvSpPr>
            <p:cNvPr name="Freeform 4" id="4"/>
            <p:cNvSpPr/>
            <p:nvPr/>
          </p:nvSpPr>
          <p:spPr>
            <a:xfrm flipH="false" flipV="false" rot="701560">
              <a:off x="197157" y="8873457"/>
              <a:ext cx="1762790" cy="2126173"/>
            </a:xfrm>
            <a:custGeom>
              <a:avLst/>
              <a:gdLst/>
              <a:ahLst/>
              <a:cxnLst/>
              <a:rect r="r" b="b" t="t" l="l"/>
              <a:pathLst>
                <a:path h="2126173" w="1762790">
                  <a:moveTo>
                    <a:pt x="0" y="0"/>
                  </a:moveTo>
                  <a:lnTo>
                    <a:pt x="1762791" y="0"/>
                  </a:lnTo>
                  <a:lnTo>
                    <a:pt x="1762791" y="2126173"/>
                  </a:lnTo>
                  <a:lnTo>
                    <a:pt x="0" y="2126173"/>
                  </a:lnTo>
                  <a:lnTo>
                    <a:pt x="0" y="0"/>
                  </a:lnTo>
                  <a:close/>
                </a:path>
              </a:pathLst>
            </a:custGeom>
            <a:blipFill>
              <a:blip r:embed="rId4">
                <a:alphaModFix amt="15300"/>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2250332">
              <a:off x="22140847" y="891104"/>
              <a:ext cx="1157983" cy="1396690"/>
            </a:xfrm>
            <a:custGeom>
              <a:avLst/>
              <a:gdLst/>
              <a:ahLst/>
              <a:cxnLst/>
              <a:rect r="r" b="b" t="t" l="l"/>
              <a:pathLst>
                <a:path h="1396690" w="1157983">
                  <a:moveTo>
                    <a:pt x="0" y="0"/>
                  </a:moveTo>
                  <a:lnTo>
                    <a:pt x="1157984" y="0"/>
                  </a:lnTo>
                  <a:lnTo>
                    <a:pt x="1157984" y="1396691"/>
                  </a:lnTo>
                  <a:lnTo>
                    <a:pt x="0" y="1396691"/>
                  </a:lnTo>
                  <a:lnTo>
                    <a:pt x="0" y="0"/>
                  </a:lnTo>
                  <a:close/>
                </a:path>
              </a:pathLst>
            </a:custGeom>
            <a:blipFill>
              <a:blip r:embed="rId4">
                <a:alphaModFix amt="15300"/>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701560">
              <a:off x="21052452" y="9468395"/>
              <a:ext cx="1762790" cy="2126173"/>
            </a:xfrm>
            <a:custGeom>
              <a:avLst/>
              <a:gdLst/>
              <a:ahLst/>
              <a:cxnLst/>
              <a:rect r="r" b="b" t="t" l="l"/>
              <a:pathLst>
                <a:path h="2126173" w="1762790">
                  <a:moveTo>
                    <a:pt x="0" y="0"/>
                  </a:moveTo>
                  <a:lnTo>
                    <a:pt x="1762791" y="0"/>
                  </a:lnTo>
                  <a:lnTo>
                    <a:pt x="1762791" y="2126173"/>
                  </a:lnTo>
                  <a:lnTo>
                    <a:pt x="0" y="2126173"/>
                  </a:lnTo>
                  <a:lnTo>
                    <a:pt x="0" y="0"/>
                  </a:lnTo>
                  <a:close/>
                </a:path>
              </a:pathLst>
            </a:custGeom>
            <a:blipFill>
              <a:blip r:embed="rId4">
                <a:alphaModFix amt="15300"/>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2279228">
              <a:off x="4803749" y="156972"/>
              <a:ext cx="872157" cy="1051944"/>
            </a:xfrm>
            <a:custGeom>
              <a:avLst/>
              <a:gdLst/>
              <a:ahLst/>
              <a:cxnLst/>
              <a:rect r="r" b="b" t="t" l="l"/>
              <a:pathLst>
                <a:path h="1051944" w="872157">
                  <a:moveTo>
                    <a:pt x="0" y="0"/>
                  </a:moveTo>
                  <a:lnTo>
                    <a:pt x="872158" y="0"/>
                  </a:lnTo>
                  <a:lnTo>
                    <a:pt x="872158" y="1051944"/>
                  </a:lnTo>
                  <a:lnTo>
                    <a:pt x="0" y="1051944"/>
                  </a:lnTo>
                  <a:lnTo>
                    <a:pt x="0" y="0"/>
                  </a:lnTo>
                  <a:close/>
                </a:path>
              </a:pathLst>
            </a:custGeom>
            <a:blipFill>
              <a:blip r:embed="rId4">
                <a:alphaModFix amt="15300"/>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701560">
              <a:off x="16308552" y="2540853"/>
              <a:ext cx="1091352" cy="1316324"/>
            </a:xfrm>
            <a:custGeom>
              <a:avLst/>
              <a:gdLst/>
              <a:ahLst/>
              <a:cxnLst/>
              <a:rect r="r" b="b" t="t" l="l"/>
              <a:pathLst>
                <a:path h="1316324" w="1091352">
                  <a:moveTo>
                    <a:pt x="0" y="0"/>
                  </a:moveTo>
                  <a:lnTo>
                    <a:pt x="1091353" y="0"/>
                  </a:lnTo>
                  <a:lnTo>
                    <a:pt x="1091353" y="1316324"/>
                  </a:lnTo>
                  <a:lnTo>
                    <a:pt x="0" y="1316324"/>
                  </a:lnTo>
                  <a:lnTo>
                    <a:pt x="0" y="0"/>
                  </a:lnTo>
                  <a:close/>
                </a:path>
              </a:pathLst>
            </a:custGeom>
            <a:blipFill>
              <a:blip r:embed="rId4">
                <a:alphaModFix amt="15300"/>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false" flipV="false" rot="-2250332">
              <a:off x="10617995" y="11563283"/>
              <a:ext cx="1157983" cy="1396690"/>
            </a:xfrm>
            <a:custGeom>
              <a:avLst/>
              <a:gdLst/>
              <a:ahLst/>
              <a:cxnLst/>
              <a:rect r="r" b="b" t="t" l="l"/>
              <a:pathLst>
                <a:path h="1396690" w="1157983">
                  <a:moveTo>
                    <a:pt x="0" y="0"/>
                  </a:moveTo>
                  <a:lnTo>
                    <a:pt x="1157983" y="0"/>
                  </a:lnTo>
                  <a:lnTo>
                    <a:pt x="1157983" y="1396690"/>
                  </a:lnTo>
                  <a:lnTo>
                    <a:pt x="0" y="1396690"/>
                  </a:lnTo>
                  <a:lnTo>
                    <a:pt x="0" y="0"/>
                  </a:lnTo>
                  <a:close/>
                </a:path>
              </a:pathLst>
            </a:custGeom>
            <a:blipFill>
              <a:blip r:embed="rId4">
                <a:alphaModFix amt="15300"/>
                <a:extLst>
                  <a:ext uri="{96DAC541-7B7A-43D3-8B79-37D633B846F1}">
                    <asvg:svgBlip xmlns:asvg="http://schemas.microsoft.com/office/drawing/2016/SVG/main" r:embed="rId5"/>
                  </a:ext>
                </a:extLst>
              </a:blip>
              <a:stretch>
                <a:fillRect l="0" t="0" r="0" b="0"/>
              </a:stretch>
            </a:blipFill>
          </p:spPr>
        </p:sp>
      </p:grpSp>
      <p:grpSp>
        <p:nvGrpSpPr>
          <p:cNvPr name="Group 10" id="10"/>
          <p:cNvGrpSpPr/>
          <p:nvPr/>
        </p:nvGrpSpPr>
        <p:grpSpPr>
          <a:xfrm rot="0">
            <a:off x="0" y="1028700"/>
            <a:ext cx="18288000" cy="763888"/>
            <a:chOff x="0" y="0"/>
            <a:chExt cx="4816593" cy="201189"/>
          </a:xfrm>
        </p:grpSpPr>
        <p:sp>
          <p:nvSpPr>
            <p:cNvPr name="Freeform 11" id="11"/>
            <p:cNvSpPr/>
            <p:nvPr/>
          </p:nvSpPr>
          <p:spPr>
            <a:xfrm flipH="false" flipV="false" rot="0">
              <a:off x="0" y="0"/>
              <a:ext cx="4816592" cy="201189"/>
            </a:xfrm>
            <a:custGeom>
              <a:avLst/>
              <a:gdLst/>
              <a:ahLst/>
              <a:cxnLst/>
              <a:rect r="r" b="b" t="t" l="l"/>
              <a:pathLst>
                <a:path h="201189" w="4816592">
                  <a:moveTo>
                    <a:pt x="0" y="0"/>
                  </a:moveTo>
                  <a:lnTo>
                    <a:pt x="4816592" y="0"/>
                  </a:lnTo>
                  <a:lnTo>
                    <a:pt x="4816592" y="201189"/>
                  </a:lnTo>
                  <a:lnTo>
                    <a:pt x="0" y="201189"/>
                  </a:lnTo>
                  <a:close/>
                </a:path>
              </a:pathLst>
            </a:custGeom>
            <a:solidFill>
              <a:srgbClr val="8574D1"/>
            </a:solidFill>
          </p:spPr>
        </p:sp>
        <p:sp>
          <p:nvSpPr>
            <p:cNvPr name="TextBox 12" id="12"/>
            <p:cNvSpPr txBox="true"/>
            <p:nvPr/>
          </p:nvSpPr>
          <p:spPr>
            <a:xfrm>
              <a:off x="0" y="-57150"/>
              <a:ext cx="4816593" cy="258339"/>
            </a:xfrm>
            <a:prstGeom prst="rect">
              <a:avLst/>
            </a:prstGeom>
          </p:spPr>
          <p:txBody>
            <a:bodyPr anchor="ctr" rtlCol="false" tIns="50800" lIns="50800" bIns="50800" rIns="50800"/>
            <a:lstStyle/>
            <a:p>
              <a:pPr algn="ctr">
                <a:lnSpc>
                  <a:spcPts val="4199"/>
                </a:lnSpc>
                <a:spcBef>
                  <a:spcPct val="0"/>
                </a:spcBef>
              </a:pPr>
            </a:p>
          </p:txBody>
        </p:sp>
      </p:grpSp>
      <p:sp>
        <p:nvSpPr>
          <p:cNvPr name="Freeform 13" id="13"/>
          <p:cNvSpPr/>
          <p:nvPr/>
        </p:nvSpPr>
        <p:spPr>
          <a:xfrm flipH="false" flipV="false" rot="0">
            <a:off x="1028700" y="3246107"/>
            <a:ext cx="7489788" cy="5091483"/>
          </a:xfrm>
          <a:custGeom>
            <a:avLst/>
            <a:gdLst/>
            <a:ahLst/>
            <a:cxnLst/>
            <a:rect r="r" b="b" t="t" l="l"/>
            <a:pathLst>
              <a:path h="5091483" w="7489788">
                <a:moveTo>
                  <a:pt x="0" y="0"/>
                </a:moveTo>
                <a:lnTo>
                  <a:pt x="7489788" y="0"/>
                </a:lnTo>
                <a:lnTo>
                  <a:pt x="7489788" y="5091484"/>
                </a:lnTo>
                <a:lnTo>
                  <a:pt x="0" y="5091484"/>
                </a:lnTo>
                <a:lnTo>
                  <a:pt x="0" y="0"/>
                </a:lnTo>
                <a:close/>
              </a:path>
            </a:pathLst>
          </a:custGeom>
          <a:blipFill>
            <a:blip r:embed="rId6"/>
            <a:stretch>
              <a:fillRect l="0" t="0" r="0" b="0"/>
            </a:stretch>
          </a:blipFill>
          <a:ln w="38100" cap="sq">
            <a:solidFill>
              <a:srgbClr val="000000"/>
            </a:solidFill>
            <a:prstDash val="solid"/>
            <a:miter/>
          </a:ln>
        </p:spPr>
      </p:sp>
      <p:sp>
        <p:nvSpPr>
          <p:cNvPr name="Freeform 14" id="14"/>
          <p:cNvSpPr/>
          <p:nvPr/>
        </p:nvSpPr>
        <p:spPr>
          <a:xfrm flipH="false" flipV="false" rot="0">
            <a:off x="9730515" y="3246107"/>
            <a:ext cx="7528785" cy="5065953"/>
          </a:xfrm>
          <a:custGeom>
            <a:avLst/>
            <a:gdLst/>
            <a:ahLst/>
            <a:cxnLst/>
            <a:rect r="r" b="b" t="t" l="l"/>
            <a:pathLst>
              <a:path h="5065953" w="7528785">
                <a:moveTo>
                  <a:pt x="0" y="0"/>
                </a:moveTo>
                <a:lnTo>
                  <a:pt x="7528785" y="0"/>
                </a:lnTo>
                <a:lnTo>
                  <a:pt x="7528785" y="5065953"/>
                </a:lnTo>
                <a:lnTo>
                  <a:pt x="0" y="5065953"/>
                </a:lnTo>
                <a:lnTo>
                  <a:pt x="0" y="0"/>
                </a:lnTo>
                <a:close/>
              </a:path>
            </a:pathLst>
          </a:custGeom>
          <a:blipFill>
            <a:blip r:embed="rId7"/>
            <a:stretch>
              <a:fillRect l="0" t="0" r="0" b="0"/>
            </a:stretch>
          </a:blipFill>
          <a:ln w="38100" cap="sq">
            <a:solidFill>
              <a:srgbClr val="000000"/>
            </a:solidFill>
            <a:prstDash val="solid"/>
            <a:miter/>
          </a:ln>
        </p:spPr>
      </p:sp>
      <p:sp>
        <p:nvSpPr>
          <p:cNvPr name="TextBox 15" id="15"/>
          <p:cNvSpPr txBox="true"/>
          <p:nvPr/>
        </p:nvSpPr>
        <p:spPr>
          <a:xfrm rot="0">
            <a:off x="1028700" y="1021707"/>
            <a:ext cx="12944061" cy="788035"/>
          </a:xfrm>
          <a:prstGeom prst="rect">
            <a:avLst/>
          </a:prstGeom>
        </p:spPr>
        <p:txBody>
          <a:bodyPr anchor="t" rtlCol="false" tIns="0" lIns="0" bIns="0" rIns="0">
            <a:spAutoFit/>
          </a:bodyPr>
          <a:lstStyle/>
          <a:p>
            <a:pPr algn="l">
              <a:lnSpc>
                <a:spcPts val="6440"/>
              </a:lnSpc>
            </a:pPr>
            <a:r>
              <a:rPr lang="en-US" sz="4600" b="true">
                <a:solidFill>
                  <a:srgbClr val="FFFFFF"/>
                </a:solidFill>
                <a:latin typeface="TT Chocolates Bold"/>
                <a:ea typeface="TT Chocolates Bold"/>
                <a:cs typeface="TT Chocolates Bold"/>
                <a:sym typeface="TT Chocolates Bold"/>
              </a:rPr>
              <a:t>8. Total Order Berdasarkan Bulan</a:t>
            </a:r>
          </a:p>
        </p:txBody>
      </p:sp>
      <p:sp>
        <p:nvSpPr>
          <p:cNvPr name="TextBox 16" id="16"/>
          <p:cNvSpPr txBox="true"/>
          <p:nvPr/>
        </p:nvSpPr>
        <p:spPr>
          <a:xfrm rot="0">
            <a:off x="1028700" y="2285876"/>
            <a:ext cx="3701807" cy="407781"/>
          </a:xfrm>
          <a:prstGeom prst="rect">
            <a:avLst/>
          </a:prstGeom>
        </p:spPr>
        <p:txBody>
          <a:bodyPr anchor="t" rtlCol="false" tIns="0" lIns="0" bIns="0" rIns="0">
            <a:spAutoFit/>
          </a:bodyPr>
          <a:lstStyle/>
          <a:p>
            <a:pPr algn="just">
              <a:lnSpc>
                <a:spcPts val="3248"/>
              </a:lnSpc>
            </a:pPr>
            <a:r>
              <a:rPr lang="en-US" sz="2320">
                <a:solidFill>
                  <a:srgbClr val="0E0340"/>
                </a:solidFill>
                <a:latin typeface="Questrial"/>
                <a:ea typeface="Questrial"/>
                <a:cs typeface="Questrial"/>
                <a:sym typeface="Questrial"/>
              </a:rPr>
              <a:t>SQL Analysis :</a:t>
            </a:r>
          </a:p>
        </p:txBody>
      </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bg>
      <p:bgPr>
        <a:solidFill>
          <a:srgbClr val="FBFBF9"/>
        </a:solidFill>
      </p:bgPr>
    </p:bg>
    <p:spTree>
      <p:nvGrpSpPr>
        <p:cNvPr id="1" name=""/>
        <p:cNvGrpSpPr/>
        <p:nvPr/>
      </p:nvGrpSpPr>
      <p:grpSpPr>
        <a:xfrm>
          <a:off x="0" y="0"/>
          <a:ext cx="0" cy="0"/>
          <a:chOff x="0" y="0"/>
          <a:chExt cx="0" cy="0"/>
        </a:xfrm>
      </p:grpSpPr>
      <p:grpSp>
        <p:nvGrpSpPr>
          <p:cNvPr name="Group 2" id="2"/>
          <p:cNvGrpSpPr/>
          <p:nvPr/>
        </p:nvGrpSpPr>
        <p:grpSpPr>
          <a:xfrm rot="0">
            <a:off x="11619354" y="0"/>
            <a:ext cx="7374246" cy="11168682"/>
            <a:chOff x="0" y="0"/>
            <a:chExt cx="1942188" cy="2941546"/>
          </a:xfrm>
        </p:grpSpPr>
        <p:sp>
          <p:nvSpPr>
            <p:cNvPr name="Freeform 3" id="3"/>
            <p:cNvSpPr/>
            <p:nvPr/>
          </p:nvSpPr>
          <p:spPr>
            <a:xfrm flipH="false" flipV="false" rot="0">
              <a:off x="0" y="0"/>
              <a:ext cx="1942188" cy="2941546"/>
            </a:xfrm>
            <a:custGeom>
              <a:avLst/>
              <a:gdLst/>
              <a:ahLst/>
              <a:cxnLst/>
              <a:rect r="r" b="b" t="t" l="l"/>
              <a:pathLst>
                <a:path h="2941546" w="1942188">
                  <a:moveTo>
                    <a:pt x="0" y="0"/>
                  </a:moveTo>
                  <a:lnTo>
                    <a:pt x="1942188" y="0"/>
                  </a:lnTo>
                  <a:lnTo>
                    <a:pt x="1942188" y="2941546"/>
                  </a:lnTo>
                  <a:lnTo>
                    <a:pt x="0" y="2941546"/>
                  </a:lnTo>
                  <a:close/>
                </a:path>
              </a:pathLst>
            </a:custGeom>
            <a:solidFill>
              <a:srgbClr val="E0DAED"/>
            </a:solidFill>
          </p:spPr>
        </p:sp>
        <p:sp>
          <p:nvSpPr>
            <p:cNvPr name="TextBox 4" id="4"/>
            <p:cNvSpPr txBox="true"/>
            <p:nvPr/>
          </p:nvSpPr>
          <p:spPr>
            <a:xfrm>
              <a:off x="0" y="-38100"/>
              <a:ext cx="1942188" cy="2979646"/>
            </a:xfrm>
            <a:prstGeom prst="rect">
              <a:avLst/>
            </a:prstGeom>
          </p:spPr>
          <p:txBody>
            <a:bodyPr anchor="ctr" rtlCol="false" tIns="50800" lIns="50800" bIns="50800" rIns="50800"/>
            <a:lstStyle/>
            <a:p>
              <a:pPr algn="ctr">
                <a:lnSpc>
                  <a:spcPts val="2659"/>
                </a:lnSpc>
              </a:pPr>
            </a:p>
          </p:txBody>
        </p:sp>
      </p:grpSp>
      <p:sp>
        <p:nvSpPr>
          <p:cNvPr name="AutoShape 5" id="5"/>
          <p:cNvSpPr/>
          <p:nvPr/>
        </p:nvSpPr>
        <p:spPr>
          <a:xfrm>
            <a:off x="11619354" y="0"/>
            <a:ext cx="0" cy="10287000"/>
          </a:xfrm>
          <a:prstGeom prst="line">
            <a:avLst/>
          </a:prstGeom>
          <a:ln cap="flat" w="38100">
            <a:solidFill>
              <a:srgbClr val="602E9E"/>
            </a:solidFill>
            <a:prstDash val="sysDash"/>
            <a:headEnd type="none" len="sm" w="sm"/>
            <a:tailEnd type="none" len="sm" w="sm"/>
          </a:ln>
        </p:spPr>
      </p:sp>
      <p:sp>
        <p:nvSpPr>
          <p:cNvPr name="Freeform 6" id="6"/>
          <p:cNvSpPr/>
          <p:nvPr/>
        </p:nvSpPr>
        <p:spPr>
          <a:xfrm flipH="false" flipV="false" rot="0">
            <a:off x="555637" y="1986645"/>
            <a:ext cx="10558892" cy="6084561"/>
          </a:xfrm>
          <a:custGeom>
            <a:avLst/>
            <a:gdLst/>
            <a:ahLst/>
            <a:cxnLst/>
            <a:rect r="r" b="b" t="t" l="l"/>
            <a:pathLst>
              <a:path h="6084561" w="10558892">
                <a:moveTo>
                  <a:pt x="0" y="0"/>
                </a:moveTo>
                <a:lnTo>
                  <a:pt x="10558892" y="0"/>
                </a:lnTo>
                <a:lnTo>
                  <a:pt x="10558892" y="6084562"/>
                </a:lnTo>
                <a:lnTo>
                  <a:pt x="0" y="6084562"/>
                </a:lnTo>
                <a:lnTo>
                  <a:pt x="0" y="0"/>
                </a:lnTo>
                <a:close/>
              </a:path>
            </a:pathLst>
          </a:custGeom>
          <a:blipFill>
            <a:blip r:embed="rId2"/>
            <a:stretch>
              <a:fillRect l="0" t="0" r="0" b="0"/>
            </a:stretch>
          </a:blipFill>
        </p:spPr>
      </p:sp>
      <p:sp>
        <p:nvSpPr>
          <p:cNvPr name="TextBox 7" id="7"/>
          <p:cNvSpPr txBox="true"/>
          <p:nvPr/>
        </p:nvSpPr>
        <p:spPr>
          <a:xfrm rot="0">
            <a:off x="11990829" y="1929495"/>
            <a:ext cx="5723965" cy="5199380"/>
          </a:xfrm>
          <a:prstGeom prst="rect">
            <a:avLst/>
          </a:prstGeom>
        </p:spPr>
        <p:txBody>
          <a:bodyPr anchor="t" rtlCol="false" tIns="0" lIns="0" bIns="0" rIns="0">
            <a:spAutoFit/>
          </a:bodyPr>
          <a:lstStyle/>
          <a:p>
            <a:pPr algn="just">
              <a:lnSpc>
                <a:spcPts val="3220"/>
              </a:lnSpc>
            </a:pPr>
            <a:r>
              <a:rPr lang="en-US" sz="2300" b="true">
                <a:solidFill>
                  <a:srgbClr val="0E0340"/>
                </a:solidFill>
                <a:latin typeface="TT Chocolates Bold"/>
                <a:ea typeface="TT Chocolates Bold"/>
                <a:cs typeface="TT Chocolates Bold"/>
                <a:sym typeface="TT Chocolates Bold"/>
              </a:rPr>
              <a:t>Insight : </a:t>
            </a:r>
          </a:p>
          <a:p>
            <a:pPr algn="just">
              <a:lnSpc>
                <a:spcPts val="3220"/>
              </a:lnSpc>
            </a:pPr>
            <a:r>
              <a:rPr lang="en-US" sz="2300">
                <a:solidFill>
                  <a:srgbClr val="0E0340"/>
                </a:solidFill>
                <a:latin typeface="TT Chocolates"/>
                <a:ea typeface="TT Chocolates"/>
                <a:cs typeface="TT Chocolates"/>
                <a:sym typeface="TT Chocolates"/>
              </a:rPr>
              <a:t>Berdasarkan grafik di samping, jumlah order menunjukkan tren meningkat dari akhir 2016 hingga mencapai puncak pada akhir November 2017, kemudian relatif stabil dengan sedikit </a:t>
            </a:r>
            <a:r>
              <a:rPr lang="en-US" sz="2300" u="sng">
                <a:solidFill>
                  <a:srgbClr val="0E0340"/>
                </a:solidFill>
                <a:latin typeface="TT Chocolates"/>
                <a:ea typeface="TT Chocolates"/>
                <a:cs typeface="TT Chocolates"/>
                <a:sym typeface="TT Chocolates"/>
              </a:rPr>
              <a:t>fluktuasi selama 8 bulan pada tahun 2018</a:t>
            </a:r>
            <a:r>
              <a:rPr lang="en-US" sz="2300">
                <a:solidFill>
                  <a:srgbClr val="0E0340"/>
                </a:solidFill>
                <a:latin typeface="TT Chocolates"/>
                <a:ea typeface="TT Chocolates"/>
                <a:cs typeface="TT Chocolates"/>
                <a:sym typeface="TT Chocolates"/>
              </a:rPr>
              <a:t>. Terjadi </a:t>
            </a:r>
            <a:r>
              <a:rPr lang="en-US" sz="2300" b="true">
                <a:solidFill>
                  <a:srgbClr val="0E0340"/>
                </a:solidFill>
                <a:latin typeface="TT Chocolates Bold"/>
                <a:ea typeface="TT Chocolates Bold"/>
                <a:cs typeface="TT Chocolates Bold"/>
                <a:sym typeface="TT Chocolates Bold"/>
              </a:rPr>
              <a:t>penurunan tajam di akhir periode</a:t>
            </a:r>
            <a:r>
              <a:rPr lang="en-US" sz="2300" u="sng">
                <a:solidFill>
                  <a:srgbClr val="0E0340"/>
                </a:solidFill>
                <a:latin typeface="TT Chocolates"/>
                <a:ea typeface="TT Chocolates"/>
                <a:cs typeface="TT Chocolates"/>
                <a:sym typeface="TT Chocolates"/>
              </a:rPr>
              <a:t>.</a:t>
            </a:r>
            <a:r>
              <a:rPr lang="en-US" sz="2300">
                <a:solidFill>
                  <a:srgbClr val="0E0340"/>
                </a:solidFill>
                <a:latin typeface="TT Chocolates"/>
                <a:ea typeface="TT Chocolates"/>
                <a:cs typeface="TT Chocolates"/>
                <a:sym typeface="TT Chocolates"/>
              </a:rPr>
              <a:t> Kondisi ini dapat dijadikan sebagai sinyal peringatan bagi perusahaan untuk memantau potensi penurunan pendapatan pada periode mendatang dan mengidentifikasi faktor-faktor yang menyebabkan berkurangnya volume transaksi.</a:t>
            </a:r>
          </a:p>
        </p:txBody>
      </p:sp>
      <p:sp>
        <p:nvSpPr>
          <p:cNvPr name="TextBox 8" id="8"/>
          <p:cNvSpPr txBox="true"/>
          <p:nvPr/>
        </p:nvSpPr>
        <p:spPr>
          <a:xfrm rot="0">
            <a:off x="555637" y="8636228"/>
            <a:ext cx="10842175" cy="799490"/>
          </a:xfrm>
          <a:prstGeom prst="rect">
            <a:avLst/>
          </a:prstGeom>
        </p:spPr>
        <p:txBody>
          <a:bodyPr anchor="t" rtlCol="false" tIns="0" lIns="0" bIns="0" rIns="0">
            <a:spAutoFit/>
          </a:bodyPr>
          <a:lstStyle/>
          <a:p>
            <a:pPr algn="just">
              <a:lnSpc>
                <a:spcPts val="3183"/>
              </a:lnSpc>
            </a:pPr>
            <a:r>
              <a:rPr lang="en-US" sz="2274">
                <a:solidFill>
                  <a:srgbClr val="0E0340"/>
                </a:solidFill>
                <a:latin typeface="Questrial"/>
                <a:ea typeface="Questrial"/>
                <a:cs typeface="Questrial"/>
                <a:sym typeface="Questrial"/>
              </a:rPr>
              <a:t>Menggunakan line chart karena dapat menunjukkan perubahan dan tren jumlah order dari bulan ke bulan dengan jelas</a:t>
            </a:r>
          </a:p>
        </p:txBody>
      </p:sp>
      <p:sp>
        <p:nvSpPr>
          <p:cNvPr name="TextBox 9" id="9"/>
          <p:cNvSpPr txBox="true"/>
          <p:nvPr/>
        </p:nvSpPr>
        <p:spPr>
          <a:xfrm rot="0">
            <a:off x="3032876" y="787653"/>
            <a:ext cx="5604414" cy="579867"/>
          </a:xfrm>
          <a:prstGeom prst="rect">
            <a:avLst/>
          </a:prstGeom>
        </p:spPr>
        <p:txBody>
          <a:bodyPr anchor="t" rtlCol="false" tIns="0" lIns="0" bIns="0" rIns="0">
            <a:spAutoFit/>
          </a:bodyPr>
          <a:lstStyle/>
          <a:p>
            <a:pPr algn="just">
              <a:lnSpc>
                <a:spcPts val="4788"/>
              </a:lnSpc>
            </a:pPr>
            <a:r>
              <a:rPr lang="en-US" sz="3420" b="true">
                <a:solidFill>
                  <a:srgbClr val="0E0340"/>
                </a:solidFill>
                <a:latin typeface="TT Chocolates Bold"/>
                <a:ea typeface="TT Chocolates Bold"/>
                <a:cs typeface="TT Chocolates Bold"/>
                <a:sym typeface="TT Chocolates Bold"/>
              </a:rPr>
              <a:t>Hasil Visualisasi (Matplotlib)</a:t>
            </a:r>
          </a:p>
        </p:txBody>
      </p:sp>
    </p:spTree>
  </p:cSld>
  <p:clrMapOvr>
    <a:masterClrMapping/>
  </p:clrMapOvr>
</p:sld>
</file>

<file path=ppt/slides/slide28.xml><?xml version="1.0" encoding="utf-8"?>
<p:sld xmlns:p="http://schemas.openxmlformats.org/presentationml/2006/main" xmlns:a="http://schemas.openxmlformats.org/drawingml/2006/main" xmlns:r="http://schemas.openxmlformats.org/officeDocument/2006/relationships">
  <p:cSld>
    <p:bg>
      <p:bgPr>
        <a:solidFill>
          <a:srgbClr val="FBFBF9"/>
        </a:solidFill>
      </p:bgPr>
    </p:bg>
    <p:spTree>
      <p:nvGrpSpPr>
        <p:cNvPr id="1" name=""/>
        <p:cNvGrpSpPr/>
        <p:nvPr/>
      </p:nvGrpSpPr>
      <p:grpSpPr>
        <a:xfrm>
          <a:off x="0" y="0"/>
          <a:ext cx="0" cy="0"/>
          <a:chOff x="0" y="0"/>
          <a:chExt cx="0" cy="0"/>
        </a:xfrm>
      </p:grpSpPr>
      <p:sp>
        <p:nvSpPr>
          <p:cNvPr name="Freeform 2" id="2"/>
          <p:cNvSpPr/>
          <p:nvPr/>
        </p:nvSpPr>
        <p:spPr>
          <a:xfrm flipH="false" flipV="false" rot="0">
            <a:off x="-2267676" y="-6268176"/>
            <a:ext cx="22823352" cy="22823352"/>
          </a:xfrm>
          <a:custGeom>
            <a:avLst/>
            <a:gdLst/>
            <a:ahLst/>
            <a:cxnLst/>
            <a:rect r="r" b="b" t="t" l="l"/>
            <a:pathLst>
              <a:path h="22823352" w="22823352">
                <a:moveTo>
                  <a:pt x="0" y="0"/>
                </a:moveTo>
                <a:lnTo>
                  <a:pt x="22823352" y="0"/>
                </a:lnTo>
                <a:lnTo>
                  <a:pt x="22823352" y="22823352"/>
                </a:lnTo>
                <a:lnTo>
                  <a:pt x="0" y="22823352"/>
                </a:lnTo>
                <a:lnTo>
                  <a:pt x="0" y="0"/>
                </a:lnTo>
                <a:close/>
              </a:path>
            </a:pathLst>
          </a:custGeom>
          <a:blipFill>
            <a:blip r:embed="rId2">
              <a:alphaModFix amt="6000"/>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856243" y="1429696"/>
            <a:ext cx="13527550" cy="169275"/>
            <a:chOff x="0" y="0"/>
            <a:chExt cx="3562812" cy="44583"/>
          </a:xfrm>
        </p:grpSpPr>
        <p:sp>
          <p:nvSpPr>
            <p:cNvPr name="Freeform 4" id="4"/>
            <p:cNvSpPr/>
            <p:nvPr/>
          </p:nvSpPr>
          <p:spPr>
            <a:xfrm flipH="false" flipV="false" rot="0">
              <a:off x="0" y="0"/>
              <a:ext cx="3562812" cy="44583"/>
            </a:xfrm>
            <a:custGeom>
              <a:avLst/>
              <a:gdLst/>
              <a:ahLst/>
              <a:cxnLst/>
              <a:rect r="r" b="b" t="t" l="l"/>
              <a:pathLst>
                <a:path h="44583" w="3562812">
                  <a:moveTo>
                    <a:pt x="0" y="0"/>
                  </a:moveTo>
                  <a:lnTo>
                    <a:pt x="3562812" y="0"/>
                  </a:lnTo>
                  <a:lnTo>
                    <a:pt x="3562812" y="44583"/>
                  </a:lnTo>
                  <a:lnTo>
                    <a:pt x="0" y="44583"/>
                  </a:lnTo>
                  <a:close/>
                </a:path>
              </a:pathLst>
            </a:custGeom>
            <a:solidFill>
              <a:srgbClr val="8574D1"/>
            </a:solidFill>
          </p:spPr>
        </p:sp>
        <p:sp>
          <p:nvSpPr>
            <p:cNvPr name="TextBox 5" id="5"/>
            <p:cNvSpPr txBox="true"/>
            <p:nvPr/>
          </p:nvSpPr>
          <p:spPr>
            <a:xfrm>
              <a:off x="0" y="-47625"/>
              <a:ext cx="3562812" cy="92208"/>
            </a:xfrm>
            <a:prstGeom prst="rect">
              <a:avLst/>
            </a:prstGeom>
          </p:spPr>
          <p:txBody>
            <a:bodyPr anchor="ctr" rtlCol="false" tIns="50800" lIns="50800" bIns="50800" rIns="50800"/>
            <a:lstStyle/>
            <a:p>
              <a:pPr algn="ctr">
                <a:lnSpc>
                  <a:spcPts val="2659"/>
                </a:lnSpc>
                <a:spcBef>
                  <a:spcPct val="0"/>
                </a:spcBef>
              </a:pPr>
            </a:p>
          </p:txBody>
        </p:sp>
      </p:grpSp>
      <p:sp>
        <p:nvSpPr>
          <p:cNvPr name="TextBox 6" id="6"/>
          <p:cNvSpPr txBox="true"/>
          <p:nvPr/>
        </p:nvSpPr>
        <p:spPr>
          <a:xfrm rot="0">
            <a:off x="856243" y="348226"/>
            <a:ext cx="9236902" cy="913130"/>
          </a:xfrm>
          <a:prstGeom prst="rect">
            <a:avLst/>
          </a:prstGeom>
        </p:spPr>
        <p:txBody>
          <a:bodyPr anchor="t" rtlCol="false" tIns="0" lIns="0" bIns="0" rIns="0">
            <a:spAutoFit/>
          </a:bodyPr>
          <a:lstStyle/>
          <a:p>
            <a:pPr algn="just">
              <a:lnSpc>
                <a:spcPts val="7420"/>
              </a:lnSpc>
            </a:pPr>
            <a:r>
              <a:rPr lang="en-US" sz="5300" b="true">
                <a:solidFill>
                  <a:srgbClr val="0E0340"/>
                </a:solidFill>
                <a:latin typeface="TT Chocolates Bold"/>
                <a:ea typeface="TT Chocolates Bold"/>
                <a:cs typeface="TT Chocolates Bold"/>
                <a:sym typeface="TT Chocolates Bold"/>
              </a:rPr>
              <a:t>07. Recommendation</a:t>
            </a:r>
          </a:p>
        </p:txBody>
      </p:sp>
      <p:grpSp>
        <p:nvGrpSpPr>
          <p:cNvPr name="Group 7" id="7"/>
          <p:cNvGrpSpPr/>
          <p:nvPr/>
        </p:nvGrpSpPr>
        <p:grpSpPr>
          <a:xfrm rot="5400000">
            <a:off x="8770262" y="-4090480"/>
            <a:ext cx="2498007" cy="14480068"/>
            <a:chOff x="0" y="0"/>
            <a:chExt cx="447021" cy="2591220"/>
          </a:xfrm>
        </p:grpSpPr>
        <p:sp>
          <p:nvSpPr>
            <p:cNvPr name="Freeform 8" id="8"/>
            <p:cNvSpPr/>
            <p:nvPr/>
          </p:nvSpPr>
          <p:spPr>
            <a:xfrm flipH="false" flipV="false" rot="0">
              <a:off x="0" y="0"/>
              <a:ext cx="447021" cy="2591220"/>
            </a:xfrm>
            <a:custGeom>
              <a:avLst/>
              <a:gdLst/>
              <a:ahLst/>
              <a:cxnLst/>
              <a:rect r="r" b="b" t="t" l="l"/>
              <a:pathLst>
                <a:path h="2591220" w="447021">
                  <a:moveTo>
                    <a:pt x="447021" y="75336"/>
                  </a:moveTo>
                  <a:lnTo>
                    <a:pt x="447021" y="2591220"/>
                  </a:lnTo>
                  <a:lnTo>
                    <a:pt x="223510" y="2492160"/>
                  </a:lnTo>
                  <a:lnTo>
                    <a:pt x="0" y="2591220"/>
                  </a:lnTo>
                  <a:lnTo>
                    <a:pt x="0" y="75336"/>
                  </a:lnTo>
                  <a:cubicBezTo>
                    <a:pt x="0" y="22860"/>
                    <a:pt x="26821" y="0"/>
                    <a:pt x="58113" y="0"/>
                  </a:cubicBezTo>
                  <a:lnTo>
                    <a:pt x="388908" y="0"/>
                  </a:lnTo>
                  <a:cubicBezTo>
                    <a:pt x="420199" y="0"/>
                    <a:pt x="447021" y="21590"/>
                    <a:pt x="447021" y="83057"/>
                  </a:cubicBezTo>
                  <a:close/>
                </a:path>
              </a:pathLst>
            </a:custGeom>
            <a:solidFill>
              <a:srgbClr val="8574D1"/>
            </a:solidFill>
          </p:spPr>
        </p:sp>
        <p:sp>
          <p:nvSpPr>
            <p:cNvPr name="TextBox 9" id="9"/>
            <p:cNvSpPr txBox="true"/>
            <p:nvPr/>
          </p:nvSpPr>
          <p:spPr>
            <a:xfrm>
              <a:off x="0" y="-47625"/>
              <a:ext cx="447021" cy="2539785"/>
            </a:xfrm>
            <a:prstGeom prst="rect">
              <a:avLst/>
            </a:prstGeom>
          </p:spPr>
          <p:txBody>
            <a:bodyPr anchor="ctr" rtlCol="false" tIns="50800" lIns="50800" bIns="50800" rIns="50800"/>
            <a:lstStyle/>
            <a:p>
              <a:pPr algn="ctr">
                <a:lnSpc>
                  <a:spcPts val="2659"/>
                </a:lnSpc>
              </a:pPr>
            </a:p>
          </p:txBody>
        </p:sp>
      </p:grpSp>
      <p:grpSp>
        <p:nvGrpSpPr>
          <p:cNvPr name="Group 10" id="10"/>
          <p:cNvGrpSpPr/>
          <p:nvPr/>
        </p:nvGrpSpPr>
        <p:grpSpPr>
          <a:xfrm rot="5400000">
            <a:off x="8770262" y="-1411498"/>
            <a:ext cx="2498007" cy="14480068"/>
            <a:chOff x="0" y="0"/>
            <a:chExt cx="447021" cy="2591220"/>
          </a:xfrm>
        </p:grpSpPr>
        <p:sp>
          <p:nvSpPr>
            <p:cNvPr name="Freeform 11" id="11"/>
            <p:cNvSpPr/>
            <p:nvPr/>
          </p:nvSpPr>
          <p:spPr>
            <a:xfrm flipH="false" flipV="false" rot="0">
              <a:off x="0" y="0"/>
              <a:ext cx="447021" cy="2591220"/>
            </a:xfrm>
            <a:custGeom>
              <a:avLst/>
              <a:gdLst/>
              <a:ahLst/>
              <a:cxnLst/>
              <a:rect r="r" b="b" t="t" l="l"/>
              <a:pathLst>
                <a:path h="2591220" w="447021">
                  <a:moveTo>
                    <a:pt x="447021" y="75336"/>
                  </a:moveTo>
                  <a:lnTo>
                    <a:pt x="447021" y="2591220"/>
                  </a:lnTo>
                  <a:lnTo>
                    <a:pt x="223510" y="2492160"/>
                  </a:lnTo>
                  <a:lnTo>
                    <a:pt x="0" y="2591220"/>
                  </a:lnTo>
                  <a:lnTo>
                    <a:pt x="0" y="75336"/>
                  </a:lnTo>
                  <a:cubicBezTo>
                    <a:pt x="0" y="22860"/>
                    <a:pt x="26821" y="0"/>
                    <a:pt x="58113" y="0"/>
                  </a:cubicBezTo>
                  <a:lnTo>
                    <a:pt x="388908" y="0"/>
                  </a:lnTo>
                  <a:cubicBezTo>
                    <a:pt x="420199" y="0"/>
                    <a:pt x="447021" y="21590"/>
                    <a:pt x="447021" y="83057"/>
                  </a:cubicBezTo>
                  <a:close/>
                </a:path>
              </a:pathLst>
            </a:custGeom>
            <a:solidFill>
              <a:srgbClr val="8574D1">
                <a:alpha val="49804"/>
              </a:srgbClr>
            </a:solidFill>
          </p:spPr>
        </p:sp>
        <p:sp>
          <p:nvSpPr>
            <p:cNvPr name="TextBox 12" id="12"/>
            <p:cNvSpPr txBox="true"/>
            <p:nvPr/>
          </p:nvSpPr>
          <p:spPr>
            <a:xfrm>
              <a:off x="0" y="-47625"/>
              <a:ext cx="447021" cy="2539785"/>
            </a:xfrm>
            <a:prstGeom prst="rect">
              <a:avLst/>
            </a:prstGeom>
          </p:spPr>
          <p:txBody>
            <a:bodyPr anchor="ctr" rtlCol="false" tIns="50800" lIns="50800" bIns="50800" rIns="50800"/>
            <a:lstStyle/>
            <a:p>
              <a:pPr algn="ctr">
                <a:lnSpc>
                  <a:spcPts val="2659"/>
                </a:lnSpc>
              </a:pPr>
            </a:p>
          </p:txBody>
        </p:sp>
      </p:grpSp>
      <p:grpSp>
        <p:nvGrpSpPr>
          <p:cNvPr name="Group 13" id="13"/>
          <p:cNvGrpSpPr/>
          <p:nvPr/>
        </p:nvGrpSpPr>
        <p:grpSpPr>
          <a:xfrm rot="5400000">
            <a:off x="8770262" y="1267485"/>
            <a:ext cx="2498007" cy="14480068"/>
            <a:chOff x="0" y="0"/>
            <a:chExt cx="447021" cy="2591220"/>
          </a:xfrm>
        </p:grpSpPr>
        <p:sp>
          <p:nvSpPr>
            <p:cNvPr name="Freeform 14" id="14"/>
            <p:cNvSpPr/>
            <p:nvPr/>
          </p:nvSpPr>
          <p:spPr>
            <a:xfrm flipH="false" flipV="false" rot="0">
              <a:off x="0" y="0"/>
              <a:ext cx="447021" cy="2591220"/>
            </a:xfrm>
            <a:custGeom>
              <a:avLst/>
              <a:gdLst/>
              <a:ahLst/>
              <a:cxnLst/>
              <a:rect r="r" b="b" t="t" l="l"/>
              <a:pathLst>
                <a:path h="2591220" w="447021">
                  <a:moveTo>
                    <a:pt x="447021" y="75336"/>
                  </a:moveTo>
                  <a:lnTo>
                    <a:pt x="447021" y="2591220"/>
                  </a:lnTo>
                  <a:lnTo>
                    <a:pt x="223510" y="2492160"/>
                  </a:lnTo>
                  <a:lnTo>
                    <a:pt x="0" y="2591220"/>
                  </a:lnTo>
                  <a:lnTo>
                    <a:pt x="0" y="75336"/>
                  </a:lnTo>
                  <a:cubicBezTo>
                    <a:pt x="0" y="22860"/>
                    <a:pt x="26821" y="0"/>
                    <a:pt x="58113" y="0"/>
                  </a:cubicBezTo>
                  <a:lnTo>
                    <a:pt x="388908" y="0"/>
                  </a:lnTo>
                  <a:cubicBezTo>
                    <a:pt x="420199" y="0"/>
                    <a:pt x="447021" y="21590"/>
                    <a:pt x="447021" y="83057"/>
                  </a:cubicBezTo>
                  <a:close/>
                </a:path>
              </a:pathLst>
            </a:custGeom>
            <a:solidFill>
              <a:srgbClr val="E0DAED"/>
            </a:solidFill>
          </p:spPr>
        </p:sp>
        <p:sp>
          <p:nvSpPr>
            <p:cNvPr name="TextBox 15" id="15"/>
            <p:cNvSpPr txBox="true"/>
            <p:nvPr/>
          </p:nvSpPr>
          <p:spPr>
            <a:xfrm>
              <a:off x="0" y="-47625"/>
              <a:ext cx="447021" cy="2539785"/>
            </a:xfrm>
            <a:prstGeom prst="rect">
              <a:avLst/>
            </a:prstGeom>
          </p:spPr>
          <p:txBody>
            <a:bodyPr anchor="ctr" rtlCol="false" tIns="50800" lIns="50800" bIns="50800" rIns="50800"/>
            <a:lstStyle/>
            <a:p>
              <a:pPr algn="ctr">
                <a:lnSpc>
                  <a:spcPts val="2659"/>
                </a:lnSpc>
              </a:pPr>
            </a:p>
          </p:txBody>
        </p:sp>
      </p:grpSp>
      <p:grpSp>
        <p:nvGrpSpPr>
          <p:cNvPr name="Group 16" id="16"/>
          <p:cNvGrpSpPr/>
          <p:nvPr/>
        </p:nvGrpSpPr>
        <p:grpSpPr>
          <a:xfrm rot="0">
            <a:off x="856243" y="1945607"/>
            <a:ext cx="1543050" cy="2407894"/>
            <a:chOff x="0" y="0"/>
            <a:chExt cx="406400" cy="634178"/>
          </a:xfrm>
        </p:grpSpPr>
        <p:sp>
          <p:nvSpPr>
            <p:cNvPr name="Freeform 17" id="17"/>
            <p:cNvSpPr/>
            <p:nvPr/>
          </p:nvSpPr>
          <p:spPr>
            <a:xfrm flipH="false" flipV="false" rot="0">
              <a:off x="0" y="0"/>
              <a:ext cx="406400" cy="634178"/>
            </a:xfrm>
            <a:custGeom>
              <a:avLst/>
              <a:gdLst/>
              <a:ahLst/>
              <a:cxnLst/>
              <a:rect r="r" b="b" t="t" l="l"/>
              <a:pathLst>
                <a:path h="634178" w="406400">
                  <a:moveTo>
                    <a:pt x="0" y="0"/>
                  </a:moveTo>
                  <a:lnTo>
                    <a:pt x="406400" y="0"/>
                  </a:lnTo>
                  <a:lnTo>
                    <a:pt x="406400" y="634178"/>
                  </a:lnTo>
                  <a:lnTo>
                    <a:pt x="0" y="634178"/>
                  </a:lnTo>
                  <a:close/>
                </a:path>
              </a:pathLst>
            </a:custGeom>
            <a:solidFill>
              <a:srgbClr val="8574D1"/>
            </a:solidFill>
          </p:spPr>
        </p:sp>
        <p:sp>
          <p:nvSpPr>
            <p:cNvPr name="TextBox 18" id="18"/>
            <p:cNvSpPr txBox="true"/>
            <p:nvPr/>
          </p:nvSpPr>
          <p:spPr>
            <a:xfrm>
              <a:off x="0" y="-47625"/>
              <a:ext cx="406400" cy="681803"/>
            </a:xfrm>
            <a:prstGeom prst="rect">
              <a:avLst/>
            </a:prstGeom>
          </p:spPr>
          <p:txBody>
            <a:bodyPr anchor="ctr" rtlCol="false" tIns="50800" lIns="50800" bIns="50800" rIns="50800"/>
            <a:lstStyle/>
            <a:p>
              <a:pPr algn="ctr">
                <a:lnSpc>
                  <a:spcPts val="2659"/>
                </a:lnSpc>
              </a:pPr>
            </a:p>
          </p:txBody>
        </p:sp>
      </p:grpSp>
      <p:grpSp>
        <p:nvGrpSpPr>
          <p:cNvPr name="Group 19" id="19"/>
          <p:cNvGrpSpPr/>
          <p:nvPr/>
        </p:nvGrpSpPr>
        <p:grpSpPr>
          <a:xfrm rot="0">
            <a:off x="973869" y="2495655"/>
            <a:ext cx="1307797" cy="1307797"/>
            <a:chOff x="0" y="0"/>
            <a:chExt cx="812800" cy="812800"/>
          </a:xfrm>
        </p:grpSpPr>
        <p:sp>
          <p:nvSpPr>
            <p:cNvPr name="Freeform 20" id="2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0DAED"/>
            </a:solidFill>
          </p:spPr>
        </p:sp>
        <p:sp>
          <p:nvSpPr>
            <p:cNvPr name="TextBox 21" id="21"/>
            <p:cNvSpPr txBox="true"/>
            <p:nvPr/>
          </p:nvSpPr>
          <p:spPr>
            <a:xfrm>
              <a:off x="76200" y="28575"/>
              <a:ext cx="660400" cy="708025"/>
            </a:xfrm>
            <a:prstGeom prst="rect">
              <a:avLst/>
            </a:prstGeom>
          </p:spPr>
          <p:txBody>
            <a:bodyPr anchor="ctr" rtlCol="false" tIns="50800" lIns="50800" bIns="50800" rIns="50800"/>
            <a:lstStyle/>
            <a:p>
              <a:pPr algn="ctr">
                <a:lnSpc>
                  <a:spcPts val="2659"/>
                </a:lnSpc>
              </a:pPr>
            </a:p>
          </p:txBody>
        </p:sp>
      </p:grpSp>
      <p:grpSp>
        <p:nvGrpSpPr>
          <p:cNvPr name="Group 22" id="22"/>
          <p:cNvGrpSpPr/>
          <p:nvPr/>
        </p:nvGrpSpPr>
        <p:grpSpPr>
          <a:xfrm rot="0">
            <a:off x="856243" y="7348629"/>
            <a:ext cx="1543050" cy="2407894"/>
            <a:chOff x="0" y="0"/>
            <a:chExt cx="406400" cy="634178"/>
          </a:xfrm>
        </p:grpSpPr>
        <p:sp>
          <p:nvSpPr>
            <p:cNvPr name="Freeform 23" id="23"/>
            <p:cNvSpPr/>
            <p:nvPr/>
          </p:nvSpPr>
          <p:spPr>
            <a:xfrm flipH="false" flipV="false" rot="0">
              <a:off x="0" y="0"/>
              <a:ext cx="406400" cy="634178"/>
            </a:xfrm>
            <a:custGeom>
              <a:avLst/>
              <a:gdLst/>
              <a:ahLst/>
              <a:cxnLst/>
              <a:rect r="r" b="b" t="t" l="l"/>
              <a:pathLst>
                <a:path h="634178" w="406400">
                  <a:moveTo>
                    <a:pt x="0" y="0"/>
                  </a:moveTo>
                  <a:lnTo>
                    <a:pt x="406400" y="0"/>
                  </a:lnTo>
                  <a:lnTo>
                    <a:pt x="406400" y="634178"/>
                  </a:lnTo>
                  <a:lnTo>
                    <a:pt x="0" y="634178"/>
                  </a:lnTo>
                  <a:close/>
                </a:path>
              </a:pathLst>
            </a:custGeom>
            <a:solidFill>
              <a:srgbClr val="E0DAED"/>
            </a:solidFill>
          </p:spPr>
        </p:sp>
        <p:sp>
          <p:nvSpPr>
            <p:cNvPr name="TextBox 24" id="24"/>
            <p:cNvSpPr txBox="true"/>
            <p:nvPr/>
          </p:nvSpPr>
          <p:spPr>
            <a:xfrm>
              <a:off x="0" y="-47625"/>
              <a:ext cx="406400" cy="681803"/>
            </a:xfrm>
            <a:prstGeom prst="rect">
              <a:avLst/>
            </a:prstGeom>
          </p:spPr>
          <p:txBody>
            <a:bodyPr anchor="ctr" rtlCol="false" tIns="50800" lIns="50800" bIns="50800" rIns="50800"/>
            <a:lstStyle/>
            <a:p>
              <a:pPr algn="ctr">
                <a:lnSpc>
                  <a:spcPts val="2659"/>
                </a:lnSpc>
              </a:pPr>
            </a:p>
          </p:txBody>
        </p:sp>
      </p:grpSp>
      <p:grpSp>
        <p:nvGrpSpPr>
          <p:cNvPr name="Group 25" id="25"/>
          <p:cNvGrpSpPr/>
          <p:nvPr/>
        </p:nvGrpSpPr>
        <p:grpSpPr>
          <a:xfrm rot="0">
            <a:off x="856243" y="4669646"/>
            <a:ext cx="1543050" cy="2407894"/>
            <a:chOff x="0" y="0"/>
            <a:chExt cx="406400" cy="634178"/>
          </a:xfrm>
        </p:grpSpPr>
        <p:sp>
          <p:nvSpPr>
            <p:cNvPr name="Freeform 26" id="26"/>
            <p:cNvSpPr/>
            <p:nvPr/>
          </p:nvSpPr>
          <p:spPr>
            <a:xfrm flipH="false" flipV="false" rot="0">
              <a:off x="0" y="0"/>
              <a:ext cx="406400" cy="634178"/>
            </a:xfrm>
            <a:custGeom>
              <a:avLst/>
              <a:gdLst/>
              <a:ahLst/>
              <a:cxnLst/>
              <a:rect r="r" b="b" t="t" l="l"/>
              <a:pathLst>
                <a:path h="634178" w="406400">
                  <a:moveTo>
                    <a:pt x="0" y="0"/>
                  </a:moveTo>
                  <a:lnTo>
                    <a:pt x="406400" y="0"/>
                  </a:lnTo>
                  <a:lnTo>
                    <a:pt x="406400" y="634178"/>
                  </a:lnTo>
                  <a:lnTo>
                    <a:pt x="0" y="634178"/>
                  </a:lnTo>
                  <a:close/>
                </a:path>
              </a:pathLst>
            </a:custGeom>
            <a:solidFill>
              <a:srgbClr val="8574D1">
                <a:alpha val="49804"/>
              </a:srgbClr>
            </a:solidFill>
          </p:spPr>
        </p:sp>
        <p:sp>
          <p:nvSpPr>
            <p:cNvPr name="TextBox 27" id="27"/>
            <p:cNvSpPr txBox="true"/>
            <p:nvPr/>
          </p:nvSpPr>
          <p:spPr>
            <a:xfrm>
              <a:off x="0" y="-47625"/>
              <a:ext cx="406400" cy="681803"/>
            </a:xfrm>
            <a:prstGeom prst="rect">
              <a:avLst/>
            </a:prstGeom>
          </p:spPr>
          <p:txBody>
            <a:bodyPr anchor="ctr" rtlCol="false" tIns="50800" lIns="50800" bIns="50800" rIns="50800"/>
            <a:lstStyle/>
            <a:p>
              <a:pPr algn="ctr">
                <a:lnSpc>
                  <a:spcPts val="2659"/>
                </a:lnSpc>
              </a:pPr>
            </a:p>
          </p:txBody>
        </p:sp>
      </p:grpSp>
      <p:grpSp>
        <p:nvGrpSpPr>
          <p:cNvPr name="Group 28" id="28"/>
          <p:cNvGrpSpPr/>
          <p:nvPr/>
        </p:nvGrpSpPr>
        <p:grpSpPr>
          <a:xfrm rot="0">
            <a:off x="958616" y="5174638"/>
            <a:ext cx="1307797" cy="1307797"/>
            <a:chOff x="0" y="0"/>
            <a:chExt cx="812800" cy="812800"/>
          </a:xfrm>
        </p:grpSpPr>
        <p:sp>
          <p:nvSpPr>
            <p:cNvPr name="Freeform 29" id="2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02E9E">
                <a:alpha val="80000"/>
              </a:srgbClr>
            </a:solidFill>
          </p:spPr>
        </p:sp>
        <p:sp>
          <p:nvSpPr>
            <p:cNvPr name="TextBox 30" id="30"/>
            <p:cNvSpPr txBox="true"/>
            <p:nvPr/>
          </p:nvSpPr>
          <p:spPr>
            <a:xfrm>
              <a:off x="76200" y="28575"/>
              <a:ext cx="660400" cy="708025"/>
            </a:xfrm>
            <a:prstGeom prst="rect">
              <a:avLst/>
            </a:prstGeom>
          </p:spPr>
          <p:txBody>
            <a:bodyPr anchor="ctr" rtlCol="false" tIns="50800" lIns="50800" bIns="50800" rIns="50800"/>
            <a:lstStyle/>
            <a:p>
              <a:pPr algn="ctr">
                <a:lnSpc>
                  <a:spcPts val="2659"/>
                </a:lnSpc>
              </a:pPr>
            </a:p>
          </p:txBody>
        </p:sp>
      </p:grpSp>
      <p:grpSp>
        <p:nvGrpSpPr>
          <p:cNvPr name="Group 31" id="31"/>
          <p:cNvGrpSpPr/>
          <p:nvPr/>
        </p:nvGrpSpPr>
        <p:grpSpPr>
          <a:xfrm rot="0">
            <a:off x="958616" y="7825931"/>
            <a:ext cx="1307797" cy="1307797"/>
            <a:chOff x="0" y="0"/>
            <a:chExt cx="812800" cy="812800"/>
          </a:xfrm>
        </p:grpSpPr>
        <p:sp>
          <p:nvSpPr>
            <p:cNvPr name="Freeform 32" id="3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574D1"/>
            </a:solidFill>
          </p:spPr>
        </p:sp>
        <p:sp>
          <p:nvSpPr>
            <p:cNvPr name="TextBox 33" id="33"/>
            <p:cNvSpPr txBox="true"/>
            <p:nvPr/>
          </p:nvSpPr>
          <p:spPr>
            <a:xfrm>
              <a:off x="76200" y="28575"/>
              <a:ext cx="660400" cy="708025"/>
            </a:xfrm>
            <a:prstGeom prst="rect">
              <a:avLst/>
            </a:prstGeom>
          </p:spPr>
          <p:txBody>
            <a:bodyPr anchor="ctr" rtlCol="false" tIns="50800" lIns="50800" bIns="50800" rIns="50800"/>
            <a:lstStyle/>
            <a:p>
              <a:pPr algn="ctr">
                <a:lnSpc>
                  <a:spcPts val="2659"/>
                </a:lnSpc>
              </a:pPr>
            </a:p>
          </p:txBody>
        </p:sp>
      </p:grpSp>
      <p:sp>
        <p:nvSpPr>
          <p:cNvPr name="TextBox 34" id="34"/>
          <p:cNvSpPr txBox="true"/>
          <p:nvPr/>
        </p:nvSpPr>
        <p:spPr>
          <a:xfrm rot="0">
            <a:off x="3531718" y="2129872"/>
            <a:ext cx="8959230" cy="481330"/>
          </a:xfrm>
          <a:prstGeom prst="rect">
            <a:avLst/>
          </a:prstGeom>
        </p:spPr>
        <p:txBody>
          <a:bodyPr anchor="t" rtlCol="false" tIns="0" lIns="0" bIns="0" rIns="0">
            <a:spAutoFit/>
          </a:bodyPr>
          <a:lstStyle/>
          <a:p>
            <a:pPr algn="ctr">
              <a:lnSpc>
                <a:spcPts val="3920"/>
              </a:lnSpc>
              <a:spcBef>
                <a:spcPct val="0"/>
              </a:spcBef>
            </a:pPr>
            <a:r>
              <a:rPr lang="en-US" b="true" sz="2800">
                <a:solidFill>
                  <a:srgbClr val="FFFFFF"/>
                </a:solidFill>
                <a:latin typeface="TT Chocolates Bold"/>
                <a:ea typeface="TT Chocolates Bold"/>
                <a:cs typeface="TT Chocolates Bold"/>
                <a:sym typeface="TT Chocolates Bold"/>
              </a:rPr>
              <a:t>Prioritas</a:t>
            </a:r>
            <a:r>
              <a:rPr lang="en-US" b="true" sz="2800">
                <a:solidFill>
                  <a:srgbClr val="FFFFFF"/>
                </a:solidFill>
                <a:latin typeface="TT Chocolates Bold"/>
                <a:ea typeface="TT Chocolates Bold"/>
                <a:cs typeface="TT Chocolates Bold"/>
                <a:sym typeface="TT Chocolates Bold"/>
              </a:rPr>
              <a:t>kan Promosi pada Kategori </a:t>
            </a:r>
            <a:r>
              <a:rPr lang="en-US" b="true" sz="2800" i="true">
                <a:solidFill>
                  <a:srgbClr val="FFFFFF"/>
                </a:solidFill>
                <a:latin typeface="TT Chocolates Bold Italics"/>
                <a:ea typeface="TT Chocolates Bold Italics"/>
                <a:cs typeface="TT Chocolates Bold Italics"/>
                <a:sym typeface="TT Chocolates Bold Italics"/>
              </a:rPr>
              <a:t>Cama Mesa Banho</a:t>
            </a:r>
          </a:p>
        </p:txBody>
      </p:sp>
      <p:sp>
        <p:nvSpPr>
          <p:cNvPr name="TextBox 35" id="35"/>
          <p:cNvSpPr txBox="true"/>
          <p:nvPr/>
        </p:nvSpPr>
        <p:spPr>
          <a:xfrm rot="0">
            <a:off x="3824795" y="2668352"/>
            <a:ext cx="12778773" cy="1111900"/>
          </a:xfrm>
          <a:prstGeom prst="rect">
            <a:avLst/>
          </a:prstGeom>
        </p:spPr>
        <p:txBody>
          <a:bodyPr anchor="t" rtlCol="false" tIns="0" lIns="0" bIns="0" rIns="0">
            <a:spAutoFit/>
          </a:bodyPr>
          <a:lstStyle/>
          <a:p>
            <a:pPr algn="just">
              <a:lnSpc>
                <a:spcPts val="2941"/>
              </a:lnSpc>
            </a:pPr>
            <a:r>
              <a:rPr lang="en-US" sz="2372">
                <a:solidFill>
                  <a:srgbClr val="FBFBF9"/>
                </a:solidFill>
                <a:latin typeface="TT Chocolates"/>
                <a:ea typeface="TT Chocolates"/>
                <a:cs typeface="TT Chocolates"/>
                <a:sym typeface="TT Chocolates"/>
              </a:rPr>
              <a:t>K</a:t>
            </a:r>
            <a:r>
              <a:rPr lang="en-US" sz="2372">
                <a:solidFill>
                  <a:srgbClr val="FBFBF9"/>
                </a:solidFill>
                <a:latin typeface="TT Chocolates"/>
                <a:ea typeface="TT Chocolates"/>
                <a:cs typeface="TT Chocolates"/>
                <a:sym typeface="TT Chocolates"/>
              </a:rPr>
              <a:t>ategori cama_mesa_banho menghasilkan revenue tertinggi (1,48 juta) dan volume penjualan terbesar (9.883 produk), kategori ini dapat dijadikan fokus utama dalam strategi pemasaran melalui program bundling, cross-selling, dan kampanye promosi untuk memper-tahankan pertumbuhan revenue. </a:t>
            </a:r>
          </a:p>
        </p:txBody>
      </p:sp>
      <p:sp>
        <p:nvSpPr>
          <p:cNvPr name="TextBox 36" id="36"/>
          <p:cNvSpPr txBox="true"/>
          <p:nvPr/>
        </p:nvSpPr>
        <p:spPr>
          <a:xfrm rot="0">
            <a:off x="967298" y="2615804"/>
            <a:ext cx="1233282" cy="953199"/>
          </a:xfrm>
          <a:prstGeom prst="rect">
            <a:avLst/>
          </a:prstGeom>
        </p:spPr>
        <p:txBody>
          <a:bodyPr anchor="t" rtlCol="false" tIns="0" lIns="0" bIns="0" rIns="0">
            <a:spAutoFit/>
          </a:bodyPr>
          <a:lstStyle/>
          <a:p>
            <a:pPr algn="ctr">
              <a:lnSpc>
                <a:spcPts val="7752"/>
              </a:lnSpc>
              <a:spcBef>
                <a:spcPct val="0"/>
              </a:spcBef>
            </a:pPr>
            <a:r>
              <a:rPr lang="en-US" b="true" sz="5537">
                <a:solidFill>
                  <a:srgbClr val="602E9E"/>
                </a:solidFill>
                <a:latin typeface="TT Chocolates Bold"/>
                <a:ea typeface="TT Chocolates Bold"/>
                <a:cs typeface="TT Chocolates Bold"/>
                <a:sym typeface="TT Chocolates Bold"/>
              </a:rPr>
              <a:t>01</a:t>
            </a:r>
          </a:p>
        </p:txBody>
      </p:sp>
      <p:sp>
        <p:nvSpPr>
          <p:cNvPr name="TextBox 37" id="37"/>
          <p:cNvSpPr txBox="true"/>
          <p:nvPr/>
        </p:nvSpPr>
        <p:spPr>
          <a:xfrm rot="0">
            <a:off x="3634215" y="4693308"/>
            <a:ext cx="7499984" cy="481330"/>
          </a:xfrm>
          <a:prstGeom prst="rect">
            <a:avLst/>
          </a:prstGeom>
        </p:spPr>
        <p:txBody>
          <a:bodyPr anchor="t" rtlCol="false" tIns="0" lIns="0" bIns="0" rIns="0">
            <a:spAutoFit/>
          </a:bodyPr>
          <a:lstStyle/>
          <a:p>
            <a:pPr algn="ctr">
              <a:lnSpc>
                <a:spcPts val="3920"/>
              </a:lnSpc>
              <a:spcBef>
                <a:spcPct val="0"/>
              </a:spcBef>
            </a:pPr>
            <a:r>
              <a:rPr lang="en-US" b="true" sz="2800">
                <a:solidFill>
                  <a:srgbClr val="602E9E"/>
                </a:solidFill>
                <a:latin typeface="TT Chocolates Bold"/>
                <a:ea typeface="TT Chocolates Bold"/>
                <a:cs typeface="TT Chocolates Bold"/>
                <a:sym typeface="TT Chocolates Bold"/>
              </a:rPr>
              <a:t>Optimal</a:t>
            </a:r>
            <a:r>
              <a:rPr lang="en-US" b="true" sz="2800">
                <a:solidFill>
                  <a:srgbClr val="602E9E"/>
                </a:solidFill>
                <a:latin typeface="TT Chocolates Bold"/>
                <a:ea typeface="TT Chocolates Bold"/>
                <a:cs typeface="TT Chocolates Bold"/>
                <a:sym typeface="TT Chocolates Bold"/>
              </a:rPr>
              <a:t>kan Strategi Pembayaran Credit Card</a:t>
            </a:r>
          </a:p>
        </p:txBody>
      </p:sp>
      <p:sp>
        <p:nvSpPr>
          <p:cNvPr name="TextBox 38" id="38"/>
          <p:cNvSpPr txBox="true"/>
          <p:nvPr/>
        </p:nvSpPr>
        <p:spPr>
          <a:xfrm rot="0">
            <a:off x="3857874" y="5346004"/>
            <a:ext cx="12778773" cy="1111900"/>
          </a:xfrm>
          <a:prstGeom prst="rect">
            <a:avLst/>
          </a:prstGeom>
        </p:spPr>
        <p:txBody>
          <a:bodyPr anchor="t" rtlCol="false" tIns="0" lIns="0" bIns="0" rIns="0">
            <a:spAutoFit/>
          </a:bodyPr>
          <a:lstStyle/>
          <a:p>
            <a:pPr algn="just">
              <a:lnSpc>
                <a:spcPts val="2941"/>
              </a:lnSpc>
            </a:pPr>
            <a:r>
              <a:rPr lang="en-US" sz="2372">
                <a:solidFill>
                  <a:srgbClr val="28094B"/>
                </a:solidFill>
                <a:latin typeface="TT Chocolates"/>
                <a:ea typeface="TT Chocolates"/>
                <a:cs typeface="TT Chocolates"/>
                <a:sym typeface="TT Chocolates"/>
              </a:rPr>
              <a:t>Preferensi customer yang sangat tinggi terhadap metode pembayar</a:t>
            </a:r>
            <a:r>
              <a:rPr lang="en-US" sz="2372">
                <a:solidFill>
                  <a:srgbClr val="28094B"/>
                </a:solidFill>
                <a:latin typeface="TT Chocolates"/>
                <a:ea typeface="TT Chocolates"/>
                <a:cs typeface="TT Chocolates"/>
                <a:sym typeface="TT Chocolates"/>
              </a:rPr>
              <a:t>an credit card sebesar 74% transaksi. Perusahaan dapat meningkatkan nilai transaksi dan mempertahankan metode pembayaran paling dimintai melalui program cashback, cicilan, atau voucher eksklusif bagi pengguna credit card</a:t>
            </a:r>
          </a:p>
        </p:txBody>
      </p:sp>
      <p:sp>
        <p:nvSpPr>
          <p:cNvPr name="TextBox 39" id="39"/>
          <p:cNvSpPr txBox="true"/>
          <p:nvPr/>
        </p:nvSpPr>
        <p:spPr>
          <a:xfrm rot="0">
            <a:off x="967298" y="5294787"/>
            <a:ext cx="1233282" cy="953199"/>
          </a:xfrm>
          <a:prstGeom prst="rect">
            <a:avLst/>
          </a:prstGeom>
        </p:spPr>
        <p:txBody>
          <a:bodyPr anchor="t" rtlCol="false" tIns="0" lIns="0" bIns="0" rIns="0">
            <a:spAutoFit/>
          </a:bodyPr>
          <a:lstStyle/>
          <a:p>
            <a:pPr algn="ctr">
              <a:lnSpc>
                <a:spcPts val="7752"/>
              </a:lnSpc>
              <a:spcBef>
                <a:spcPct val="0"/>
              </a:spcBef>
            </a:pPr>
            <a:r>
              <a:rPr lang="en-US" b="true" sz="5537">
                <a:solidFill>
                  <a:srgbClr val="E0DAED"/>
                </a:solidFill>
                <a:latin typeface="TT Chocolates Bold"/>
                <a:ea typeface="TT Chocolates Bold"/>
                <a:cs typeface="TT Chocolates Bold"/>
                <a:sym typeface="TT Chocolates Bold"/>
              </a:rPr>
              <a:t>02</a:t>
            </a:r>
          </a:p>
        </p:txBody>
      </p:sp>
      <p:sp>
        <p:nvSpPr>
          <p:cNvPr name="TextBox 40" id="40"/>
          <p:cNvSpPr txBox="true"/>
          <p:nvPr/>
        </p:nvSpPr>
        <p:spPr>
          <a:xfrm rot="0">
            <a:off x="3634215" y="7497001"/>
            <a:ext cx="7156924" cy="481330"/>
          </a:xfrm>
          <a:prstGeom prst="rect">
            <a:avLst/>
          </a:prstGeom>
        </p:spPr>
        <p:txBody>
          <a:bodyPr anchor="t" rtlCol="false" tIns="0" lIns="0" bIns="0" rIns="0">
            <a:spAutoFit/>
          </a:bodyPr>
          <a:lstStyle/>
          <a:p>
            <a:pPr algn="ctr">
              <a:lnSpc>
                <a:spcPts val="3920"/>
              </a:lnSpc>
              <a:spcBef>
                <a:spcPct val="0"/>
              </a:spcBef>
            </a:pPr>
            <a:r>
              <a:rPr lang="en-US" b="true" sz="2800">
                <a:solidFill>
                  <a:srgbClr val="6342BD"/>
                </a:solidFill>
                <a:latin typeface="TT Chocolates Bold"/>
                <a:ea typeface="TT Chocolates Bold"/>
                <a:cs typeface="TT Chocolates Bold"/>
                <a:sym typeface="TT Chocolates Bold"/>
              </a:rPr>
              <a:t>Repli</a:t>
            </a:r>
            <a:r>
              <a:rPr lang="en-US" b="true" sz="2800">
                <a:solidFill>
                  <a:srgbClr val="6342BD"/>
                </a:solidFill>
                <a:latin typeface="TT Chocolates Bold"/>
                <a:ea typeface="TT Chocolates Bold"/>
                <a:cs typeface="TT Chocolates Bold"/>
                <a:sym typeface="TT Chocolates Bold"/>
              </a:rPr>
              <a:t>kasi Strategi Seller Berperforma Tinggi</a:t>
            </a:r>
          </a:p>
        </p:txBody>
      </p:sp>
      <p:sp>
        <p:nvSpPr>
          <p:cNvPr name="TextBox 41" id="41"/>
          <p:cNvSpPr txBox="true"/>
          <p:nvPr/>
        </p:nvSpPr>
        <p:spPr>
          <a:xfrm rot="0">
            <a:off x="3857874" y="8045006"/>
            <a:ext cx="12778773" cy="1111900"/>
          </a:xfrm>
          <a:prstGeom prst="rect">
            <a:avLst/>
          </a:prstGeom>
        </p:spPr>
        <p:txBody>
          <a:bodyPr anchor="t" rtlCol="false" tIns="0" lIns="0" bIns="0" rIns="0">
            <a:spAutoFit/>
          </a:bodyPr>
          <a:lstStyle/>
          <a:p>
            <a:pPr algn="just">
              <a:lnSpc>
                <a:spcPts val="2941"/>
              </a:lnSpc>
            </a:pPr>
            <a:r>
              <a:rPr lang="en-US" sz="2372">
                <a:solidFill>
                  <a:srgbClr val="231076"/>
                </a:solidFill>
                <a:latin typeface="TT Chocolates"/>
                <a:ea typeface="TT Chocolates"/>
                <a:cs typeface="TT Chocolates"/>
                <a:sym typeface="TT Chocolates"/>
              </a:rPr>
              <a:t>Perusahaan dapat mengidentifikasi dan menganalisis faktor keberhasilan seller dengan revenue tertinggi di Sao Paulo, seperti pengelolaan stok, kecepatan pengiriman, dan kualitas layanan. Lalu menerapkan faktor tersebut ke seller lain melalui program pembinaan dan sharing best practice.</a:t>
            </a:r>
          </a:p>
        </p:txBody>
      </p:sp>
      <p:sp>
        <p:nvSpPr>
          <p:cNvPr name="TextBox 42" id="42"/>
          <p:cNvSpPr txBox="true"/>
          <p:nvPr/>
        </p:nvSpPr>
        <p:spPr>
          <a:xfrm rot="0">
            <a:off x="967298" y="7973769"/>
            <a:ext cx="1233282" cy="953199"/>
          </a:xfrm>
          <a:prstGeom prst="rect">
            <a:avLst/>
          </a:prstGeom>
        </p:spPr>
        <p:txBody>
          <a:bodyPr anchor="t" rtlCol="false" tIns="0" lIns="0" bIns="0" rIns="0">
            <a:spAutoFit/>
          </a:bodyPr>
          <a:lstStyle/>
          <a:p>
            <a:pPr algn="ctr">
              <a:lnSpc>
                <a:spcPts val="7752"/>
              </a:lnSpc>
              <a:spcBef>
                <a:spcPct val="0"/>
              </a:spcBef>
            </a:pPr>
            <a:r>
              <a:rPr lang="en-US" b="true" sz="5537">
                <a:solidFill>
                  <a:srgbClr val="E0DAEE"/>
                </a:solidFill>
                <a:latin typeface="TT Chocolates Bold"/>
                <a:ea typeface="TT Chocolates Bold"/>
                <a:cs typeface="TT Chocolates Bold"/>
                <a:sym typeface="TT Chocolates Bold"/>
              </a:rPr>
              <a:t>03</a:t>
            </a:r>
          </a:p>
        </p:txBody>
      </p:sp>
    </p:spTree>
  </p:cSld>
  <p:clrMapOvr>
    <a:masterClrMapping/>
  </p:clrMapOvr>
</p:sld>
</file>

<file path=ppt/slides/slide29.xml><?xml version="1.0" encoding="utf-8"?>
<p:sld xmlns:p="http://schemas.openxmlformats.org/presentationml/2006/main" xmlns:a="http://schemas.openxmlformats.org/drawingml/2006/main" xmlns:r="http://schemas.openxmlformats.org/officeDocument/2006/relationships">
  <p:cSld>
    <p:bg>
      <p:bgPr>
        <a:solidFill>
          <a:srgbClr val="FBFBF9"/>
        </a:solidFill>
      </p:bgPr>
    </p:bg>
    <p:spTree>
      <p:nvGrpSpPr>
        <p:cNvPr id="1" name=""/>
        <p:cNvGrpSpPr/>
        <p:nvPr/>
      </p:nvGrpSpPr>
      <p:grpSpPr>
        <a:xfrm>
          <a:off x="0" y="0"/>
          <a:ext cx="0" cy="0"/>
          <a:chOff x="0" y="0"/>
          <a:chExt cx="0" cy="0"/>
        </a:xfrm>
      </p:grpSpPr>
      <p:sp>
        <p:nvSpPr>
          <p:cNvPr name="Freeform 2" id="2"/>
          <p:cNvSpPr/>
          <p:nvPr/>
        </p:nvSpPr>
        <p:spPr>
          <a:xfrm flipH="false" flipV="false" rot="0">
            <a:off x="-2267676" y="-6268176"/>
            <a:ext cx="22823352" cy="22823352"/>
          </a:xfrm>
          <a:custGeom>
            <a:avLst/>
            <a:gdLst/>
            <a:ahLst/>
            <a:cxnLst/>
            <a:rect r="r" b="b" t="t" l="l"/>
            <a:pathLst>
              <a:path h="22823352" w="22823352">
                <a:moveTo>
                  <a:pt x="0" y="0"/>
                </a:moveTo>
                <a:lnTo>
                  <a:pt x="22823352" y="0"/>
                </a:lnTo>
                <a:lnTo>
                  <a:pt x="22823352" y="22823352"/>
                </a:lnTo>
                <a:lnTo>
                  <a:pt x="0" y="22823352"/>
                </a:lnTo>
                <a:lnTo>
                  <a:pt x="0" y="0"/>
                </a:lnTo>
                <a:close/>
              </a:path>
            </a:pathLst>
          </a:custGeom>
          <a:blipFill>
            <a:blip r:embed="rId2">
              <a:alphaModFix amt="6000"/>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5400000">
            <a:off x="9212732" y="-4085917"/>
            <a:ext cx="2498007" cy="13474497"/>
            <a:chOff x="0" y="0"/>
            <a:chExt cx="447021" cy="2411272"/>
          </a:xfrm>
        </p:grpSpPr>
        <p:sp>
          <p:nvSpPr>
            <p:cNvPr name="Freeform 4" id="4"/>
            <p:cNvSpPr/>
            <p:nvPr/>
          </p:nvSpPr>
          <p:spPr>
            <a:xfrm flipH="false" flipV="false" rot="0">
              <a:off x="0" y="0"/>
              <a:ext cx="447021" cy="2411272"/>
            </a:xfrm>
            <a:custGeom>
              <a:avLst/>
              <a:gdLst/>
              <a:ahLst/>
              <a:cxnLst/>
              <a:rect r="r" b="b" t="t" l="l"/>
              <a:pathLst>
                <a:path h="2411272" w="447021">
                  <a:moveTo>
                    <a:pt x="447021" y="73065"/>
                  </a:moveTo>
                  <a:lnTo>
                    <a:pt x="447021" y="2411272"/>
                  </a:lnTo>
                  <a:lnTo>
                    <a:pt x="223510" y="2312212"/>
                  </a:lnTo>
                  <a:lnTo>
                    <a:pt x="0" y="2411272"/>
                  </a:lnTo>
                  <a:lnTo>
                    <a:pt x="0" y="73065"/>
                  </a:lnTo>
                  <a:cubicBezTo>
                    <a:pt x="0" y="22860"/>
                    <a:pt x="26821" y="0"/>
                    <a:pt x="58113" y="0"/>
                  </a:cubicBezTo>
                  <a:lnTo>
                    <a:pt x="388908" y="0"/>
                  </a:lnTo>
                  <a:cubicBezTo>
                    <a:pt x="420199" y="0"/>
                    <a:pt x="447021" y="21590"/>
                    <a:pt x="447021" y="80219"/>
                  </a:cubicBezTo>
                  <a:close/>
                </a:path>
              </a:pathLst>
            </a:custGeom>
            <a:solidFill>
              <a:srgbClr val="8574D1"/>
            </a:solidFill>
          </p:spPr>
        </p:sp>
        <p:sp>
          <p:nvSpPr>
            <p:cNvPr name="TextBox 5" id="5"/>
            <p:cNvSpPr txBox="true"/>
            <p:nvPr/>
          </p:nvSpPr>
          <p:spPr>
            <a:xfrm>
              <a:off x="0" y="-47625"/>
              <a:ext cx="447021" cy="2359837"/>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5400000">
            <a:off x="9212732" y="-1406934"/>
            <a:ext cx="2498007" cy="13474497"/>
            <a:chOff x="0" y="0"/>
            <a:chExt cx="447021" cy="2411272"/>
          </a:xfrm>
        </p:grpSpPr>
        <p:sp>
          <p:nvSpPr>
            <p:cNvPr name="Freeform 7" id="7"/>
            <p:cNvSpPr/>
            <p:nvPr/>
          </p:nvSpPr>
          <p:spPr>
            <a:xfrm flipH="false" flipV="false" rot="0">
              <a:off x="0" y="0"/>
              <a:ext cx="447021" cy="2411272"/>
            </a:xfrm>
            <a:custGeom>
              <a:avLst/>
              <a:gdLst/>
              <a:ahLst/>
              <a:cxnLst/>
              <a:rect r="r" b="b" t="t" l="l"/>
              <a:pathLst>
                <a:path h="2411272" w="447021">
                  <a:moveTo>
                    <a:pt x="447021" y="73065"/>
                  </a:moveTo>
                  <a:lnTo>
                    <a:pt x="447021" y="2411272"/>
                  </a:lnTo>
                  <a:lnTo>
                    <a:pt x="223510" y="2312212"/>
                  </a:lnTo>
                  <a:lnTo>
                    <a:pt x="0" y="2411272"/>
                  </a:lnTo>
                  <a:lnTo>
                    <a:pt x="0" y="73065"/>
                  </a:lnTo>
                  <a:cubicBezTo>
                    <a:pt x="0" y="22860"/>
                    <a:pt x="26821" y="0"/>
                    <a:pt x="58113" y="0"/>
                  </a:cubicBezTo>
                  <a:lnTo>
                    <a:pt x="388908" y="0"/>
                  </a:lnTo>
                  <a:cubicBezTo>
                    <a:pt x="420199" y="0"/>
                    <a:pt x="447021" y="21590"/>
                    <a:pt x="447021" y="80219"/>
                  </a:cubicBezTo>
                  <a:close/>
                </a:path>
              </a:pathLst>
            </a:custGeom>
            <a:solidFill>
              <a:srgbClr val="602E9E">
                <a:alpha val="49804"/>
              </a:srgbClr>
            </a:solidFill>
          </p:spPr>
        </p:sp>
        <p:sp>
          <p:nvSpPr>
            <p:cNvPr name="TextBox 8" id="8"/>
            <p:cNvSpPr txBox="true"/>
            <p:nvPr/>
          </p:nvSpPr>
          <p:spPr>
            <a:xfrm>
              <a:off x="0" y="-47625"/>
              <a:ext cx="447021" cy="2359837"/>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5400000">
            <a:off x="9212732" y="1272048"/>
            <a:ext cx="2498007" cy="13474497"/>
            <a:chOff x="0" y="0"/>
            <a:chExt cx="447021" cy="2411272"/>
          </a:xfrm>
        </p:grpSpPr>
        <p:sp>
          <p:nvSpPr>
            <p:cNvPr name="Freeform 10" id="10"/>
            <p:cNvSpPr/>
            <p:nvPr/>
          </p:nvSpPr>
          <p:spPr>
            <a:xfrm flipH="false" flipV="false" rot="0">
              <a:off x="0" y="0"/>
              <a:ext cx="447021" cy="2411272"/>
            </a:xfrm>
            <a:custGeom>
              <a:avLst/>
              <a:gdLst/>
              <a:ahLst/>
              <a:cxnLst/>
              <a:rect r="r" b="b" t="t" l="l"/>
              <a:pathLst>
                <a:path h="2411272" w="447021">
                  <a:moveTo>
                    <a:pt x="447021" y="73065"/>
                  </a:moveTo>
                  <a:lnTo>
                    <a:pt x="447021" y="2411272"/>
                  </a:lnTo>
                  <a:lnTo>
                    <a:pt x="223510" y="2312212"/>
                  </a:lnTo>
                  <a:lnTo>
                    <a:pt x="0" y="2411272"/>
                  </a:lnTo>
                  <a:lnTo>
                    <a:pt x="0" y="73065"/>
                  </a:lnTo>
                  <a:cubicBezTo>
                    <a:pt x="0" y="22860"/>
                    <a:pt x="26821" y="0"/>
                    <a:pt x="58113" y="0"/>
                  </a:cubicBezTo>
                  <a:lnTo>
                    <a:pt x="388908" y="0"/>
                  </a:lnTo>
                  <a:cubicBezTo>
                    <a:pt x="420199" y="0"/>
                    <a:pt x="447021" y="21590"/>
                    <a:pt x="447021" y="80219"/>
                  </a:cubicBezTo>
                  <a:close/>
                </a:path>
              </a:pathLst>
            </a:custGeom>
            <a:solidFill>
              <a:srgbClr val="28094B">
                <a:alpha val="80000"/>
              </a:srgbClr>
            </a:solidFill>
          </p:spPr>
        </p:sp>
        <p:sp>
          <p:nvSpPr>
            <p:cNvPr name="TextBox 11" id="11"/>
            <p:cNvSpPr txBox="true"/>
            <p:nvPr/>
          </p:nvSpPr>
          <p:spPr>
            <a:xfrm>
              <a:off x="0" y="-47625"/>
              <a:ext cx="447021" cy="2359837"/>
            </a:xfrm>
            <a:prstGeom prst="rect">
              <a:avLst/>
            </a:prstGeom>
          </p:spPr>
          <p:txBody>
            <a:bodyPr anchor="ctr" rtlCol="false" tIns="50800" lIns="50800" bIns="50800" rIns="50800"/>
            <a:lstStyle/>
            <a:p>
              <a:pPr algn="ctr">
                <a:lnSpc>
                  <a:spcPts val="2659"/>
                </a:lnSpc>
              </a:pPr>
            </a:p>
          </p:txBody>
        </p:sp>
      </p:grpSp>
      <p:grpSp>
        <p:nvGrpSpPr>
          <p:cNvPr name="Group 12" id="12"/>
          <p:cNvGrpSpPr/>
          <p:nvPr/>
        </p:nvGrpSpPr>
        <p:grpSpPr>
          <a:xfrm rot="0">
            <a:off x="1801499" y="1447385"/>
            <a:ext cx="1543050" cy="2407894"/>
            <a:chOff x="0" y="0"/>
            <a:chExt cx="406400" cy="634178"/>
          </a:xfrm>
        </p:grpSpPr>
        <p:sp>
          <p:nvSpPr>
            <p:cNvPr name="Freeform 13" id="13"/>
            <p:cNvSpPr/>
            <p:nvPr/>
          </p:nvSpPr>
          <p:spPr>
            <a:xfrm flipH="false" flipV="false" rot="0">
              <a:off x="0" y="0"/>
              <a:ext cx="406400" cy="634178"/>
            </a:xfrm>
            <a:custGeom>
              <a:avLst/>
              <a:gdLst/>
              <a:ahLst/>
              <a:cxnLst/>
              <a:rect r="r" b="b" t="t" l="l"/>
              <a:pathLst>
                <a:path h="634178" w="406400">
                  <a:moveTo>
                    <a:pt x="0" y="0"/>
                  </a:moveTo>
                  <a:lnTo>
                    <a:pt x="406400" y="0"/>
                  </a:lnTo>
                  <a:lnTo>
                    <a:pt x="406400" y="634178"/>
                  </a:lnTo>
                  <a:lnTo>
                    <a:pt x="0" y="634178"/>
                  </a:lnTo>
                  <a:close/>
                </a:path>
              </a:pathLst>
            </a:custGeom>
            <a:solidFill>
              <a:srgbClr val="8574D1"/>
            </a:solidFill>
          </p:spPr>
        </p:sp>
        <p:sp>
          <p:nvSpPr>
            <p:cNvPr name="TextBox 14" id="14"/>
            <p:cNvSpPr txBox="true"/>
            <p:nvPr/>
          </p:nvSpPr>
          <p:spPr>
            <a:xfrm>
              <a:off x="0" y="-47625"/>
              <a:ext cx="406400" cy="681803"/>
            </a:xfrm>
            <a:prstGeom prst="rect">
              <a:avLst/>
            </a:prstGeom>
          </p:spPr>
          <p:txBody>
            <a:bodyPr anchor="ctr" rtlCol="false" tIns="50800" lIns="50800" bIns="50800" rIns="50800"/>
            <a:lstStyle/>
            <a:p>
              <a:pPr algn="ctr">
                <a:lnSpc>
                  <a:spcPts val="2659"/>
                </a:lnSpc>
              </a:pPr>
            </a:p>
          </p:txBody>
        </p:sp>
      </p:grpSp>
      <p:grpSp>
        <p:nvGrpSpPr>
          <p:cNvPr name="Group 15" id="15"/>
          <p:cNvGrpSpPr/>
          <p:nvPr/>
        </p:nvGrpSpPr>
        <p:grpSpPr>
          <a:xfrm rot="0">
            <a:off x="1919125" y="1997433"/>
            <a:ext cx="1307797" cy="1307797"/>
            <a:chOff x="0" y="0"/>
            <a:chExt cx="812800" cy="812800"/>
          </a:xfrm>
        </p:grpSpPr>
        <p:sp>
          <p:nvSpPr>
            <p:cNvPr name="Freeform 16" id="1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02E9E"/>
            </a:solidFill>
          </p:spPr>
        </p:sp>
        <p:sp>
          <p:nvSpPr>
            <p:cNvPr name="TextBox 17" id="17"/>
            <p:cNvSpPr txBox="true"/>
            <p:nvPr/>
          </p:nvSpPr>
          <p:spPr>
            <a:xfrm>
              <a:off x="76200" y="28575"/>
              <a:ext cx="660400" cy="708025"/>
            </a:xfrm>
            <a:prstGeom prst="rect">
              <a:avLst/>
            </a:prstGeom>
          </p:spPr>
          <p:txBody>
            <a:bodyPr anchor="ctr" rtlCol="false" tIns="50800" lIns="50800" bIns="50800" rIns="50800"/>
            <a:lstStyle/>
            <a:p>
              <a:pPr algn="ctr">
                <a:lnSpc>
                  <a:spcPts val="2659"/>
                </a:lnSpc>
              </a:pPr>
            </a:p>
          </p:txBody>
        </p:sp>
      </p:grpSp>
      <p:grpSp>
        <p:nvGrpSpPr>
          <p:cNvPr name="Group 18" id="18"/>
          <p:cNvGrpSpPr/>
          <p:nvPr/>
        </p:nvGrpSpPr>
        <p:grpSpPr>
          <a:xfrm rot="0">
            <a:off x="1801499" y="6850406"/>
            <a:ext cx="1543050" cy="2407894"/>
            <a:chOff x="0" y="0"/>
            <a:chExt cx="406400" cy="634178"/>
          </a:xfrm>
        </p:grpSpPr>
        <p:sp>
          <p:nvSpPr>
            <p:cNvPr name="Freeform 19" id="19"/>
            <p:cNvSpPr/>
            <p:nvPr/>
          </p:nvSpPr>
          <p:spPr>
            <a:xfrm flipH="false" flipV="false" rot="0">
              <a:off x="0" y="0"/>
              <a:ext cx="406400" cy="634178"/>
            </a:xfrm>
            <a:custGeom>
              <a:avLst/>
              <a:gdLst/>
              <a:ahLst/>
              <a:cxnLst/>
              <a:rect r="r" b="b" t="t" l="l"/>
              <a:pathLst>
                <a:path h="634178" w="406400">
                  <a:moveTo>
                    <a:pt x="0" y="0"/>
                  </a:moveTo>
                  <a:lnTo>
                    <a:pt x="406400" y="0"/>
                  </a:lnTo>
                  <a:lnTo>
                    <a:pt x="406400" y="634178"/>
                  </a:lnTo>
                  <a:lnTo>
                    <a:pt x="0" y="634178"/>
                  </a:lnTo>
                  <a:close/>
                </a:path>
              </a:pathLst>
            </a:custGeom>
            <a:solidFill>
              <a:srgbClr val="602E9E"/>
            </a:solidFill>
          </p:spPr>
        </p:sp>
        <p:sp>
          <p:nvSpPr>
            <p:cNvPr name="TextBox 20" id="20"/>
            <p:cNvSpPr txBox="true"/>
            <p:nvPr/>
          </p:nvSpPr>
          <p:spPr>
            <a:xfrm>
              <a:off x="0" y="-47625"/>
              <a:ext cx="406400" cy="681803"/>
            </a:xfrm>
            <a:prstGeom prst="rect">
              <a:avLst/>
            </a:prstGeom>
          </p:spPr>
          <p:txBody>
            <a:bodyPr anchor="ctr" rtlCol="false" tIns="50800" lIns="50800" bIns="50800" rIns="50800"/>
            <a:lstStyle/>
            <a:p>
              <a:pPr algn="ctr">
                <a:lnSpc>
                  <a:spcPts val="2659"/>
                </a:lnSpc>
              </a:pPr>
            </a:p>
          </p:txBody>
        </p:sp>
      </p:grpSp>
      <p:grpSp>
        <p:nvGrpSpPr>
          <p:cNvPr name="Group 21" id="21"/>
          <p:cNvGrpSpPr/>
          <p:nvPr/>
        </p:nvGrpSpPr>
        <p:grpSpPr>
          <a:xfrm rot="0">
            <a:off x="1801499" y="4171424"/>
            <a:ext cx="1543050" cy="2407894"/>
            <a:chOff x="0" y="0"/>
            <a:chExt cx="406400" cy="634178"/>
          </a:xfrm>
        </p:grpSpPr>
        <p:sp>
          <p:nvSpPr>
            <p:cNvPr name="Freeform 22" id="22"/>
            <p:cNvSpPr/>
            <p:nvPr/>
          </p:nvSpPr>
          <p:spPr>
            <a:xfrm flipH="false" flipV="false" rot="0">
              <a:off x="0" y="0"/>
              <a:ext cx="406400" cy="634178"/>
            </a:xfrm>
            <a:custGeom>
              <a:avLst/>
              <a:gdLst/>
              <a:ahLst/>
              <a:cxnLst/>
              <a:rect r="r" b="b" t="t" l="l"/>
              <a:pathLst>
                <a:path h="634178" w="406400">
                  <a:moveTo>
                    <a:pt x="0" y="0"/>
                  </a:moveTo>
                  <a:lnTo>
                    <a:pt x="406400" y="0"/>
                  </a:lnTo>
                  <a:lnTo>
                    <a:pt x="406400" y="634178"/>
                  </a:lnTo>
                  <a:lnTo>
                    <a:pt x="0" y="634178"/>
                  </a:lnTo>
                  <a:close/>
                </a:path>
              </a:pathLst>
            </a:custGeom>
            <a:solidFill>
              <a:srgbClr val="602E9E">
                <a:alpha val="49804"/>
              </a:srgbClr>
            </a:solidFill>
          </p:spPr>
        </p:sp>
        <p:sp>
          <p:nvSpPr>
            <p:cNvPr name="TextBox 23" id="23"/>
            <p:cNvSpPr txBox="true"/>
            <p:nvPr/>
          </p:nvSpPr>
          <p:spPr>
            <a:xfrm>
              <a:off x="0" y="-47625"/>
              <a:ext cx="406400" cy="681803"/>
            </a:xfrm>
            <a:prstGeom prst="rect">
              <a:avLst/>
            </a:prstGeom>
          </p:spPr>
          <p:txBody>
            <a:bodyPr anchor="ctr" rtlCol="false" tIns="50800" lIns="50800" bIns="50800" rIns="50800"/>
            <a:lstStyle/>
            <a:p>
              <a:pPr algn="ctr">
                <a:lnSpc>
                  <a:spcPts val="2659"/>
                </a:lnSpc>
              </a:pPr>
            </a:p>
          </p:txBody>
        </p:sp>
      </p:grpSp>
      <p:grpSp>
        <p:nvGrpSpPr>
          <p:cNvPr name="Group 24" id="24"/>
          <p:cNvGrpSpPr/>
          <p:nvPr/>
        </p:nvGrpSpPr>
        <p:grpSpPr>
          <a:xfrm rot="0">
            <a:off x="1903872" y="4676415"/>
            <a:ext cx="1307797" cy="1307797"/>
            <a:chOff x="0" y="0"/>
            <a:chExt cx="812800" cy="812800"/>
          </a:xfrm>
        </p:grpSpPr>
        <p:sp>
          <p:nvSpPr>
            <p:cNvPr name="Freeform 25" id="2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02E9E">
                <a:alpha val="80000"/>
              </a:srgbClr>
            </a:solidFill>
          </p:spPr>
        </p:sp>
        <p:sp>
          <p:nvSpPr>
            <p:cNvPr name="TextBox 26" id="26"/>
            <p:cNvSpPr txBox="true"/>
            <p:nvPr/>
          </p:nvSpPr>
          <p:spPr>
            <a:xfrm>
              <a:off x="76200" y="28575"/>
              <a:ext cx="660400" cy="708025"/>
            </a:xfrm>
            <a:prstGeom prst="rect">
              <a:avLst/>
            </a:prstGeom>
          </p:spPr>
          <p:txBody>
            <a:bodyPr anchor="ctr" rtlCol="false" tIns="50800" lIns="50800" bIns="50800" rIns="50800"/>
            <a:lstStyle/>
            <a:p>
              <a:pPr algn="ctr">
                <a:lnSpc>
                  <a:spcPts val="2659"/>
                </a:lnSpc>
              </a:pPr>
            </a:p>
          </p:txBody>
        </p:sp>
      </p:grpSp>
      <p:grpSp>
        <p:nvGrpSpPr>
          <p:cNvPr name="Group 27" id="27"/>
          <p:cNvGrpSpPr/>
          <p:nvPr/>
        </p:nvGrpSpPr>
        <p:grpSpPr>
          <a:xfrm rot="0">
            <a:off x="1903872" y="7327708"/>
            <a:ext cx="1307797" cy="1307797"/>
            <a:chOff x="0" y="0"/>
            <a:chExt cx="812800" cy="812800"/>
          </a:xfrm>
        </p:grpSpPr>
        <p:sp>
          <p:nvSpPr>
            <p:cNvPr name="Freeform 28" id="2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0DAED"/>
            </a:solidFill>
          </p:spPr>
        </p:sp>
        <p:sp>
          <p:nvSpPr>
            <p:cNvPr name="TextBox 29" id="29"/>
            <p:cNvSpPr txBox="true"/>
            <p:nvPr/>
          </p:nvSpPr>
          <p:spPr>
            <a:xfrm>
              <a:off x="76200" y="28575"/>
              <a:ext cx="660400" cy="708025"/>
            </a:xfrm>
            <a:prstGeom prst="rect">
              <a:avLst/>
            </a:prstGeom>
          </p:spPr>
          <p:txBody>
            <a:bodyPr anchor="ctr" rtlCol="false" tIns="50800" lIns="50800" bIns="50800" rIns="50800"/>
            <a:lstStyle/>
            <a:p>
              <a:pPr algn="ctr">
                <a:lnSpc>
                  <a:spcPts val="2659"/>
                </a:lnSpc>
              </a:pPr>
            </a:p>
          </p:txBody>
        </p:sp>
      </p:grpSp>
      <p:sp>
        <p:nvSpPr>
          <p:cNvPr name="TextBox 30" id="30"/>
          <p:cNvSpPr txBox="true"/>
          <p:nvPr/>
        </p:nvSpPr>
        <p:spPr>
          <a:xfrm rot="0">
            <a:off x="4728223" y="1604795"/>
            <a:ext cx="4799856" cy="481330"/>
          </a:xfrm>
          <a:prstGeom prst="rect">
            <a:avLst/>
          </a:prstGeom>
        </p:spPr>
        <p:txBody>
          <a:bodyPr anchor="t" rtlCol="false" tIns="0" lIns="0" bIns="0" rIns="0">
            <a:spAutoFit/>
          </a:bodyPr>
          <a:lstStyle/>
          <a:p>
            <a:pPr algn="ctr">
              <a:lnSpc>
                <a:spcPts val="3920"/>
              </a:lnSpc>
              <a:spcBef>
                <a:spcPct val="0"/>
              </a:spcBef>
            </a:pPr>
            <a:r>
              <a:rPr lang="en-US" b="true" sz="2800">
                <a:solidFill>
                  <a:srgbClr val="FBFBF9"/>
                </a:solidFill>
                <a:latin typeface="TT Chocolates Bold"/>
                <a:ea typeface="TT Chocolates Bold"/>
                <a:cs typeface="TT Chocolates Bold"/>
                <a:sym typeface="TT Chocolates Bold"/>
              </a:rPr>
              <a:t>Tingkat</a:t>
            </a:r>
            <a:r>
              <a:rPr lang="en-US" b="true" sz="2800">
                <a:solidFill>
                  <a:srgbClr val="FBFBF9"/>
                </a:solidFill>
                <a:latin typeface="TT Chocolates Bold"/>
                <a:ea typeface="TT Chocolates Bold"/>
                <a:cs typeface="TT Chocolates Bold"/>
                <a:sym typeface="TT Chocolates Bold"/>
              </a:rPr>
              <a:t>kan Loyalitas Pelanggan</a:t>
            </a:r>
          </a:p>
        </p:txBody>
      </p:sp>
      <p:sp>
        <p:nvSpPr>
          <p:cNvPr name="TextBox 31" id="31"/>
          <p:cNvSpPr txBox="true"/>
          <p:nvPr/>
        </p:nvSpPr>
        <p:spPr>
          <a:xfrm rot="0">
            <a:off x="4728223" y="2269982"/>
            <a:ext cx="11891348" cy="1111900"/>
          </a:xfrm>
          <a:prstGeom prst="rect">
            <a:avLst/>
          </a:prstGeom>
        </p:spPr>
        <p:txBody>
          <a:bodyPr anchor="t" rtlCol="false" tIns="0" lIns="0" bIns="0" rIns="0">
            <a:spAutoFit/>
          </a:bodyPr>
          <a:lstStyle/>
          <a:p>
            <a:pPr algn="just">
              <a:lnSpc>
                <a:spcPts val="2941"/>
              </a:lnSpc>
            </a:pPr>
            <a:r>
              <a:rPr lang="en-US" sz="2372">
                <a:solidFill>
                  <a:srgbClr val="FBFBF9"/>
                </a:solidFill>
                <a:latin typeface="TT Chocolates"/>
                <a:ea typeface="TT Chocolates"/>
                <a:cs typeface="TT Chocolates"/>
                <a:sym typeface="TT Chocolates"/>
              </a:rPr>
              <a:t>Memanfaatkan data riwayat transaksi dan pola pembelian pelanggan untuk mengembangkan program loyalitas, personalisasi promosi, dan rekomendasi produk yang relevan guna meningkatkan customer retention dan pembelian berulang.</a:t>
            </a:r>
          </a:p>
        </p:txBody>
      </p:sp>
      <p:sp>
        <p:nvSpPr>
          <p:cNvPr name="TextBox 32" id="32"/>
          <p:cNvSpPr txBox="true"/>
          <p:nvPr/>
        </p:nvSpPr>
        <p:spPr>
          <a:xfrm rot="0">
            <a:off x="1912554" y="2117582"/>
            <a:ext cx="1233282" cy="953199"/>
          </a:xfrm>
          <a:prstGeom prst="rect">
            <a:avLst/>
          </a:prstGeom>
        </p:spPr>
        <p:txBody>
          <a:bodyPr anchor="t" rtlCol="false" tIns="0" lIns="0" bIns="0" rIns="0">
            <a:spAutoFit/>
          </a:bodyPr>
          <a:lstStyle/>
          <a:p>
            <a:pPr algn="ctr">
              <a:lnSpc>
                <a:spcPts val="7752"/>
              </a:lnSpc>
              <a:spcBef>
                <a:spcPct val="0"/>
              </a:spcBef>
            </a:pPr>
            <a:r>
              <a:rPr lang="en-US" b="true" sz="5537">
                <a:solidFill>
                  <a:srgbClr val="E0DAED"/>
                </a:solidFill>
                <a:latin typeface="TT Chocolates Bold"/>
                <a:ea typeface="TT Chocolates Bold"/>
                <a:cs typeface="TT Chocolates Bold"/>
                <a:sym typeface="TT Chocolates Bold"/>
              </a:rPr>
              <a:t>04</a:t>
            </a:r>
          </a:p>
        </p:txBody>
      </p:sp>
      <p:sp>
        <p:nvSpPr>
          <p:cNvPr name="TextBox 33" id="33"/>
          <p:cNvSpPr txBox="true"/>
          <p:nvPr/>
        </p:nvSpPr>
        <p:spPr>
          <a:xfrm rot="0">
            <a:off x="4728223" y="4296185"/>
            <a:ext cx="6848326" cy="481330"/>
          </a:xfrm>
          <a:prstGeom prst="rect">
            <a:avLst/>
          </a:prstGeom>
        </p:spPr>
        <p:txBody>
          <a:bodyPr anchor="t" rtlCol="false" tIns="0" lIns="0" bIns="0" rIns="0">
            <a:spAutoFit/>
          </a:bodyPr>
          <a:lstStyle/>
          <a:p>
            <a:pPr algn="ctr">
              <a:lnSpc>
                <a:spcPts val="3920"/>
              </a:lnSpc>
              <a:spcBef>
                <a:spcPct val="0"/>
              </a:spcBef>
            </a:pPr>
            <a:r>
              <a:rPr lang="en-US" b="true" sz="2800">
                <a:solidFill>
                  <a:srgbClr val="602E9E"/>
                </a:solidFill>
                <a:latin typeface="TT Chocolates Bold"/>
                <a:ea typeface="TT Chocolates Bold"/>
                <a:cs typeface="TT Chocolates Bold"/>
                <a:sym typeface="TT Chocolates Bold"/>
              </a:rPr>
              <a:t>Perlu</a:t>
            </a:r>
            <a:r>
              <a:rPr lang="en-US" b="true" sz="2800">
                <a:solidFill>
                  <a:srgbClr val="602E9E"/>
                </a:solidFill>
                <a:latin typeface="TT Chocolates Bold"/>
                <a:ea typeface="TT Chocolates Bold"/>
                <a:cs typeface="TT Chocolates Bold"/>
                <a:sym typeface="TT Chocolates Bold"/>
              </a:rPr>
              <a:t>as Kontribusi Revenue di Luar Sao Paulo</a:t>
            </a:r>
          </a:p>
        </p:txBody>
      </p:sp>
      <p:sp>
        <p:nvSpPr>
          <p:cNvPr name="TextBox 34" id="34"/>
          <p:cNvSpPr txBox="true"/>
          <p:nvPr/>
        </p:nvSpPr>
        <p:spPr>
          <a:xfrm rot="0">
            <a:off x="4728223" y="4817576"/>
            <a:ext cx="11891348" cy="1854850"/>
          </a:xfrm>
          <a:prstGeom prst="rect">
            <a:avLst/>
          </a:prstGeom>
        </p:spPr>
        <p:txBody>
          <a:bodyPr anchor="t" rtlCol="false" tIns="0" lIns="0" bIns="0" rIns="0">
            <a:spAutoFit/>
          </a:bodyPr>
          <a:lstStyle/>
          <a:p>
            <a:pPr algn="just">
              <a:lnSpc>
                <a:spcPts val="2941"/>
              </a:lnSpc>
            </a:pPr>
            <a:r>
              <a:rPr lang="en-US" sz="2372">
                <a:solidFill>
                  <a:srgbClr val="28094B"/>
                </a:solidFill>
                <a:latin typeface="TT Chocolates"/>
                <a:ea typeface="TT Chocolates"/>
                <a:cs typeface="TT Chocolates"/>
                <a:sym typeface="TT Chocolates"/>
              </a:rPr>
              <a:t>Ketergantungan yang terlalu tinggi pada Sao Paulo sebagai kontributor revenue terbesar dapat meningkatkan risiko bisnis. Perusahaan perlu mempertahankan performa bisnis di Sao Paulo melalui peningkatan kualitas layanan serta menjadikan faktor keberhasilannya sebagai acuan untuk strategi bisnis di wilayah lain agar revenue lebih merata</a:t>
            </a:r>
          </a:p>
          <a:p>
            <a:pPr algn="just">
              <a:lnSpc>
                <a:spcPts val="2941"/>
              </a:lnSpc>
            </a:pPr>
          </a:p>
        </p:txBody>
      </p:sp>
      <p:sp>
        <p:nvSpPr>
          <p:cNvPr name="TextBox 35" id="35"/>
          <p:cNvSpPr txBox="true"/>
          <p:nvPr/>
        </p:nvSpPr>
        <p:spPr>
          <a:xfrm rot="0">
            <a:off x="1912554" y="4796565"/>
            <a:ext cx="1233282" cy="953199"/>
          </a:xfrm>
          <a:prstGeom prst="rect">
            <a:avLst/>
          </a:prstGeom>
        </p:spPr>
        <p:txBody>
          <a:bodyPr anchor="t" rtlCol="false" tIns="0" lIns="0" bIns="0" rIns="0">
            <a:spAutoFit/>
          </a:bodyPr>
          <a:lstStyle/>
          <a:p>
            <a:pPr algn="ctr">
              <a:lnSpc>
                <a:spcPts val="7752"/>
              </a:lnSpc>
              <a:spcBef>
                <a:spcPct val="0"/>
              </a:spcBef>
            </a:pPr>
            <a:r>
              <a:rPr lang="en-US" b="true" sz="5537">
                <a:solidFill>
                  <a:srgbClr val="E0DAED"/>
                </a:solidFill>
                <a:latin typeface="TT Chocolates Bold"/>
                <a:ea typeface="TT Chocolates Bold"/>
                <a:cs typeface="TT Chocolates Bold"/>
                <a:sym typeface="TT Chocolates Bold"/>
              </a:rPr>
              <a:t>05</a:t>
            </a:r>
          </a:p>
        </p:txBody>
      </p:sp>
      <p:sp>
        <p:nvSpPr>
          <p:cNvPr name="TextBox 36" id="36"/>
          <p:cNvSpPr txBox="true"/>
          <p:nvPr/>
        </p:nvSpPr>
        <p:spPr>
          <a:xfrm rot="0">
            <a:off x="4728223" y="6903168"/>
            <a:ext cx="10039499" cy="481330"/>
          </a:xfrm>
          <a:prstGeom prst="rect">
            <a:avLst/>
          </a:prstGeom>
        </p:spPr>
        <p:txBody>
          <a:bodyPr anchor="t" rtlCol="false" tIns="0" lIns="0" bIns="0" rIns="0">
            <a:spAutoFit/>
          </a:bodyPr>
          <a:lstStyle/>
          <a:p>
            <a:pPr algn="ctr">
              <a:lnSpc>
                <a:spcPts val="3920"/>
              </a:lnSpc>
              <a:spcBef>
                <a:spcPct val="0"/>
              </a:spcBef>
            </a:pPr>
            <a:r>
              <a:rPr lang="en-US" b="true" sz="2800">
                <a:solidFill>
                  <a:srgbClr val="E0DAED"/>
                </a:solidFill>
                <a:latin typeface="TT Chocolates Bold"/>
                <a:ea typeface="TT Chocolates Bold"/>
                <a:cs typeface="TT Chocolates Bold"/>
                <a:sym typeface="TT Chocolates Bold"/>
              </a:rPr>
              <a:t>Per</a:t>
            </a:r>
            <a:r>
              <a:rPr lang="en-US" b="true" sz="2800">
                <a:solidFill>
                  <a:srgbClr val="E0DAED"/>
                </a:solidFill>
                <a:latin typeface="TT Chocolates Bold"/>
                <a:ea typeface="TT Chocolates Bold"/>
                <a:cs typeface="TT Chocolates Bold"/>
                <a:sym typeface="TT Chocolates Bold"/>
              </a:rPr>
              <a:t>kuat Monitoring Pengiriman terhadap Mitra Logistik dan Seller</a:t>
            </a:r>
          </a:p>
        </p:txBody>
      </p:sp>
      <p:sp>
        <p:nvSpPr>
          <p:cNvPr name="TextBox 37" id="37"/>
          <p:cNvSpPr txBox="true"/>
          <p:nvPr/>
        </p:nvSpPr>
        <p:spPr>
          <a:xfrm rot="0">
            <a:off x="4728223" y="7580322"/>
            <a:ext cx="11891348" cy="1111900"/>
          </a:xfrm>
          <a:prstGeom prst="rect">
            <a:avLst/>
          </a:prstGeom>
        </p:spPr>
        <p:txBody>
          <a:bodyPr anchor="t" rtlCol="false" tIns="0" lIns="0" bIns="0" rIns="0">
            <a:spAutoFit/>
          </a:bodyPr>
          <a:lstStyle/>
          <a:p>
            <a:pPr algn="just">
              <a:lnSpc>
                <a:spcPts val="2941"/>
              </a:lnSpc>
            </a:pPr>
            <a:r>
              <a:rPr lang="en-US" sz="2372">
                <a:solidFill>
                  <a:srgbClr val="E0DAED"/>
                </a:solidFill>
                <a:latin typeface="TT Chocolates"/>
                <a:ea typeface="TT Chocolates"/>
                <a:cs typeface="TT Chocolates"/>
                <a:sym typeface="TT Chocolates"/>
              </a:rPr>
              <a:t>Memberikan peringatan atau evaluasi berkala terhadap seller dengan tingkat keterlambatan tinggi agar kategori "Terlambat" dan "Belum Dikirim" dapat diminimalkan hingga mendekati nol sehingga kepuasan pelanggan dan kualitas review meningkat</a:t>
            </a:r>
            <a:r>
              <a:rPr lang="en-US" sz="2372">
                <a:solidFill>
                  <a:srgbClr val="E0DAED"/>
                </a:solidFill>
                <a:latin typeface="TT Chocolates"/>
                <a:ea typeface="TT Chocolates"/>
                <a:cs typeface="TT Chocolates"/>
                <a:sym typeface="TT Chocolates"/>
              </a:rPr>
              <a:t>. </a:t>
            </a:r>
          </a:p>
        </p:txBody>
      </p:sp>
      <p:sp>
        <p:nvSpPr>
          <p:cNvPr name="TextBox 38" id="38"/>
          <p:cNvSpPr txBox="true"/>
          <p:nvPr/>
        </p:nvSpPr>
        <p:spPr>
          <a:xfrm rot="0">
            <a:off x="1912554" y="7475547"/>
            <a:ext cx="1233282" cy="953199"/>
          </a:xfrm>
          <a:prstGeom prst="rect">
            <a:avLst/>
          </a:prstGeom>
        </p:spPr>
        <p:txBody>
          <a:bodyPr anchor="t" rtlCol="false" tIns="0" lIns="0" bIns="0" rIns="0">
            <a:spAutoFit/>
          </a:bodyPr>
          <a:lstStyle/>
          <a:p>
            <a:pPr algn="ctr">
              <a:lnSpc>
                <a:spcPts val="7752"/>
              </a:lnSpc>
              <a:spcBef>
                <a:spcPct val="0"/>
              </a:spcBef>
            </a:pPr>
            <a:r>
              <a:rPr lang="en-US" b="true" sz="5537">
                <a:solidFill>
                  <a:srgbClr val="602E9E"/>
                </a:solidFill>
                <a:latin typeface="TT Chocolates Bold"/>
                <a:ea typeface="TT Chocolates Bold"/>
                <a:cs typeface="TT Chocolates Bold"/>
                <a:sym typeface="TT Chocolates Bold"/>
              </a:rPr>
              <a:t>06</a:t>
            </a:r>
          </a:p>
        </p:txBody>
      </p:sp>
    </p:spTree>
  </p:cSld>
  <p:clrMapOvr>
    <a:masterClrMapping/>
  </p:clrMapOvr>
</p:sld>
</file>

<file path=ppt/slides/slide30.xml><?xml version="1.0" encoding="utf-8"?>
<p:sld xmlns:p="http://schemas.openxmlformats.org/presentationml/2006/main" xmlns:a="http://schemas.openxmlformats.org/drawingml/2006/main" xmlns:r="http://schemas.openxmlformats.org/officeDocument/2006/relationships">
  <p:cSld>
    <p:bg>
      <p:bgPr>
        <a:solidFill>
          <a:srgbClr val="FBFBF9"/>
        </a:solidFill>
      </p:bgPr>
    </p:bg>
    <p:spTree>
      <p:nvGrpSpPr>
        <p:cNvPr id="1" name=""/>
        <p:cNvGrpSpPr/>
        <p:nvPr/>
      </p:nvGrpSpPr>
      <p:grpSpPr>
        <a:xfrm>
          <a:off x="0" y="0"/>
          <a:ext cx="0" cy="0"/>
          <a:chOff x="0" y="0"/>
          <a:chExt cx="0" cy="0"/>
        </a:xfrm>
      </p:grpSpPr>
      <p:sp>
        <p:nvSpPr>
          <p:cNvPr name="Freeform 2" id="2"/>
          <p:cNvSpPr/>
          <p:nvPr/>
        </p:nvSpPr>
        <p:spPr>
          <a:xfrm flipH="false" flipV="false" rot="0">
            <a:off x="4210245" y="479588"/>
            <a:ext cx="13860699" cy="11164163"/>
          </a:xfrm>
          <a:custGeom>
            <a:avLst/>
            <a:gdLst/>
            <a:ahLst/>
            <a:cxnLst/>
            <a:rect r="r" b="b" t="t" l="l"/>
            <a:pathLst>
              <a:path h="11164163" w="13860699">
                <a:moveTo>
                  <a:pt x="0" y="0"/>
                </a:moveTo>
                <a:lnTo>
                  <a:pt x="13860699" y="0"/>
                </a:lnTo>
                <a:lnTo>
                  <a:pt x="13860699" y="11164163"/>
                </a:lnTo>
                <a:lnTo>
                  <a:pt x="0" y="11164163"/>
                </a:lnTo>
                <a:lnTo>
                  <a:pt x="0" y="0"/>
                </a:lnTo>
                <a:close/>
              </a:path>
            </a:pathLst>
          </a:custGeom>
          <a:blipFill>
            <a:blip r:embed="rId2">
              <a:alphaModFix amt="71000"/>
              <a:extLst>
                <a:ext uri="{96DAC541-7B7A-43D3-8B79-37D633B846F1}">
                  <asvg:svgBlip xmlns:asvg="http://schemas.microsoft.com/office/drawing/2016/SVG/main" r:embed="rId3"/>
                </a:ext>
              </a:extLst>
            </a:blip>
            <a:stretch>
              <a:fillRect l="0" t="0" r="0" b="0"/>
            </a:stretch>
          </a:blipFill>
        </p:spPr>
      </p:sp>
      <p:graphicFrame>
        <p:nvGraphicFramePr>
          <p:cNvPr name="Object 3" id="3"/>
          <p:cNvGraphicFramePr/>
          <p:nvPr/>
        </p:nvGraphicFramePr>
        <p:xfrm>
          <a:off x="4637332" y="2418960"/>
          <a:ext cx="7586157" cy="4274588"/>
        </p:xfrm>
        <a:graphic>
          <a:graphicData uri="http://schemas.openxmlformats.org/presentationml/2006/ole">
            <p:oleObj imgW="9105900" imgH="5791200" r:id="rId5" progId="Excel.Sheet.12" name="Worksheet">
              <p:embed/>
              <p:pic>
                <p:nvPicPr>
                  <p:cNvPr name="" id="0"/>
                  <p:cNvPicPr/>
                  <p:nvPr/>
                </p:nvPicPr>
                <p:blipFill>
                  <a:blip r:embed="rId4"/>
                  <a:stretch>
                    <a:fillRect/>
                  </a:stretch>
                </p:blipFill>
                <p:spPr>
                  <a:xfrm>
                    <a:off x="1270000" y="1270000"/>
                    <a:ext cx="1270000" cy="1270000"/>
                  </a:xfrm>
                  <a:prstGeom prst="rect"/>
                </p:spPr>
              </p:pic>
            </p:oleObj>
          </a:graphicData>
        </a:graphic>
      </p:graphicFrame>
      <p:grpSp>
        <p:nvGrpSpPr>
          <p:cNvPr name="Group 4" id="4"/>
          <p:cNvGrpSpPr/>
          <p:nvPr/>
        </p:nvGrpSpPr>
        <p:grpSpPr>
          <a:xfrm rot="0">
            <a:off x="0" y="-590699"/>
            <a:ext cx="1971046" cy="11468399"/>
            <a:chOff x="0" y="0"/>
            <a:chExt cx="519123" cy="3020484"/>
          </a:xfrm>
        </p:grpSpPr>
        <p:sp>
          <p:nvSpPr>
            <p:cNvPr name="Freeform 5" id="5"/>
            <p:cNvSpPr/>
            <p:nvPr/>
          </p:nvSpPr>
          <p:spPr>
            <a:xfrm flipH="false" flipV="false" rot="0">
              <a:off x="0" y="0"/>
              <a:ext cx="519123" cy="3020484"/>
            </a:xfrm>
            <a:custGeom>
              <a:avLst/>
              <a:gdLst/>
              <a:ahLst/>
              <a:cxnLst/>
              <a:rect r="r" b="b" t="t" l="l"/>
              <a:pathLst>
                <a:path h="3020484" w="519123">
                  <a:moveTo>
                    <a:pt x="259562" y="0"/>
                  </a:moveTo>
                  <a:lnTo>
                    <a:pt x="259562" y="0"/>
                  </a:lnTo>
                  <a:cubicBezTo>
                    <a:pt x="402913" y="0"/>
                    <a:pt x="519123" y="116210"/>
                    <a:pt x="519123" y="259562"/>
                  </a:cubicBezTo>
                  <a:lnTo>
                    <a:pt x="519123" y="2760922"/>
                  </a:lnTo>
                  <a:cubicBezTo>
                    <a:pt x="519123" y="2904274"/>
                    <a:pt x="402913" y="3020484"/>
                    <a:pt x="259562" y="3020484"/>
                  </a:cubicBezTo>
                  <a:lnTo>
                    <a:pt x="259562" y="3020484"/>
                  </a:lnTo>
                  <a:cubicBezTo>
                    <a:pt x="116210" y="3020484"/>
                    <a:pt x="0" y="2904274"/>
                    <a:pt x="0" y="2760922"/>
                  </a:cubicBezTo>
                  <a:lnTo>
                    <a:pt x="0" y="259562"/>
                  </a:lnTo>
                  <a:cubicBezTo>
                    <a:pt x="0" y="116210"/>
                    <a:pt x="116210" y="0"/>
                    <a:pt x="259562" y="0"/>
                  </a:cubicBezTo>
                  <a:close/>
                </a:path>
              </a:pathLst>
            </a:custGeom>
            <a:solidFill>
              <a:srgbClr val="8574D1"/>
            </a:solidFill>
          </p:spPr>
        </p:sp>
        <p:sp>
          <p:nvSpPr>
            <p:cNvPr name="TextBox 6" id="6"/>
            <p:cNvSpPr txBox="true"/>
            <p:nvPr/>
          </p:nvSpPr>
          <p:spPr>
            <a:xfrm>
              <a:off x="0" y="-38100"/>
              <a:ext cx="519123" cy="3058584"/>
            </a:xfrm>
            <a:prstGeom prst="rect">
              <a:avLst/>
            </a:prstGeom>
          </p:spPr>
          <p:txBody>
            <a:bodyPr anchor="ctr" rtlCol="false" tIns="50800" lIns="50800" bIns="50800" rIns="50800"/>
            <a:lstStyle/>
            <a:p>
              <a:pPr algn="ctr">
                <a:lnSpc>
                  <a:spcPts val="2659"/>
                </a:lnSpc>
              </a:pPr>
            </a:p>
          </p:txBody>
        </p:sp>
      </p:grpSp>
      <p:sp>
        <p:nvSpPr>
          <p:cNvPr name="Freeform 7" id="7"/>
          <p:cNvSpPr/>
          <p:nvPr/>
        </p:nvSpPr>
        <p:spPr>
          <a:xfrm flipH="false" flipV="false" rot="0">
            <a:off x="0" y="7087214"/>
            <a:ext cx="4210245" cy="3199786"/>
          </a:xfrm>
          <a:custGeom>
            <a:avLst/>
            <a:gdLst/>
            <a:ahLst/>
            <a:cxnLst/>
            <a:rect r="r" b="b" t="t" l="l"/>
            <a:pathLst>
              <a:path h="3199786" w="4210245">
                <a:moveTo>
                  <a:pt x="0" y="0"/>
                </a:moveTo>
                <a:lnTo>
                  <a:pt x="4210245" y="0"/>
                </a:lnTo>
                <a:lnTo>
                  <a:pt x="4210245" y="3199786"/>
                </a:lnTo>
                <a:lnTo>
                  <a:pt x="0" y="3199786"/>
                </a:lnTo>
                <a:lnTo>
                  <a:pt x="0" y="0"/>
                </a:lnTo>
                <a:close/>
              </a:path>
            </a:pathLst>
          </a:custGeom>
          <a:blipFill>
            <a:blip r:embed="rId6"/>
            <a:stretch>
              <a:fillRect l="0" t="0" r="0" b="0"/>
            </a:stretch>
          </a:blipFill>
        </p:spPr>
      </p:sp>
      <p:sp>
        <p:nvSpPr>
          <p:cNvPr name="TextBox 8" id="8"/>
          <p:cNvSpPr txBox="true"/>
          <p:nvPr/>
        </p:nvSpPr>
        <p:spPr>
          <a:xfrm rot="0">
            <a:off x="2242791" y="914400"/>
            <a:ext cx="3398601" cy="913130"/>
          </a:xfrm>
          <a:prstGeom prst="rect">
            <a:avLst/>
          </a:prstGeom>
        </p:spPr>
        <p:txBody>
          <a:bodyPr anchor="t" rtlCol="false" tIns="0" lIns="0" bIns="0" rIns="0">
            <a:spAutoFit/>
          </a:bodyPr>
          <a:lstStyle/>
          <a:p>
            <a:pPr algn="just">
              <a:lnSpc>
                <a:spcPts val="7420"/>
              </a:lnSpc>
            </a:pPr>
            <a:r>
              <a:rPr lang="en-US" sz="5300" b="true">
                <a:solidFill>
                  <a:srgbClr val="0E0340"/>
                </a:solidFill>
                <a:latin typeface="TT Chocolates Bold"/>
                <a:ea typeface="TT Chocolates Bold"/>
                <a:cs typeface="TT Chocolates Bold"/>
                <a:sym typeface="TT Chocolates Bold"/>
              </a:rPr>
              <a:t>KPI Target</a:t>
            </a:r>
          </a:p>
        </p:txBody>
      </p:sp>
      <p:grpSp>
        <p:nvGrpSpPr>
          <p:cNvPr name="Group 9" id="9"/>
          <p:cNvGrpSpPr/>
          <p:nvPr/>
        </p:nvGrpSpPr>
        <p:grpSpPr>
          <a:xfrm rot="0">
            <a:off x="2258940" y="1857661"/>
            <a:ext cx="12947932" cy="47625"/>
            <a:chOff x="0" y="0"/>
            <a:chExt cx="3410155" cy="12543"/>
          </a:xfrm>
        </p:grpSpPr>
        <p:sp>
          <p:nvSpPr>
            <p:cNvPr name="Freeform 10" id="10"/>
            <p:cNvSpPr/>
            <p:nvPr/>
          </p:nvSpPr>
          <p:spPr>
            <a:xfrm flipH="false" flipV="false" rot="0">
              <a:off x="0" y="0"/>
              <a:ext cx="3410155" cy="12543"/>
            </a:xfrm>
            <a:custGeom>
              <a:avLst/>
              <a:gdLst/>
              <a:ahLst/>
              <a:cxnLst/>
              <a:rect r="r" b="b" t="t" l="l"/>
              <a:pathLst>
                <a:path h="12543" w="3410155">
                  <a:moveTo>
                    <a:pt x="0" y="0"/>
                  </a:moveTo>
                  <a:lnTo>
                    <a:pt x="3410155" y="0"/>
                  </a:lnTo>
                  <a:lnTo>
                    <a:pt x="3410155" y="12543"/>
                  </a:lnTo>
                  <a:lnTo>
                    <a:pt x="0" y="12543"/>
                  </a:lnTo>
                  <a:close/>
                </a:path>
              </a:pathLst>
            </a:custGeom>
            <a:solidFill>
              <a:srgbClr val="8574D1"/>
            </a:solidFill>
          </p:spPr>
        </p:sp>
        <p:sp>
          <p:nvSpPr>
            <p:cNvPr name="TextBox 11" id="11"/>
            <p:cNvSpPr txBox="true"/>
            <p:nvPr/>
          </p:nvSpPr>
          <p:spPr>
            <a:xfrm>
              <a:off x="0" y="-47625"/>
              <a:ext cx="3410155" cy="60168"/>
            </a:xfrm>
            <a:prstGeom prst="rect">
              <a:avLst/>
            </a:prstGeom>
          </p:spPr>
          <p:txBody>
            <a:bodyPr anchor="ctr" rtlCol="false" tIns="50800" lIns="50800" bIns="50800" rIns="50800"/>
            <a:lstStyle/>
            <a:p>
              <a:pPr algn="ctr">
                <a:lnSpc>
                  <a:spcPts val="2659"/>
                </a:lnSpc>
                <a:spcBef>
                  <a:spcPct val="0"/>
                </a:spcBef>
              </a:pPr>
            </a:p>
          </p:txBody>
        </p:sp>
      </p:grpSp>
    </p:spTree>
  </p:cSld>
  <p:clrMapOvr>
    <a:masterClrMapping/>
  </p:clrMapOvr>
</p:sld>
</file>

<file path=ppt/slides/slide31.xml><?xml version="1.0" encoding="utf-8"?>
<p:sld xmlns:p="http://schemas.openxmlformats.org/presentationml/2006/main" xmlns:a="http://schemas.openxmlformats.org/drawingml/2006/main" xmlns:r="http://schemas.openxmlformats.org/officeDocument/2006/relationships">
  <p:cSld>
    <p:bg>
      <p:bgPr>
        <a:solidFill>
          <a:srgbClr val="FBFBF9"/>
        </a:solidFill>
      </p:bgPr>
    </p:bg>
    <p:spTree>
      <p:nvGrpSpPr>
        <p:cNvPr id="1" name=""/>
        <p:cNvGrpSpPr/>
        <p:nvPr/>
      </p:nvGrpSpPr>
      <p:grpSpPr>
        <a:xfrm>
          <a:off x="0" y="0"/>
          <a:ext cx="0" cy="0"/>
          <a:chOff x="0" y="0"/>
          <a:chExt cx="0" cy="0"/>
        </a:xfrm>
      </p:grpSpPr>
      <p:grpSp>
        <p:nvGrpSpPr>
          <p:cNvPr name="Group 2" id="2"/>
          <p:cNvGrpSpPr/>
          <p:nvPr/>
        </p:nvGrpSpPr>
        <p:grpSpPr>
          <a:xfrm rot="0">
            <a:off x="1671376" y="2114629"/>
            <a:ext cx="4903177" cy="3538431"/>
            <a:chOff x="0" y="0"/>
            <a:chExt cx="1291372" cy="931932"/>
          </a:xfrm>
        </p:grpSpPr>
        <p:sp>
          <p:nvSpPr>
            <p:cNvPr name="Freeform 3" id="3"/>
            <p:cNvSpPr/>
            <p:nvPr/>
          </p:nvSpPr>
          <p:spPr>
            <a:xfrm flipH="false" flipV="false" rot="0">
              <a:off x="0" y="0"/>
              <a:ext cx="1291372" cy="931932"/>
            </a:xfrm>
            <a:custGeom>
              <a:avLst/>
              <a:gdLst/>
              <a:ahLst/>
              <a:cxnLst/>
              <a:rect r="r" b="b" t="t" l="l"/>
              <a:pathLst>
                <a:path h="931932" w="1291372">
                  <a:moveTo>
                    <a:pt x="0" y="0"/>
                  </a:moveTo>
                  <a:lnTo>
                    <a:pt x="1291372" y="0"/>
                  </a:lnTo>
                  <a:lnTo>
                    <a:pt x="1291372" y="931932"/>
                  </a:lnTo>
                  <a:lnTo>
                    <a:pt x="0" y="931932"/>
                  </a:lnTo>
                  <a:close/>
                </a:path>
              </a:pathLst>
            </a:custGeom>
            <a:solidFill>
              <a:srgbClr val="8574D1">
                <a:alpha val="69804"/>
              </a:srgbClr>
            </a:solidFill>
          </p:spPr>
        </p:sp>
        <p:sp>
          <p:nvSpPr>
            <p:cNvPr name="TextBox 4" id="4"/>
            <p:cNvSpPr txBox="true"/>
            <p:nvPr/>
          </p:nvSpPr>
          <p:spPr>
            <a:xfrm>
              <a:off x="0" y="-47625"/>
              <a:ext cx="1291372" cy="979557"/>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805630" y="2189279"/>
            <a:ext cx="4634668" cy="3389130"/>
            <a:chOff x="0" y="0"/>
            <a:chExt cx="1220653" cy="892610"/>
          </a:xfrm>
        </p:grpSpPr>
        <p:sp>
          <p:nvSpPr>
            <p:cNvPr name="Freeform 6" id="6"/>
            <p:cNvSpPr/>
            <p:nvPr/>
          </p:nvSpPr>
          <p:spPr>
            <a:xfrm flipH="false" flipV="false" rot="0">
              <a:off x="0" y="0"/>
              <a:ext cx="1220653" cy="892610"/>
            </a:xfrm>
            <a:custGeom>
              <a:avLst/>
              <a:gdLst/>
              <a:ahLst/>
              <a:cxnLst/>
              <a:rect r="r" b="b" t="t" l="l"/>
              <a:pathLst>
                <a:path h="892610" w="1220653">
                  <a:moveTo>
                    <a:pt x="0" y="0"/>
                  </a:moveTo>
                  <a:lnTo>
                    <a:pt x="1220653" y="0"/>
                  </a:lnTo>
                  <a:lnTo>
                    <a:pt x="1220653" y="892610"/>
                  </a:lnTo>
                  <a:lnTo>
                    <a:pt x="0" y="892610"/>
                  </a:lnTo>
                  <a:close/>
                </a:path>
              </a:pathLst>
            </a:custGeom>
            <a:solidFill>
              <a:srgbClr val="FFFFFF"/>
            </a:solidFill>
          </p:spPr>
        </p:sp>
        <p:sp>
          <p:nvSpPr>
            <p:cNvPr name="TextBox 7" id="7"/>
            <p:cNvSpPr txBox="true"/>
            <p:nvPr/>
          </p:nvSpPr>
          <p:spPr>
            <a:xfrm>
              <a:off x="0" y="-47625"/>
              <a:ext cx="1220653" cy="940235"/>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7031753" y="2107861"/>
            <a:ext cx="4903177" cy="3538431"/>
            <a:chOff x="0" y="0"/>
            <a:chExt cx="1291372" cy="931932"/>
          </a:xfrm>
        </p:grpSpPr>
        <p:sp>
          <p:nvSpPr>
            <p:cNvPr name="Freeform 9" id="9"/>
            <p:cNvSpPr/>
            <p:nvPr/>
          </p:nvSpPr>
          <p:spPr>
            <a:xfrm flipH="false" flipV="false" rot="0">
              <a:off x="0" y="0"/>
              <a:ext cx="1291372" cy="931932"/>
            </a:xfrm>
            <a:custGeom>
              <a:avLst/>
              <a:gdLst/>
              <a:ahLst/>
              <a:cxnLst/>
              <a:rect r="r" b="b" t="t" l="l"/>
              <a:pathLst>
                <a:path h="931932" w="1291372">
                  <a:moveTo>
                    <a:pt x="0" y="0"/>
                  </a:moveTo>
                  <a:lnTo>
                    <a:pt x="1291372" y="0"/>
                  </a:lnTo>
                  <a:lnTo>
                    <a:pt x="1291372" y="931932"/>
                  </a:lnTo>
                  <a:lnTo>
                    <a:pt x="0" y="931932"/>
                  </a:lnTo>
                  <a:close/>
                </a:path>
              </a:pathLst>
            </a:custGeom>
            <a:solidFill>
              <a:srgbClr val="8574D1">
                <a:alpha val="69804"/>
              </a:srgbClr>
            </a:solidFill>
          </p:spPr>
        </p:sp>
        <p:sp>
          <p:nvSpPr>
            <p:cNvPr name="TextBox 10" id="10"/>
            <p:cNvSpPr txBox="true"/>
            <p:nvPr/>
          </p:nvSpPr>
          <p:spPr>
            <a:xfrm>
              <a:off x="0" y="-47625"/>
              <a:ext cx="1291372" cy="979557"/>
            </a:xfrm>
            <a:prstGeom prst="rect">
              <a:avLst/>
            </a:prstGeom>
          </p:spPr>
          <p:txBody>
            <a:bodyPr anchor="ctr" rtlCol="false" tIns="50800" lIns="50800" bIns="50800" rIns="50800"/>
            <a:lstStyle/>
            <a:p>
              <a:pPr algn="ctr">
                <a:lnSpc>
                  <a:spcPts val="2659"/>
                </a:lnSpc>
              </a:pPr>
            </a:p>
          </p:txBody>
        </p:sp>
      </p:grpSp>
      <p:grpSp>
        <p:nvGrpSpPr>
          <p:cNvPr name="Group 11" id="11"/>
          <p:cNvGrpSpPr/>
          <p:nvPr/>
        </p:nvGrpSpPr>
        <p:grpSpPr>
          <a:xfrm rot="0">
            <a:off x="12393525" y="2107861"/>
            <a:ext cx="4903177" cy="3538431"/>
            <a:chOff x="0" y="0"/>
            <a:chExt cx="1291372" cy="931932"/>
          </a:xfrm>
        </p:grpSpPr>
        <p:sp>
          <p:nvSpPr>
            <p:cNvPr name="Freeform 12" id="12"/>
            <p:cNvSpPr/>
            <p:nvPr/>
          </p:nvSpPr>
          <p:spPr>
            <a:xfrm flipH="false" flipV="false" rot="0">
              <a:off x="0" y="0"/>
              <a:ext cx="1291372" cy="931932"/>
            </a:xfrm>
            <a:custGeom>
              <a:avLst/>
              <a:gdLst/>
              <a:ahLst/>
              <a:cxnLst/>
              <a:rect r="r" b="b" t="t" l="l"/>
              <a:pathLst>
                <a:path h="931932" w="1291372">
                  <a:moveTo>
                    <a:pt x="0" y="0"/>
                  </a:moveTo>
                  <a:lnTo>
                    <a:pt x="1291372" y="0"/>
                  </a:lnTo>
                  <a:lnTo>
                    <a:pt x="1291372" y="931932"/>
                  </a:lnTo>
                  <a:lnTo>
                    <a:pt x="0" y="931932"/>
                  </a:lnTo>
                  <a:close/>
                </a:path>
              </a:pathLst>
            </a:custGeom>
            <a:solidFill>
              <a:srgbClr val="8574D1">
                <a:alpha val="69804"/>
              </a:srgbClr>
            </a:solidFill>
          </p:spPr>
        </p:sp>
        <p:sp>
          <p:nvSpPr>
            <p:cNvPr name="TextBox 13" id="13"/>
            <p:cNvSpPr txBox="true"/>
            <p:nvPr/>
          </p:nvSpPr>
          <p:spPr>
            <a:xfrm>
              <a:off x="0" y="-47625"/>
              <a:ext cx="1291372" cy="979557"/>
            </a:xfrm>
            <a:prstGeom prst="rect">
              <a:avLst/>
            </a:prstGeom>
          </p:spPr>
          <p:txBody>
            <a:bodyPr anchor="ctr" rtlCol="false" tIns="50800" lIns="50800" bIns="50800" rIns="50800"/>
            <a:lstStyle/>
            <a:p>
              <a:pPr algn="ctr">
                <a:lnSpc>
                  <a:spcPts val="2659"/>
                </a:lnSpc>
              </a:pPr>
            </a:p>
          </p:txBody>
        </p:sp>
      </p:grpSp>
      <p:sp>
        <p:nvSpPr>
          <p:cNvPr name="TextBox 14" id="14"/>
          <p:cNvSpPr txBox="true"/>
          <p:nvPr/>
        </p:nvSpPr>
        <p:spPr>
          <a:xfrm rot="0">
            <a:off x="2470753" y="1501436"/>
            <a:ext cx="3321005" cy="606425"/>
          </a:xfrm>
          <a:prstGeom prst="rect">
            <a:avLst/>
          </a:prstGeom>
        </p:spPr>
        <p:txBody>
          <a:bodyPr anchor="t" rtlCol="false" tIns="0" lIns="0" bIns="0" rIns="0">
            <a:spAutoFit/>
          </a:bodyPr>
          <a:lstStyle/>
          <a:p>
            <a:pPr algn="ctr">
              <a:lnSpc>
                <a:spcPts val="4900"/>
              </a:lnSpc>
            </a:pPr>
            <a:r>
              <a:rPr lang="en-US" b="true" sz="3500">
                <a:solidFill>
                  <a:srgbClr val="602E9E"/>
                </a:solidFill>
                <a:latin typeface="TT Chocolates Bold"/>
                <a:ea typeface="TT Chocolates Bold"/>
                <a:cs typeface="TT Chocolates Bold"/>
                <a:sym typeface="TT Chocolates Bold"/>
              </a:rPr>
              <a:t>Conclusion 1</a:t>
            </a:r>
          </a:p>
        </p:txBody>
      </p:sp>
      <p:sp>
        <p:nvSpPr>
          <p:cNvPr name="TextBox 15" id="15"/>
          <p:cNvSpPr txBox="true"/>
          <p:nvPr/>
        </p:nvSpPr>
        <p:spPr>
          <a:xfrm rot="0">
            <a:off x="7822839" y="1501436"/>
            <a:ext cx="3321005" cy="606425"/>
          </a:xfrm>
          <a:prstGeom prst="rect">
            <a:avLst/>
          </a:prstGeom>
        </p:spPr>
        <p:txBody>
          <a:bodyPr anchor="t" rtlCol="false" tIns="0" lIns="0" bIns="0" rIns="0">
            <a:spAutoFit/>
          </a:bodyPr>
          <a:lstStyle/>
          <a:p>
            <a:pPr algn="ctr">
              <a:lnSpc>
                <a:spcPts val="4900"/>
              </a:lnSpc>
            </a:pPr>
            <a:r>
              <a:rPr lang="en-US" b="true" sz="3500">
                <a:solidFill>
                  <a:srgbClr val="602E9E"/>
                </a:solidFill>
                <a:latin typeface="TT Chocolates Bold"/>
                <a:ea typeface="TT Chocolates Bold"/>
                <a:cs typeface="TT Chocolates Bold"/>
                <a:sym typeface="TT Chocolates Bold"/>
              </a:rPr>
              <a:t>Conclusion 2</a:t>
            </a:r>
          </a:p>
        </p:txBody>
      </p:sp>
      <p:sp>
        <p:nvSpPr>
          <p:cNvPr name="TextBox 16" id="16"/>
          <p:cNvSpPr txBox="true"/>
          <p:nvPr/>
        </p:nvSpPr>
        <p:spPr>
          <a:xfrm rot="0">
            <a:off x="13448381" y="1501436"/>
            <a:ext cx="2793466" cy="606425"/>
          </a:xfrm>
          <a:prstGeom prst="rect">
            <a:avLst/>
          </a:prstGeom>
        </p:spPr>
        <p:txBody>
          <a:bodyPr anchor="t" rtlCol="false" tIns="0" lIns="0" bIns="0" rIns="0">
            <a:spAutoFit/>
          </a:bodyPr>
          <a:lstStyle/>
          <a:p>
            <a:pPr algn="ctr">
              <a:lnSpc>
                <a:spcPts val="4900"/>
              </a:lnSpc>
            </a:pPr>
            <a:r>
              <a:rPr lang="en-US" b="true" sz="3500">
                <a:solidFill>
                  <a:srgbClr val="602E9E"/>
                </a:solidFill>
                <a:latin typeface="TT Chocolates Bold"/>
                <a:ea typeface="TT Chocolates Bold"/>
                <a:cs typeface="TT Chocolates Bold"/>
                <a:sym typeface="TT Chocolates Bold"/>
              </a:rPr>
              <a:t>Conclusion 3</a:t>
            </a:r>
          </a:p>
        </p:txBody>
      </p:sp>
      <p:grpSp>
        <p:nvGrpSpPr>
          <p:cNvPr name="Group 17" id="17"/>
          <p:cNvGrpSpPr/>
          <p:nvPr/>
        </p:nvGrpSpPr>
        <p:grpSpPr>
          <a:xfrm rot="0">
            <a:off x="7166007" y="2182512"/>
            <a:ext cx="4634668" cy="3389130"/>
            <a:chOff x="0" y="0"/>
            <a:chExt cx="1220653" cy="892610"/>
          </a:xfrm>
        </p:grpSpPr>
        <p:sp>
          <p:nvSpPr>
            <p:cNvPr name="Freeform 18" id="18"/>
            <p:cNvSpPr/>
            <p:nvPr/>
          </p:nvSpPr>
          <p:spPr>
            <a:xfrm flipH="false" flipV="false" rot="0">
              <a:off x="0" y="0"/>
              <a:ext cx="1220653" cy="892610"/>
            </a:xfrm>
            <a:custGeom>
              <a:avLst/>
              <a:gdLst/>
              <a:ahLst/>
              <a:cxnLst/>
              <a:rect r="r" b="b" t="t" l="l"/>
              <a:pathLst>
                <a:path h="892610" w="1220653">
                  <a:moveTo>
                    <a:pt x="0" y="0"/>
                  </a:moveTo>
                  <a:lnTo>
                    <a:pt x="1220653" y="0"/>
                  </a:lnTo>
                  <a:lnTo>
                    <a:pt x="1220653" y="892610"/>
                  </a:lnTo>
                  <a:lnTo>
                    <a:pt x="0" y="892610"/>
                  </a:lnTo>
                  <a:close/>
                </a:path>
              </a:pathLst>
            </a:custGeom>
            <a:solidFill>
              <a:srgbClr val="FFFFFF"/>
            </a:solidFill>
          </p:spPr>
        </p:sp>
        <p:sp>
          <p:nvSpPr>
            <p:cNvPr name="TextBox 19" id="19"/>
            <p:cNvSpPr txBox="true"/>
            <p:nvPr/>
          </p:nvSpPr>
          <p:spPr>
            <a:xfrm>
              <a:off x="0" y="-47625"/>
              <a:ext cx="1220653" cy="940235"/>
            </a:xfrm>
            <a:prstGeom prst="rect">
              <a:avLst/>
            </a:prstGeom>
          </p:spPr>
          <p:txBody>
            <a:bodyPr anchor="ctr" rtlCol="false" tIns="50800" lIns="50800" bIns="50800" rIns="50800"/>
            <a:lstStyle/>
            <a:p>
              <a:pPr algn="ctr">
                <a:lnSpc>
                  <a:spcPts val="2659"/>
                </a:lnSpc>
              </a:pPr>
            </a:p>
          </p:txBody>
        </p:sp>
      </p:grpSp>
      <p:grpSp>
        <p:nvGrpSpPr>
          <p:cNvPr name="Group 20" id="20"/>
          <p:cNvGrpSpPr/>
          <p:nvPr/>
        </p:nvGrpSpPr>
        <p:grpSpPr>
          <a:xfrm rot="0">
            <a:off x="12527780" y="2182512"/>
            <a:ext cx="4634668" cy="3389130"/>
            <a:chOff x="0" y="0"/>
            <a:chExt cx="1220653" cy="892610"/>
          </a:xfrm>
        </p:grpSpPr>
        <p:sp>
          <p:nvSpPr>
            <p:cNvPr name="Freeform 21" id="21"/>
            <p:cNvSpPr/>
            <p:nvPr/>
          </p:nvSpPr>
          <p:spPr>
            <a:xfrm flipH="false" flipV="false" rot="0">
              <a:off x="0" y="0"/>
              <a:ext cx="1220653" cy="892610"/>
            </a:xfrm>
            <a:custGeom>
              <a:avLst/>
              <a:gdLst/>
              <a:ahLst/>
              <a:cxnLst/>
              <a:rect r="r" b="b" t="t" l="l"/>
              <a:pathLst>
                <a:path h="892610" w="1220653">
                  <a:moveTo>
                    <a:pt x="0" y="0"/>
                  </a:moveTo>
                  <a:lnTo>
                    <a:pt x="1220653" y="0"/>
                  </a:lnTo>
                  <a:lnTo>
                    <a:pt x="1220653" y="892610"/>
                  </a:lnTo>
                  <a:lnTo>
                    <a:pt x="0" y="892610"/>
                  </a:lnTo>
                  <a:close/>
                </a:path>
              </a:pathLst>
            </a:custGeom>
            <a:solidFill>
              <a:srgbClr val="FFFFFF"/>
            </a:solidFill>
          </p:spPr>
        </p:sp>
        <p:sp>
          <p:nvSpPr>
            <p:cNvPr name="TextBox 22" id="22"/>
            <p:cNvSpPr txBox="true"/>
            <p:nvPr/>
          </p:nvSpPr>
          <p:spPr>
            <a:xfrm>
              <a:off x="0" y="-47625"/>
              <a:ext cx="1220653" cy="940235"/>
            </a:xfrm>
            <a:prstGeom prst="rect">
              <a:avLst/>
            </a:prstGeom>
          </p:spPr>
          <p:txBody>
            <a:bodyPr anchor="ctr" rtlCol="false" tIns="50800" lIns="50800" bIns="50800" rIns="50800"/>
            <a:lstStyle/>
            <a:p>
              <a:pPr algn="ctr">
                <a:lnSpc>
                  <a:spcPts val="2659"/>
                </a:lnSpc>
              </a:pPr>
            </a:p>
          </p:txBody>
        </p:sp>
      </p:grpSp>
      <p:grpSp>
        <p:nvGrpSpPr>
          <p:cNvPr name="Group 23" id="23"/>
          <p:cNvGrpSpPr/>
          <p:nvPr/>
        </p:nvGrpSpPr>
        <p:grpSpPr>
          <a:xfrm rot="0">
            <a:off x="2503196" y="6466523"/>
            <a:ext cx="6669208" cy="3538431"/>
            <a:chOff x="0" y="0"/>
            <a:chExt cx="1756499" cy="931932"/>
          </a:xfrm>
        </p:grpSpPr>
        <p:sp>
          <p:nvSpPr>
            <p:cNvPr name="Freeform 24" id="24"/>
            <p:cNvSpPr/>
            <p:nvPr/>
          </p:nvSpPr>
          <p:spPr>
            <a:xfrm flipH="false" flipV="false" rot="0">
              <a:off x="0" y="0"/>
              <a:ext cx="1756499" cy="931932"/>
            </a:xfrm>
            <a:custGeom>
              <a:avLst/>
              <a:gdLst/>
              <a:ahLst/>
              <a:cxnLst/>
              <a:rect r="r" b="b" t="t" l="l"/>
              <a:pathLst>
                <a:path h="931932" w="1756499">
                  <a:moveTo>
                    <a:pt x="0" y="0"/>
                  </a:moveTo>
                  <a:lnTo>
                    <a:pt x="1756499" y="0"/>
                  </a:lnTo>
                  <a:lnTo>
                    <a:pt x="1756499" y="931932"/>
                  </a:lnTo>
                  <a:lnTo>
                    <a:pt x="0" y="931932"/>
                  </a:lnTo>
                  <a:close/>
                </a:path>
              </a:pathLst>
            </a:custGeom>
            <a:solidFill>
              <a:srgbClr val="8574D1">
                <a:alpha val="69804"/>
              </a:srgbClr>
            </a:solidFill>
          </p:spPr>
        </p:sp>
        <p:sp>
          <p:nvSpPr>
            <p:cNvPr name="TextBox 25" id="25"/>
            <p:cNvSpPr txBox="true"/>
            <p:nvPr/>
          </p:nvSpPr>
          <p:spPr>
            <a:xfrm>
              <a:off x="0" y="-47625"/>
              <a:ext cx="1756499" cy="979557"/>
            </a:xfrm>
            <a:prstGeom prst="rect">
              <a:avLst/>
            </a:prstGeom>
          </p:spPr>
          <p:txBody>
            <a:bodyPr anchor="ctr" rtlCol="false" tIns="50800" lIns="50800" bIns="50800" rIns="50800"/>
            <a:lstStyle/>
            <a:p>
              <a:pPr algn="ctr">
                <a:lnSpc>
                  <a:spcPts val="2659"/>
                </a:lnSpc>
              </a:pPr>
            </a:p>
          </p:txBody>
        </p:sp>
      </p:grpSp>
      <p:grpSp>
        <p:nvGrpSpPr>
          <p:cNvPr name="Group 26" id="26"/>
          <p:cNvGrpSpPr/>
          <p:nvPr/>
        </p:nvGrpSpPr>
        <p:grpSpPr>
          <a:xfrm rot="0">
            <a:off x="2685806" y="6541173"/>
            <a:ext cx="6303987" cy="3389130"/>
            <a:chOff x="0" y="0"/>
            <a:chExt cx="1660309" cy="892610"/>
          </a:xfrm>
        </p:grpSpPr>
        <p:sp>
          <p:nvSpPr>
            <p:cNvPr name="Freeform 27" id="27"/>
            <p:cNvSpPr/>
            <p:nvPr/>
          </p:nvSpPr>
          <p:spPr>
            <a:xfrm flipH="false" flipV="false" rot="0">
              <a:off x="0" y="0"/>
              <a:ext cx="1660310" cy="892610"/>
            </a:xfrm>
            <a:custGeom>
              <a:avLst/>
              <a:gdLst/>
              <a:ahLst/>
              <a:cxnLst/>
              <a:rect r="r" b="b" t="t" l="l"/>
              <a:pathLst>
                <a:path h="892610" w="1660310">
                  <a:moveTo>
                    <a:pt x="0" y="0"/>
                  </a:moveTo>
                  <a:lnTo>
                    <a:pt x="1660310" y="0"/>
                  </a:lnTo>
                  <a:lnTo>
                    <a:pt x="1660310" y="892610"/>
                  </a:lnTo>
                  <a:lnTo>
                    <a:pt x="0" y="892610"/>
                  </a:lnTo>
                  <a:close/>
                </a:path>
              </a:pathLst>
            </a:custGeom>
            <a:solidFill>
              <a:srgbClr val="FFFFFF"/>
            </a:solidFill>
          </p:spPr>
        </p:sp>
        <p:sp>
          <p:nvSpPr>
            <p:cNvPr name="TextBox 28" id="28"/>
            <p:cNvSpPr txBox="true"/>
            <p:nvPr/>
          </p:nvSpPr>
          <p:spPr>
            <a:xfrm>
              <a:off x="0" y="-47625"/>
              <a:ext cx="1660309" cy="940235"/>
            </a:xfrm>
            <a:prstGeom prst="rect">
              <a:avLst/>
            </a:prstGeom>
          </p:spPr>
          <p:txBody>
            <a:bodyPr anchor="ctr" rtlCol="false" tIns="50800" lIns="50800" bIns="50800" rIns="50800"/>
            <a:lstStyle/>
            <a:p>
              <a:pPr algn="ctr">
                <a:lnSpc>
                  <a:spcPts val="2659"/>
                </a:lnSpc>
              </a:pPr>
            </a:p>
          </p:txBody>
        </p:sp>
      </p:grpSp>
      <p:grpSp>
        <p:nvGrpSpPr>
          <p:cNvPr name="Group 29" id="29"/>
          <p:cNvGrpSpPr/>
          <p:nvPr/>
        </p:nvGrpSpPr>
        <p:grpSpPr>
          <a:xfrm rot="0">
            <a:off x="9794279" y="6459755"/>
            <a:ext cx="6669208" cy="3538431"/>
            <a:chOff x="0" y="0"/>
            <a:chExt cx="1756499" cy="931932"/>
          </a:xfrm>
        </p:grpSpPr>
        <p:sp>
          <p:nvSpPr>
            <p:cNvPr name="Freeform 30" id="30"/>
            <p:cNvSpPr/>
            <p:nvPr/>
          </p:nvSpPr>
          <p:spPr>
            <a:xfrm flipH="false" flipV="false" rot="0">
              <a:off x="0" y="0"/>
              <a:ext cx="1756499" cy="931932"/>
            </a:xfrm>
            <a:custGeom>
              <a:avLst/>
              <a:gdLst/>
              <a:ahLst/>
              <a:cxnLst/>
              <a:rect r="r" b="b" t="t" l="l"/>
              <a:pathLst>
                <a:path h="931932" w="1756499">
                  <a:moveTo>
                    <a:pt x="0" y="0"/>
                  </a:moveTo>
                  <a:lnTo>
                    <a:pt x="1756499" y="0"/>
                  </a:lnTo>
                  <a:lnTo>
                    <a:pt x="1756499" y="931932"/>
                  </a:lnTo>
                  <a:lnTo>
                    <a:pt x="0" y="931932"/>
                  </a:lnTo>
                  <a:close/>
                </a:path>
              </a:pathLst>
            </a:custGeom>
            <a:solidFill>
              <a:srgbClr val="8574D1">
                <a:alpha val="69804"/>
              </a:srgbClr>
            </a:solidFill>
          </p:spPr>
        </p:sp>
        <p:sp>
          <p:nvSpPr>
            <p:cNvPr name="TextBox 31" id="31"/>
            <p:cNvSpPr txBox="true"/>
            <p:nvPr/>
          </p:nvSpPr>
          <p:spPr>
            <a:xfrm>
              <a:off x="0" y="-47625"/>
              <a:ext cx="1756499" cy="979557"/>
            </a:xfrm>
            <a:prstGeom prst="rect">
              <a:avLst/>
            </a:prstGeom>
          </p:spPr>
          <p:txBody>
            <a:bodyPr anchor="ctr" rtlCol="false" tIns="50800" lIns="50800" bIns="50800" rIns="50800"/>
            <a:lstStyle/>
            <a:p>
              <a:pPr algn="ctr">
                <a:lnSpc>
                  <a:spcPts val="2659"/>
                </a:lnSpc>
              </a:pPr>
            </a:p>
          </p:txBody>
        </p:sp>
      </p:grpSp>
      <p:grpSp>
        <p:nvGrpSpPr>
          <p:cNvPr name="Group 32" id="32"/>
          <p:cNvGrpSpPr/>
          <p:nvPr/>
        </p:nvGrpSpPr>
        <p:grpSpPr>
          <a:xfrm rot="0">
            <a:off x="9976889" y="6534405"/>
            <a:ext cx="6303987" cy="3389130"/>
            <a:chOff x="0" y="0"/>
            <a:chExt cx="1660309" cy="892610"/>
          </a:xfrm>
        </p:grpSpPr>
        <p:sp>
          <p:nvSpPr>
            <p:cNvPr name="Freeform 33" id="33"/>
            <p:cNvSpPr/>
            <p:nvPr/>
          </p:nvSpPr>
          <p:spPr>
            <a:xfrm flipH="false" flipV="false" rot="0">
              <a:off x="0" y="0"/>
              <a:ext cx="1660310" cy="892610"/>
            </a:xfrm>
            <a:custGeom>
              <a:avLst/>
              <a:gdLst/>
              <a:ahLst/>
              <a:cxnLst/>
              <a:rect r="r" b="b" t="t" l="l"/>
              <a:pathLst>
                <a:path h="892610" w="1660310">
                  <a:moveTo>
                    <a:pt x="0" y="0"/>
                  </a:moveTo>
                  <a:lnTo>
                    <a:pt x="1660310" y="0"/>
                  </a:lnTo>
                  <a:lnTo>
                    <a:pt x="1660310" y="892610"/>
                  </a:lnTo>
                  <a:lnTo>
                    <a:pt x="0" y="892610"/>
                  </a:lnTo>
                  <a:close/>
                </a:path>
              </a:pathLst>
            </a:custGeom>
            <a:solidFill>
              <a:srgbClr val="FFFFFF"/>
            </a:solidFill>
          </p:spPr>
        </p:sp>
        <p:sp>
          <p:nvSpPr>
            <p:cNvPr name="TextBox 34" id="34"/>
            <p:cNvSpPr txBox="true"/>
            <p:nvPr/>
          </p:nvSpPr>
          <p:spPr>
            <a:xfrm>
              <a:off x="0" y="-47625"/>
              <a:ext cx="1660309" cy="940235"/>
            </a:xfrm>
            <a:prstGeom prst="rect">
              <a:avLst/>
            </a:prstGeom>
          </p:spPr>
          <p:txBody>
            <a:bodyPr anchor="ctr" rtlCol="false" tIns="50800" lIns="50800" bIns="50800" rIns="50800"/>
            <a:lstStyle/>
            <a:p>
              <a:pPr algn="ctr">
                <a:lnSpc>
                  <a:spcPts val="2659"/>
                </a:lnSpc>
              </a:pPr>
            </a:p>
          </p:txBody>
        </p:sp>
      </p:grpSp>
      <p:sp>
        <p:nvSpPr>
          <p:cNvPr name="TextBox 35" id="35"/>
          <p:cNvSpPr txBox="true"/>
          <p:nvPr/>
        </p:nvSpPr>
        <p:spPr>
          <a:xfrm rot="0">
            <a:off x="1939885" y="2414093"/>
            <a:ext cx="4367968" cy="2174875"/>
          </a:xfrm>
          <a:prstGeom prst="rect">
            <a:avLst/>
          </a:prstGeom>
        </p:spPr>
        <p:txBody>
          <a:bodyPr anchor="t" rtlCol="false" tIns="0" lIns="0" bIns="0" rIns="0">
            <a:spAutoFit/>
          </a:bodyPr>
          <a:lstStyle/>
          <a:p>
            <a:pPr algn="just">
              <a:lnSpc>
                <a:spcPts val="3499"/>
              </a:lnSpc>
              <a:spcBef>
                <a:spcPct val="0"/>
              </a:spcBef>
            </a:pPr>
            <a:r>
              <a:rPr lang="en-US" sz="2499">
                <a:solidFill>
                  <a:srgbClr val="0E0340"/>
                </a:solidFill>
                <a:latin typeface="TT Chocolates"/>
                <a:ea typeface="TT Chocolates"/>
                <a:cs typeface="TT Chocolates"/>
                <a:sym typeface="TT Chocolates"/>
              </a:rPr>
              <a:t>F</a:t>
            </a:r>
            <a:r>
              <a:rPr lang="en-US" sz="2499">
                <a:solidFill>
                  <a:srgbClr val="0E0340"/>
                </a:solidFill>
                <a:latin typeface="TT Chocolates"/>
                <a:ea typeface="TT Chocolates"/>
                <a:cs typeface="TT Chocolates"/>
                <a:sym typeface="TT Chocolates"/>
              </a:rPr>
              <a:t>aktor-faktor utama yang memengaruhi performa bisnis e-commerce yaitu pelanggan, seller, produk, pembayaran, hingga pengiriman.</a:t>
            </a:r>
          </a:p>
        </p:txBody>
      </p:sp>
      <p:sp>
        <p:nvSpPr>
          <p:cNvPr name="TextBox 36" id="36"/>
          <p:cNvSpPr txBox="true"/>
          <p:nvPr/>
        </p:nvSpPr>
        <p:spPr>
          <a:xfrm rot="0">
            <a:off x="7300055" y="2373530"/>
            <a:ext cx="4367968" cy="3051175"/>
          </a:xfrm>
          <a:prstGeom prst="rect">
            <a:avLst/>
          </a:prstGeom>
        </p:spPr>
        <p:txBody>
          <a:bodyPr anchor="t" rtlCol="false" tIns="0" lIns="0" bIns="0" rIns="0">
            <a:spAutoFit/>
          </a:bodyPr>
          <a:lstStyle/>
          <a:p>
            <a:pPr algn="just">
              <a:lnSpc>
                <a:spcPts val="3499"/>
              </a:lnSpc>
              <a:spcBef>
                <a:spcPct val="0"/>
              </a:spcBef>
            </a:pPr>
            <a:r>
              <a:rPr lang="en-US" sz="2499">
                <a:solidFill>
                  <a:srgbClr val="0E0340"/>
                </a:solidFill>
                <a:latin typeface="TT Chocolates"/>
                <a:ea typeface="TT Chocolates"/>
                <a:cs typeface="TT Chocolates"/>
                <a:sym typeface="TT Chocolates"/>
              </a:rPr>
              <a:t>Revenue perusahaan t</a:t>
            </a:r>
            <a:r>
              <a:rPr lang="en-US" sz="2499">
                <a:solidFill>
                  <a:srgbClr val="0E0340"/>
                </a:solidFill>
                <a:latin typeface="TT Chocolates"/>
                <a:ea typeface="TT Chocolates"/>
                <a:cs typeface="TT Chocolates"/>
                <a:sym typeface="TT Chocolates"/>
              </a:rPr>
              <a:t>erkonsentrasi pada wilayah Sao Paulo, seller berperforma tinggi, dan kategori produk cama_mesa_banho, yang menjadi kontributor utama terhadap pendapatan perusahaan.</a:t>
            </a:r>
          </a:p>
        </p:txBody>
      </p:sp>
      <p:sp>
        <p:nvSpPr>
          <p:cNvPr name="TextBox 37" id="37"/>
          <p:cNvSpPr txBox="true"/>
          <p:nvPr/>
        </p:nvSpPr>
        <p:spPr>
          <a:xfrm rot="0">
            <a:off x="12658830" y="2344955"/>
            <a:ext cx="4367968" cy="3051175"/>
          </a:xfrm>
          <a:prstGeom prst="rect">
            <a:avLst/>
          </a:prstGeom>
        </p:spPr>
        <p:txBody>
          <a:bodyPr anchor="t" rtlCol="false" tIns="0" lIns="0" bIns="0" rIns="0">
            <a:spAutoFit/>
          </a:bodyPr>
          <a:lstStyle/>
          <a:p>
            <a:pPr algn="just">
              <a:lnSpc>
                <a:spcPts val="3499"/>
              </a:lnSpc>
              <a:spcBef>
                <a:spcPct val="0"/>
              </a:spcBef>
            </a:pPr>
            <a:r>
              <a:rPr lang="en-US" sz="2499">
                <a:solidFill>
                  <a:srgbClr val="0E0340"/>
                </a:solidFill>
                <a:latin typeface="TT Chocolates"/>
                <a:ea typeface="TT Chocolates"/>
                <a:cs typeface="TT Chocolates"/>
                <a:sym typeface="TT Chocolates"/>
              </a:rPr>
              <a:t>Credit card merupakan m</a:t>
            </a:r>
            <a:r>
              <a:rPr lang="en-US" sz="2499">
                <a:solidFill>
                  <a:srgbClr val="0E0340"/>
                </a:solidFill>
                <a:latin typeface="TT Chocolates"/>
                <a:ea typeface="TT Chocolates"/>
                <a:cs typeface="TT Chocolates"/>
                <a:sym typeface="TT Chocolates"/>
              </a:rPr>
              <a:t>etode pembayaran yang paling banyak digunakan pelanggan, menunjukkan preferensi yang kuat terhadap proses pembayaran yang praktis dan mudah digunakan.</a:t>
            </a:r>
          </a:p>
        </p:txBody>
      </p:sp>
      <p:sp>
        <p:nvSpPr>
          <p:cNvPr name="TextBox 38" id="38"/>
          <p:cNvSpPr txBox="true"/>
          <p:nvPr/>
        </p:nvSpPr>
        <p:spPr>
          <a:xfrm rot="0">
            <a:off x="2886798" y="6860545"/>
            <a:ext cx="5882954" cy="2613025"/>
          </a:xfrm>
          <a:prstGeom prst="rect">
            <a:avLst/>
          </a:prstGeom>
        </p:spPr>
        <p:txBody>
          <a:bodyPr anchor="t" rtlCol="false" tIns="0" lIns="0" bIns="0" rIns="0">
            <a:spAutoFit/>
          </a:bodyPr>
          <a:lstStyle/>
          <a:p>
            <a:pPr algn="just">
              <a:lnSpc>
                <a:spcPts val="3499"/>
              </a:lnSpc>
              <a:spcBef>
                <a:spcPct val="0"/>
              </a:spcBef>
            </a:pPr>
            <a:r>
              <a:rPr lang="en-US" sz="2499">
                <a:solidFill>
                  <a:srgbClr val="0E0340"/>
                </a:solidFill>
                <a:latin typeface="TT Chocolates"/>
                <a:ea typeface="TT Chocolates"/>
                <a:cs typeface="TT Chocolates"/>
                <a:sym typeface="TT Chocolates"/>
              </a:rPr>
              <a:t>Kualitas pengiriman sangat mempengaruhi </a:t>
            </a:r>
            <a:r>
              <a:rPr lang="en-US" sz="2499">
                <a:solidFill>
                  <a:srgbClr val="0E0340"/>
                </a:solidFill>
                <a:latin typeface="TT Chocolates"/>
                <a:ea typeface="TT Chocolates"/>
                <a:cs typeface="TT Chocolates"/>
                <a:sym typeface="TT Chocolates"/>
              </a:rPr>
              <a:t>dengan tingkat kepuasan pelanggan. Pengiriman yang lebih cepat atau tepat waktu cenderung menghasilkan review yang lebih tinggi dibandingkan pengiriman yang terlambat.</a:t>
            </a:r>
          </a:p>
        </p:txBody>
      </p:sp>
      <p:sp>
        <p:nvSpPr>
          <p:cNvPr name="TextBox 39" id="39"/>
          <p:cNvSpPr txBox="true"/>
          <p:nvPr/>
        </p:nvSpPr>
        <p:spPr>
          <a:xfrm rot="0">
            <a:off x="10156232" y="6834260"/>
            <a:ext cx="5945301" cy="2613025"/>
          </a:xfrm>
          <a:prstGeom prst="rect">
            <a:avLst/>
          </a:prstGeom>
        </p:spPr>
        <p:txBody>
          <a:bodyPr anchor="t" rtlCol="false" tIns="0" lIns="0" bIns="0" rIns="0">
            <a:spAutoFit/>
          </a:bodyPr>
          <a:lstStyle/>
          <a:p>
            <a:pPr algn="just">
              <a:lnSpc>
                <a:spcPts val="3499"/>
              </a:lnSpc>
              <a:spcBef>
                <a:spcPct val="0"/>
              </a:spcBef>
            </a:pPr>
            <a:r>
              <a:rPr lang="en-US" sz="2499">
                <a:solidFill>
                  <a:srgbClr val="0E0340"/>
                </a:solidFill>
                <a:latin typeface="TT Chocolates"/>
                <a:ea typeface="TT Chocolates"/>
                <a:cs typeface="TT Chocolates"/>
                <a:sym typeface="TT Chocolates"/>
              </a:rPr>
              <a:t>Pertumbuhan b</a:t>
            </a:r>
            <a:r>
              <a:rPr lang="en-US" sz="2499">
                <a:solidFill>
                  <a:srgbClr val="0E0340"/>
                </a:solidFill>
                <a:latin typeface="TT Chocolates"/>
                <a:ea typeface="TT Chocolates"/>
                <a:cs typeface="TT Chocolates"/>
                <a:sym typeface="TT Chocolates"/>
              </a:rPr>
              <a:t>isnis dan kepuasan pelanggan dipengaruhi oleh kombinasi faktor penjualan dan kualitas operasional. Kedua faktor tersebut perlu menjadi perhatian utama dalam pengambilan keputusan bisnis berbasis data.</a:t>
            </a:r>
          </a:p>
        </p:txBody>
      </p:sp>
      <p:sp>
        <p:nvSpPr>
          <p:cNvPr name="TextBox 40" id="40"/>
          <p:cNvSpPr txBox="true"/>
          <p:nvPr/>
        </p:nvSpPr>
        <p:spPr>
          <a:xfrm rot="0">
            <a:off x="4177297" y="5853330"/>
            <a:ext cx="3321005" cy="606425"/>
          </a:xfrm>
          <a:prstGeom prst="rect">
            <a:avLst/>
          </a:prstGeom>
        </p:spPr>
        <p:txBody>
          <a:bodyPr anchor="t" rtlCol="false" tIns="0" lIns="0" bIns="0" rIns="0">
            <a:spAutoFit/>
          </a:bodyPr>
          <a:lstStyle/>
          <a:p>
            <a:pPr algn="ctr">
              <a:lnSpc>
                <a:spcPts val="4900"/>
              </a:lnSpc>
            </a:pPr>
            <a:r>
              <a:rPr lang="en-US" b="true" sz="3500">
                <a:solidFill>
                  <a:srgbClr val="602E9E"/>
                </a:solidFill>
                <a:latin typeface="TT Chocolates Bold"/>
                <a:ea typeface="TT Chocolates Bold"/>
                <a:cs typeface="TT Chocolates Bold"/>
                <a:sym typeface="TT Chocolates Bold"/>
              </a:rPr>
              <a:t>Conclusion 4</a:t>
            </a:r>
          </a:p>
        </p:txBody>
      </p:sp>
      <p:sp>
        <p:nvSpPr>
          <p:cNvPr name="TextBox 41" id="41"/>
          <p:cNvSpPr txBox="true"/>
          <p:nvPr/>
        </p:nvSpPr>
        <p:spPr>
          <a:xfrm rot="0">
            <a:off x="11468380" y="5853330"/>
            <a:ext cx="3321005" cy="606425"/>
          </a:xfrm>
          <a:prstGeom prst="rect">
            <a:avLst/>
          </a:prstGeom>
        </p:spPr>
        <p:txBody>
          <a:bodyPr anchor="t" rtlCol="false" tIns="0" lIns="0" bIns="0" rIns="0">
            <a:spAutoFit/>
          </a:bodyPr>
          <a:lstStyle/>
          <a:p>
            <a:pPr algn="ctr">
              <a:lnSpc>
                <a:spcPts val="4900"/>
              </a:lnSpc>
            </a:pPr>
            <a:r>
              <a:rPr lang="en-US" b="true" sz="3500">
                <a:solidFill>
                  <a:srgbClr val="602E9E"/>
                </a:solidFill>
                <a:latin typeface="TT Chocolates Bold"/>
                <a:ea typeface="TT Chocolates Bold"/>
                <a:cs typeface="TT Chocolates Bold"/>
                <a:sym typeface="TT Chocolates Bold"/>
              </a:rPr>
              <a:t>Conclusion 5</a:t>
            </a:r>
          </a:p>
        </p:txBody>
      </p:sp>
      <p:grpSp>
        <p:nvGrpSpPr>
          <p:cNvPr name="Group 42" id="42"/>
          <p:cNvGrpSpPr/>
          <p:nvPr/>
        </p:nvGrpSpPr>
        <p:grpSpPr>
          <a:xfrm rot="0">
            <a:off x="38100" y="248983"/>
            <a:ext cx="18288000" cy="1052428"/>
            <a:chOff x="0" y="0"/>
            <a:chExt cx="4816593" cy="277183"/>
          </a:xfrm>
        </p:grpSpPr>
        <p:sp>
          <p:nvSpPr>
            <p:cNvPr name="Freeform 43" id="43"/>
            <p:cNvSpPr/>
            <p:nvPr/>
          </p:nvSpPr>
          <p:spPr>
            <a:xfrm flipH="false" flipV="false" rot="0">
              <a:off x="0" y="0"/>
              <a:ext cx="4816592" cy="277183"/>
            </a:xfrm>
            <a:custGeom>
              <a:avLst/>
              <a:gdLst/>
              <a:ahLst/>
              <a:cxnLst/>
              <a:rect r="r" b="b" t="t" l="l"/>
              <a:pathLst>
                <a:path h="277183" w="4816592">
                  <a:moveTo>
                    <a:pt x="0" y="0"/>
                  </a:moveTo>
                  <a:lnTo>
                    <a:pt x="4816592" y="0"/>
                  </a:lnTo>
                  <a:lnTo>
                    <a:pt x="4816592" y="277183"/>
                  </a:lnTo>
                  <a:lnTo>
                    <a:pt x="0" y="277183"/>
                  </a:lnTo>
                  <a:close/>
                </a:path>
              </a:pathLst>
            </a:custGeom>
            <a:solidFill>
              <a:srgbClr val="8574D1"/>
            </a:solidFill>
          </p:spPr>
        </p:sp>
        <p:sp>
          <p:nvSpPr>
            <p:cNvPr name="TextBox 44" id="44"/>
            <p:cNvSpPr txBox="true"/>
            <p:nvPr/>
          </p:nvSpPr>
          <p:spPr>
            <a:xfrm>
              <a:off x="0" y="-47625"/>
              <a:ext cx="4816593" cy="324808"/>
            </a:xfrm>
            <a:prstGeom prst="rect">
              <a:avLst/>
            </a:prstGeom>
          </p:spPr>
          <p:txBody>
            <a:bodyPr anchor="ctr" rtlCol="false" tIns="50800" lIns="50800" bIns="50800" rIns="50800"/>
            <a:lstStyle/>
            <a:p>
              <a:pPr algn="ctr">
                <a:lnSpc>
                  <a:spcPts val="2659"/>
                </a:lnSpc>
                <a:spcBef>
                  <a:spcPct val="0"/>
                </a:spcBef>
              </a:pPr>
            </a:p>
          </p:txBody>
        </p:sp>
      </p:grpSp>
      <p:sp>
        <p:nvSpPr>
          <p:cNvPr name="Freeform 45" id="45"/>
          <p:cNvSpPr/>
          <p:nvPr/>
        </p:nvSpPr>
        <p:spPr>
          <a:xfrm flipH="false" flipV="false" rot="270622">
            <a:off x="220907" y="91735"/>
            <a:ext cx="2483785" cy="3827648"/>
          </a:xfrm>
          <a:custGeom>
            <a:avLst/>
            <a:gdLst/>
            <a:ahLst/>
            <a:cxnLst/>
            <a:rect r="r" b="b" t="t" l="l"/>
            <a:pathLst>
              <a:path h="3827648" w="2483785">
                <a:moveTo>
                  <a:pt x="0" y="0"/>
                </a:moveTo>
                <a:lnTo>
                  <a:pt x="2483785" y="0"/>
                </a:lnTo>
                <a:lnTo>
                  <a:pt x="2483785" y="3827648"/>
                </a:lnTo>
                <a:lnTo>
                  <a:pt x="0" y="3827648"/>
                </a:lnTo>
                <a:lnTo>
                  <a:pt x="0" y="0"/>
                </a:lnTo>
                <a:close/>
              </a:path>
            </a:pathLst>
          </a:custGeom>
          <a:blipFill>
            <a:blip r:embed="rId2"/>
            <a:stretch>
              <a:fillRect l="0" t="-8088" r="-30821" b="-2029"/>
            </a:stretch>
          </a:blipFill>
        </p:spPr>
      </p:sp>
      <p:sp>
        <p:nvSpPr>
          <p:cNvPr name="TextBox 46" id="46"/>
          <p:cNvSpPr txBox="true"/>
          <p:nvPr/>
        </p:nvSpPr>
        <p:spPr>
          <a:xfrm rot="0">
            <a:off x="2347432" y="269536"/>
            <a:ext cx="5045159" cy="936625"/>
          </a:xfrm>
          <a:prstGeom prst="rect">
            <a:avLst/>
          </a:prstGeom>
        </p:spPr>
        <p:txBody>
          <a:bodyPr anchor="t" rtlCol="false" tIns="0" lIns="0" bIns="0" rIns="0">
            <a:spAutoFit/>
          </a:bodyPr>
          <a:lstStyle/>
          <a:p>
            <a:pPr algn="l">
              <a:lnSpc>
                <a:spcPts val="7699"/>
              </a:lnSpc>
            </a:pPr>
            <a:r>
              <a:rPr lang="en-US" sz="5499" b="true">
                <a:solidFill>
                  <a:srgbClr val="FFFFFF"/>
                </a:solidFill>
                <a:latin typeface="TT Chocolates Bold"/>
                <a:ea typeface="TT Chocolates Bold"/>
                <a:cs typeface="TT Chocolates Bold"/>
                <a:sym typeface="TT Chocolates Bold"/>
              </a:rPr>
              <a:t>08. Conclusion</a:t>
            </a:r>
          </a:p>
        </p:txBody>
      </p:sp>
    </p:spTree>
  </p:cSld>
  <p:clrMapOvr>
    <a:masterClrMapping/>
  </p:clrMapOvr>
</p:sld>
</file>

<file path=ppt/slides/slide32.xml><?xml version="1.0" encoding="utf-8"?>
<p:sld xmlns:p="http://schemas.openxmlformats.org/presentationml/2006/main" xmlns:a="http://schemas.openxmlformats.org/drawingml/2006/main" xmlns:r="http://schemas.openxmlformats.org/officeDocument/2006/relationships">
  <p:cSld>
    <p:bg>
      <p:bgPr>
        <a:solidFill>
          <a:srgbClr val="FBFBF9"/>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4816593" cy="2709333"/>
          </a:xfrm>
        </p:grpSpPr>
        <p:sp>
          <p:nvSpPr>
            <p:cNvPr name="Freeform 3" id="3"/>
            <p:cNvSpPr/>
            <p:nvPr/>
          </p:nvSpPr>
          <p:spPr>
            <a:xfrm flipH="false" flipV="false" rot="0">
              <a:off x="0" y="0"/>
              <a:ext cx="4816592" cy="2709333"/>
            </a:xfrm>
            <a:custGeom>
              <a:avLst/>
              <a:gdLst/>
              <a:ahLst/>
              <a:cxnLst/>
              <a:rect r="r" b="b" t="t" l="l"/>
              <a:pathLst>
                <a:path h="2709333" w="4816592">
                  <a:moveTo>
                    <a:pt x="0" y="0"/>
                  </a:moveTo>
                  <a:lnTo>
                    <a:pt x="4816592" y="0"/>
                  </a:lnTo>
                  <a:lnTo>
                    <a:pt x="4816592" y="2709333"/>
                  </a:lnTo>
                  <a:lnTo>
                    <a:pt x="0" y="2709333"/>
                  </a:lnTo>
                  <a:close/>
                </a:path>
              </a:pathLst>
            </a:custGeom>
            <a:solidFill>
              <a:srgbClr val="8574D1"/>
            </a:solidFill>
          </p:spPr>
        </p:sp>
        <p:sp>
          <p:nvSpPr>
            <p:cNvPr name="TextBox 4" id="4"/>
            <p:cNvSpPr txBox="true"/>
            <p:nvPr/>
          </p:nvSpPr>
          <p:spPr>
            <a:xfrm>
              <a:off x="0" y="-47625"/>
              <a:ext cx="4816593" cy="2756958"/>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747600" y="600175"/>
            <a:ext cx="16949850" cy="9086650"/>
            <a:chOff x="0" y="0"/>
            <a:chExt cx="4464158" cy="2393192"/>
          </a:xfrm>
        </p:grpSpPr>
        <p:sp>
          <p:nvSpPr>
            <p:cNvPr name="Freeform 6" id="6"/>
            <p:cNvSpPr/>
            <p:nvPr/>
          </p:nvSpPr>
          <p:spPr>
            <a:xfrm flipH="false" flipV="false" rot="0">
              <a:off x="0" y="0"/>
              <a:ext cx="4464158" cy="2393192"/>
            </a:xfrm>
            <a:custGeom>
              <a:avLst/>
              <a:gdLst/>
              <a:ahLst/>
              <a:cxnLst/>
              <a:rect r="r" b="b" t="t" l="l"/>
              <a:pathLst>
                <a:path h="2393192" w="4464158">
                  <a:moveTo>
                    <a:pt x="0" y="0"/>
                  </a:moveTo>
                  <a:lnTo>
                    <a:pt x="4464158" y="0"/>
                  </a:lnTo>
                  <a:lnTo>
                    <a:pt x="4464158" y="2393192"/>
                  </a:lnTo>
                  <a:lnTo>
                    <a:pt x="0" y="2393192"/>
                  </a:lnTo>
                  <a:close/>
                </a:path>
              </a:pathLst>
            </a:custGeom>
            <a:solidFill>
              <a:srgbClr val="FFFFFF"/>
            </a:solidFill>
          </p:spPr>
        </p:sp>
        <p:sp>
          <p:nvSpPr>
            <p:cNvPr name="TextBox 7" id="7"/>
            <p:cNvSpPr txBox="true"/>
            <p:nvPr/>
          </p:nvSpPr>
          <p:spPr>
            <a:xfrm>
              <a:off x="0" y="-47625"/>
              <a:ext cx="4464158" cy="2440817"/>
            </a:xfrm>
            <a:prstGeom prst="rect">
              <a:avLst/>
            </a:prstGeom>
          </p:spPr>
          <p:txBody>
            <a:bodyPr anchor="ctr" rtlCol="false" tIns="50800" lIns="50800" bIns="50800" rIns="50800"/>
            <a:lstStyle/>
            <a:p>
              <a:pPr algn="ctr">
                <a:lnSpc>
                  <a:spcPts val="2659"/>
                </a:lnSpc>
              </a:pPr>
            </a:p>
          </p:txBody>
        </p:sp>
      </p:grpSp>
      <p:sp>
        <p:nvSpPr>
          <p:cNvPr name="Freeform 8" id="8"/>
          <p:cNvSpPr/>
          <p:nvPr/>
        </p:nvSpPr>
        <p:spPr>
          <a:xfrm flipH="false" flipV="false" rot="0">
            <a:off x="-2267676" y="-6268176"/>
            <a:ext cx="19965126" cy="19965126"/>
          </a:xfrm>
          <a:custGeom>
            <a:avLst/>
            <a:gdLst/>
            <a:ahLst/>
            <a:cxnLst/>
            <a:rect r="r" b="b" t="t" l="l"/>
            <a:pathLst>
              <a:path h="19965126" w="19965126">
                <a:moveTo>
                  <a:pt x="0" y="0"/>
                </a:moveTo>
                <a:lnTo>
                  <a:pt x="19965126" y="0"/>
                </a:lnTo>
                <a:lnTo>
                  <a:pt x="19965126" y="19965126"/>
                </a:lnTo>
                <a:lnTo>
                  <a:pt x="0" y="19965126"/>
                </a:lnTo>
                <a:lnTo>
                  <a:pt x="0" y="0"/>
                </a:lnTo>
                <a:close/>
              </a:path>
            </a:pathLst>
          </a:custGeom>
          <a:blipFill>
            <a:blip r:embed="rId2">
              <a:alphaModFix amt="6000"/>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1200496">
            <a:off x="7633209" y="-4857113"/>
            <a:ext cx="13382421" cy="11338560"/>
          </a:xfrm>
          <a:custGeom>
            <a:avLst/>
            <a:gdLst/>
            <a:ahLst/>
            <a:cxnLst/>
            <a:rect r="r" b="b" t="t" l="l"/>
            <a:pathLst>
              <a:path h="11338560" w="13382421">
                <a:moveTo>
                  <a:pt x="0" y="0"/>
                </a:moveTo>
                <a:lnTo>
                  <a:pt x="13382420" y="0"/>
                </a:lnTo>
                <a:lnTo>
                  <a:pt x="13382420" y="11338560"/>
                </a:lnTo>
                <a:lnTo>
                  <a:pt x="0" y="11338560"/>
                </a:lnTo>
                <a:lnTo>
                  <a:pt x="0" y="0"/>
                </a:lnTo>
                <a:close/>
              </a:path>
            </a:pathLst>
          </a:custGeom>
          <a:blipFill>
            <a:blip r:embed="rId4">
              <a:alphaModFix amt="9999"/>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false" rot="2130666">
            <a:off x="-2379672" y="3734713"/>
            <a:ext cx="11080238" cy="9387983"/>
          </a:xfrm>
          <a:custGeom>
            <a:avLst/>
            <a:gdLst/>
            <a:ahLst/>
            <a:cxnLst/>
            <a:rect r="r" b="b" t="t" l="l"/>
            <a:pathLst>
              <a:path h="9387983" w="11080238">
                <a:moveTo>
                  <a:pt x="0" y="0"/>
                </a:moveTo>
                <a:lnTo>
                  <a:pt x="11080238" y="0"/>
                </a:lnTo>
                <a:lnTo>
                  <a:pt x="11080238" y="9387983"/>
                </a:lnTo>
                <a:lnTo>
                  <a:pt x="0" y="9387983"/>
                </a:lnTo>
                <a:lnTo>
                  <a:pt x="0" y="0"/>
                </a:lnTo>
                <a:close/>
              </a:path>
            </a:pathLst>
          </a:custGeom>
          <a:blipFill>
            <a:blip r:embed="rId4">
              <a:alphaModFix amt="9999"/>
              <a:extLst>
                <a:ext uri="{96DAC541-7B7A-43D3-8B79-37D633B846F1}">
                  <asvg:svgBlip xmlns:asvg="http://schemas.microsoft.com/office/drawing/2016/SVG/main" r:embed="rId5"/>
                </a:ext>
              </a:extLst>
            </a:blip>
            <a:stretch>
              <a:fillRect l="0" t="0" r="0" b="0"/>
            </a:stretch>
          </a:blipFill>
        </p:spPr>
      </p:sp>
      <p:sp>
        <p:nvSpPr>
          <p:cNvPr name="Freeform 11" id="11"/>
          <p:cNvSpPr/>
          <p:nvPr/>
        </p:nvSpPr>
        <p:spPr>
          <a:xfrm flipH="false" flipV="false" rot="0">
            <a:off x="4833104" y="3593686"/>
            <a:ext cx="7892572" cy="3099628"/>
          </a:xfrm>
          <a:custGeom>
            <a:avLst/>
            <a:gdLst/>
            <a:ahLst/>
            <a:cxnLst/>
            <a:rect r="r" b="b" t="t" l="l"/>
            <a:pathLst>
              <a:path h="3099628" w="7892572">
                <a:moveTo>
                  <a:pt x="0" y="0"/>
                </a:moveTo>
                <a:lnTo>
                  <a:pt x="7892572" y="0"/>
                </a:lnTo>
                <a:lnTo>
                  <a:pt x="7892572" y="3099628"/>
                </a:lnTo>
                <a:lnTo>
                  <a:pt x="0" y="309962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DAHKvdluUJ8</dc:identifier>
  <dcterms:modified xsi:type="dcterms:W3CDTF">2011-08-01T06:04:30Z</dcterms:modified>
  <cp:revision>1</cp:revision>
  <dc:title>Project2_Ecommerce</dc:title>
</cp:coreProperties>
</file>