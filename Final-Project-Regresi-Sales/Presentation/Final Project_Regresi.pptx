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Montserrat Bold" charset="1" panose="00000800000000000000"/>
      <p:regular r:id="rId28"/>
    </p:embeddedFont>
    <p:embeddedFont>
      <p:font typeface="Montserrat" charset="1" panose="00000500000000000000"/>
      <p:regular r:id="rId29"/>
    </p:embeddedFont>
    <p:embeddedFont>
      <p:font typeface="Montserrat Medium" charset="1" panose="00000600000000000000"/>
      <p:regular r:id="rId30"/>
    </p:embeddedFont>
    <p:embeddedFont>
      <p:font typeface="Montserrat Extra-Light" charset="1" panose="000003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apiipp-co/BLKPP-DIY-Data-Analyst-Science-Training/tree/main/Mini%20Project%202_DVD%20Rental%20Data%20Analysis%20Project" TargetMode="External" Type="http://schemas.openxmlformats.org/officeDocument/2006/relationships/hyperlink"/><Relationship Id="rId3" Target="../media/image20.pn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8312" y="10005367"/>
            <a:ext cx="18505837" cy="563266"/>
            <a:chOff x="0" y="0"/>
            <a:chExt cx="4873965" cy="148350"/>
          </a:xfrm>
        </p:grpSpPr>
        <p:sp>
          <p:nvSpPr>
            <p:cNvPr name="Freeform 4" id="4"/>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00323A"/>
            </a:solidFill>
          </p:spPr>
        </p:sp>
        <p:sp>
          <p:nvSpPr>
            <p:cNvPr name="TextBox 5" id="5"/>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1187897" y="2519535"/>
            <a:ext cx="10697012" cy="3622435"/>
          </a:xfrm>
          <a:prstGeom prst="rect">
            <a:avLst/>
          </a:prstGeom>
        </p:spPr>
        <p:txBody>
          <a:bodyPr anchor="t" rtlCol="false" tIns="0" lIns="0" bIns="0" rIns="0">
            <a:spAutoFit/>
          </a:bodyPr>
          <a:lstStyle/>
          <a:p>
            <a:pPr algn="l">
              <a:lnSpc>
                <a:spcPts val="7195"/>
              </a:lnSpc>
            </a:pPr>
            <a:r>
              <a:rPr lang="en-US" b="true" sz="6202">
                <a:solidFill>
                  <a:srgbClr val="004A55"/>
                </a:solidFill>
                <a:latin typeface="Montserrat Bold"/>
                <a:ea typeface="Montserrat Bold"/>
                <a:cs typeface="Montserrat Bold"/>
                <a:sym typeface="Montserrat Bold"/>
              </a:rPr>
              <a:t>Penerapan Model Regresi untuk Meningkatkan Kinerja Penjualan</a:t>
            </a:r>
          </a:p>
          <a:p>
            <a:pPr algn="l">
              <a:lnSpc>
                <a:spcPts val="7195"/>
              </a:lnSpc>
            </a:pPr>
          </a:p>
        </p:txBody>
      </p:sp>
      <p:sp>
        <p:nvSpPr>
          <p:cNvPr name="TextBox 7" id="7"/>
          <p:cNvSpPr txBox="true"/>
          <p:nvPr/>
        </p:nvSpPr>
        <p:spPr>
          <a:xfrm rot="0">
            <a:off x="1278266" y="5877053"/>
            <a:ext cx="2214549" cy="352425"/>
          </a:xfrm>
          <a:prstGeom prst="rect">
            <a:avLst/>
          </a:prstGeom>
        </p:spPr>
        <p:txBody>
          <a:bodyPr anchor="t" rtlCol="false" tIns="0" lIns="0" bIns="0" rIns="0">
            <a:spAutoFit/>
          </a:bodyPr>
          <a:lstStyle/>
          <a:p>
            <a:pPr algn="l">
              <a:lnSpc>
                <a:spcPts val="2880"/>
              </a:lnSpc>
            </a:pPr>
            <a:r>
              <a:rPr lang="en-US" sz="2400">
                <a:solidFill>
                  <a:srgbClr val="004A55"/>
                </a:solidFill>
                <a:latin typeface="Montserrat"/>
                <a:ea typeface="Montserrat"/>
                <a:cs typeface="Montserrat"/>
                <a:sym typeface="Montserrat"/>
              </a:rPr>
              <a:t>Disusun oleh:</a:t>
            </a:r>
          </a:p>
        </p:txBody>
      </p:sp>
      <p:sp>
        <p:nvSpPr>
          <p:cNvPr name="TextBox 8" id="8"/>
          <p:cNvSpPr txBox="true"/>
          <p:nvPr/>
        </p:nvSpPr>
        <p:spPr>
          <a:xfrm rot="0">
            <a:off x="1316366" y="6372353"/>
            <a:ext cx="3930547" cy="1247775"/>
          </a:xfrm>
          <a:prstGeom prst="rect">
            <a:avLst/>
          </a:prstGeom>
        </p:spPr>
        <p:txBody>
          <a:bodyPr anchor="t" rtlCol="false" tIns="0" lIns="0" bIns="0" rIns="0">
            <a:spAutoFit/>
          </a:bodyPr>
          <a:lstStyle/>
          <a:p>
            <a:pPr algn="l">
              <a:lnSpc>
                <a:spcPts val="3360"/>
              </a:lnSpc>
            </a:pPr>
            <a:r>
              <a:rPr lang="en-US" b="true" sz="2800">
                <a:solidFill>
                  <a:srgbClr val="004A55"/>
                </a:solidFill>
                <a:latin typeface="Montserrat Bold"/>
                <a:ea typeface="Montserrat Bold"/>
                <a:cs typeface="Montserrat Bold"/>
                <a:sym typeface="Montserrat Bold"/>
              </a:rPr>
              <a:t>Dika</a:t>
            </a:r>
          </a:p>
          <a:p>
            <a:pPr algn="l">
              <a:lnSpc>
                <a:spcPts val="3360"/>
              </a:lnSpc>
            </a:pPr>
            <a:r>
              <a:rPr lang="en-US" b="true" sz="2800">
                <a:solidFill>
                  <a:srgbClr val="004A55"/>
                </a:solidFill>
                <a:latin typeface="Montserrat Bold"/>
                <a:ea typeface="Montserrat Bold"/>
                <a:cs typeface="Montserrat Bold"/>
                <a:sym typeface="Montserrat Bold"/>
              </a:rPr>
              <a:t>Dzulfi</a:t>
            </a:r>
          </a:p>
          <a:p>
            <a:pPr algn="l">
              <a:lnSpc>
                <a:spcPts val="3360"/>
              </a:lnSpc>
            </a:pPr>
            <a:r>
              <a:rPr lang="en-US" b="true" sz="2800">
                <a:solidFill>
                  <a:srgbClr val="004A55"/>
                </a:solidFill>
                <a:latin typeface="Montserrat Bold"/>
                <a:ea typeface="Montserrat Bold"/>
                <a:cs typeface="Montserrat Bold"/>
                <a:sym typeface="Montserrat Bold"/>
              </a:rPr>
              <a:t>Rangga</a:t>
            </a:r>
          </a:p>
        </p:txBody>
      </p:sp>
      <p:sp>
        <p:nvSpPr>
          <p:cNvPr name="TextBox 9" id="9"/>
          <p:cNvSpPr txBox="true"/>
          <p:nvPr/>
        </p:nvSpPr>
        <p:spPr>
          <a:xfrm rot="0">
            <a:off x="1278266" y="1272489"/>
            <a:ext cx="7657042" cy="390525"/>
          </a:xfrm>
          <a:prstGeom prst="rect">
            <a:avLst/>
          </a:prstGeom>
        </p:spPr>
        <p:txBody>
          <a:bodyPr anchor="t" rtlCol="false" tIns="0" lIns="0" bIns="0" rIns="0">
            <a:spAutoFit/>
          </a:bodyPr>
          <a:lstStyle/>
          <a:p>
            <a:pPr algn="l">
              <a:lnSpc>
                <a:spcPts val="3139"/>
              </a:lnSpc>
            </a:pPr>
            <a:r>
              <a:rPr lang="en-US" b="true" sz="2616">
                <a:solidFill>
                  <a:srgbClr val="004A55"/>
                </a:solidFill>
                <a:latin typeface="Montserrat Bold"/>
                <a:ea typeface="Montserrat Bold"/>
                <a:cs typeface="Montserrat Bold"/>
                <a:sym typeface="Montserrat Bold"/>
              </a:rPr>
              <a:t>Final Project Data Analyst dan Data Science</a:t>
            </a:r>
          </a:p>
        </p:txBody>
      </p:sp>
      <p:sp>
        <p:nvSpPr>
          <p:cNvPr name="Freeform 10" id="10"/>
          <p:cNvSpPr/>
          <p:nvPr/>
        </p:nvSpPr>
        <p:spPr>
          <a:xfrm flipH="false" flipV="false" rot="0">
            <a:off x="11743316" y="1729689"/>
            <a:ext cx="7041849" cy="8275678"/>
          </a:xfrm>
          <a:custGeom>
            <a:avLst/>
            <a:gdLst/>
            <a:ahLst/>
            <a:cxnLst/>
            <a:rect r="r" b="b" t="t" l="l"/>
            <a:pathLst>
              <a:path h="8275678" w="7041849">
                <a:moveTo>
                  <a:pt x="0" y="0"/>
                </a:moveTo>
                <a:lnTo>
                  <a:pt x="7041849" y="0"/>
                </a:lnTo>
                <a:lnTo>
                  <a:pt x="7041849" y="8275678"/>
                </a:lnTo>
                <a:lnTo>
                  <a:pt x="0" y="82756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3122650" y="0"/>
            <a:ext cx="225561" cy="10287000"/>
            <a:chOff x="0" y="0"/>
            <a:chExt cx="59407" cy="2709333"/>
          </a:xfrm>
        </p:grpSpPr>
        <p:sp>
          <p:nvSpPr>
            <p:cNvPr name="Freeform 3" id="3"/>
            <p:cNvSpPr/>
            <p:nvPr/>
          </p:nvSpPr>
          <p:spPr>
            <a:xfrm flipH="false" flipV="false" rot="0">
              <a:off x="0" y="0"/>
              <a:ext cx="59407" cy="2709333"/>
            </a:xfrm>
            <a:custGeom>
              <a:avLst/>
              <a:gdLst/>
              <a:ahLst/>
              <a:cxnLst/>
              <a:rect r="r" b="b" t="t" l="l"/>
              <a:pathLst>
                <a:path h="2709333" w="59407">
                  <a:moveTo>
                    <a:pt x="0" y="0"/>
                  </a:moveTo>
                  <a:lnTo>
                    <a:pt x="59407" y="0"/>
                  </a:lnTo>
                  <a:lnTo>
                    <a:pt x="59407" y="2709333"/>
                  </a:lnTo>
                  <a:lnTo>
                    <a:pt x="0" y="2709333"/>
                  </a:lnTo>
                  <a:close/>
                </a:path>
              </a:pathLst>
            </a:custGeom>
            <a:solidFill>
              <a:srgbClr val="00323A"/>
            </a:solidFill>
          </p:spPr>
        </p:sp>
        <p:sp>
          <p:nvSpPr>
            <p:cNvPr name="TextBox 4" id="4"/>
            <p:cNvSpPr txBox="true"/>
            <p:nvPr/>
          </p:nvSpPr>
          <p:spPr>
            <a:xfrm>
              <a:off x="0" y="-47625"/>
              <a:ext cx="59407" cy="2756958"/>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3206629" y="-838446"/>
            <a:ext cx="6329279" cy="11963892"/>
            <a:chOff x="0" y="0"/>
            <a:chExt cx="1666971" cy="3150984"/>
          </a:xfrm>
        </p:grpSpPr>
        <p:sp>
          <p:nvSpPr>
            <p:cNvPr name="Freeform 6" id="6"/>
            <p:cNvSpPr/>
            <p:nvPr/>
          </p:nvSpPr>
          <p:spPr>
            <a:xfrm flipH="false" flipV="false" rot="0">
              <a:off x="0" y="0"/>
              <a:ext cx="1666971" cy="3150984"/>
            </a:xfrm>
            <a:custGeom>
              <a:avLst/>
              <a:gdLst/>
              <a:ahLst/>
              <a:cxnLst/>
              <a:rect r="r" b="b" t="t" l="l"/>
              <a:pathLst>
                <a:path h="3150984" w="1666971">
                  <a:moveTo>
                    <a:pt x="0" y="0"/>
                  </a:moveTo>
                  <a:lnTo>
                    <a:pt x="1666971" y="0"/>
                  </a:lnTo>
                  <a:lnTo>
                    <a:pt x="1666971" y="3150984"/>
                  </a:lnTo>
                  <a:lnTo>
                    <a:pt x="0" y="3150984"/>
                  </a:lnTo>
                  <a:close/>
                </a:path>
              </a:pathLst>
            </a:custGeom>
            <a:solidFill>
              <a:srgbClr val="25626D"/>
            </a:solidFill>
          </p:spPr>
        </p:sp>
        <p:sp>
          <p:nvSpPr>
            <p:cNvPr name="TextBox 7" id="7"/>
            <p:cNvSpPr txBox="true"/>
            <p:nvPr/>
          </p:nvSpPr>
          <p:spPr>
            <a:xfrm>
              <a:off x="0" y="-47625"/>
              <a:ext cx="1666971" cy="3198609"/>
            </a:xfrm>
            <a:prstGeom prst="rect">
              <a:avLst/>
            </a:prstGeom>
          </p:spPr>
          <p:txBody>
            <a:bodyPr anchor="ctr" rtlCol="false" tIns="50800" lIns="50800" bIns="50800" rIns="50800"/>
            <a:lstStyle/>
            <a:p>
              <a:pPr algn="ctr">
                <a:lnSpc>
                  <a:spcPts val="3560"/>
                </a:lnSpc>
              </a:pPr>
            </a:p>
          </p:txBody>
        </p:sp>
      </p:grpSp>
      <p:sp>
        <p:nvSpPr>
          <p:cNvPr name="TextBox 8" id="8"/>
          <p:cNvSpPr txBox="true"/>
          <p:nvPr/>
        </p:nvSpPr>
        <p:spPr>
          <a:xfrm rot="0">
            <a:off x="5768020" y="3419570"/>
            <a:ext cx="11056598" cy="5123869"/>
          </a:xfrm>
          <a:prstGeom prst="rect">
            <a:avLst/>
          </a:prstGeom>
        </p:spPr>
        <p:txBody>
          <a:bodyPr anchor="t" rtlCol="false" tIns="0" lIns="0" bIns="0" rIns="0">
            <a:spAutoFit/>
          </a:bodyPr>
          <a:lstStyle/>
          <a:p>
            <a:pPr algn="just" marL="0" indent="0" lvl="0">
              <a:lnSpc>
                <a:spcPts val="3707"/>
              </a:lnSpc>
              <a:spcBef>
                <a:spcPct val="0"/>
              </a:spcBef>
            </a:pPr>
            <a:r>
              <a:rPr lang="en-US" sz="2647">
                <a:solidFill>
                  <a:srgbClr val="004A55"/>
                </a:solidFill>
                <a:latin typeface="Montserrat"/>
                <a:ea typeface="Montserrat"/>
                <a:cs typeface="Montserrat"/>
                <a:sym typeface="Montserrat"/>
              </a:rPr>
              <a:t>Dataset ini berisi data penjualan harian dari berbagai toko yang mencakup informasi penjualan (Sales), jumlah pelanggan (Customers), promosi, hari libur, serta atribut waktu seperti hari, bulan, dan kuartal. Selain data operasional, dataset juga dilengkapi dengan fitur hasil rekayasa data, seperti periode gajian, akhir pekan, dan event promosi, yang dapat digunakan untuk menangkap pola perilaku pelanggan dan tren penjualan. Dataset ini digunakan untuk menganalisis faktor-faktor yang berpengaruh terhadap penjualan serta membangun model regresi guna memprediksi penjualan dan mendukung pengambilan keputusan bisnis yang lebih efektif.</a:t>
            </a:r>
          </a:p>
        </p:txBody>
      </p:sp>
      <p:grpSp>
        <p:nvGrpSpPr>
          <p:cNvPr name="Group 9" id="9"/>
          <p:cNvGrpSpPr/>
          <p:nvPr/>
        </p:nvGrpSpPr>
        <p:grpSpPr>
          <a:xfrm rot="0">
            <a:off x="1180125" y="3312901"/>
            <a:ext cx="3798154" cy="379815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038"/>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560"/>
                </a:lnSpc>
              </a:pPr>
            </a:p>
          </p:txBody>
        </p:sp>
      </p:grpSp>
      <p:sp>
        <p:nvSpPr>
          <p:cNvPr name="Freeform 12" id="12"/>
          <p:cNvSpPr/>
          <p:nvPr/>
        </p:nvSpPr>
        <p:spPr>
          <a:xfrm flipH="false" flipV="false" rot="0">
            <a:off x="1978638" y="3975389"/>
            <a:ext cx="2201127" cy="2473177"/>
          </a:xfrm>
          <a:custGeom>
            <a:avLst/>
            <a:gdLst/>
            <a:ahLst/>
            <a:cxnLst/>
            <a:rect r="r" b="b" t="t" l="l"/>
            <a:pathLst>
              <a:path h="2473177" w="2201127">
                <a:moveTo>
                  <a:pt x="0" y="0"/>
                </a:moveTo>
                <a:lnTo>
                  <a:pt x="2201127" y="0"/>
                </a:lnTo>
                <a:lnTo>
                  <a:pt x="2201127" y="2473177"/>
                </a:lnTo>
                <a:lnTo>
                  <a:pt x="0" y="2473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289881" y="-552140"/>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118655" y="8394954"/>
            <a:ext cx="2713427" cy="2730492"/>
          </a:xfrm>
          <a:custGeom>
            <a:avLst/>
            <a:gdLst/>
            <a:ahLst/>
            <a:cxnLst/>
            <a:rect r="r" b="b" t="t" l="l"/>
            <a:pathLst>
              <a:path h="2730492" w="2713427">
                <a:moveTo>
                  <a:pt x="0" y="0"/>
                </a:moveTo>
                <a:lnTo>
                  <a:pt x="2713426" y="0"/>
                </a:lnTo>
                <a:lnTo>
                  <a:pt x="2713426" y="2730492"/>
                </a:lnTo>
                <a:lnTo>
                  <a:pt x="0" y="273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5768020" y="1979146"/>
            <a:ext cx="9102209" cy="1232789"/>
          </a:xfrm>
          <a:prstGeom prst="rect">
            <a:avLst/>
          </a:prstGeom>
        </p:spPr>
        <p:txBody>
          <a:bodyPr anchor="t" rtlCol="false" tIns="0" lIns="0" bIns="0" rIns="0">
            <a:spAutoFit/>
          </a:bodyPr>
          <a:lstStyle/>
          <a:p>
            <a:pPr algn="just">
              <a:lnSpc>
                <a:spcPts val="9627"/>
              </a:lnSpc>
            </a:pPr>
            <a:r>
              <a:rPr lang="en-US" b="true" sz="8299">
                <a:solidFill>
                  <a:srgbClr val="004A55"/>
                </a:solidFill>
                <a:latin typeface="Montserrat Bold"/>
                <a:ea typeface="Montserrat Bold"/>
                <a:cs typeface="Montserrat Bold"/>
                <a:sym typeface="Montserrat Bol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313833"/>
            <a:ext cx="566019" cy="566019"/>
          </a:xfrm>
          <a:custGeom>
            <a:avLst/>
            <a:gdLst/>
            <a:ahLst/>
            <a:cxnLst/>
            <a:rect r="r" b="b" t="t" l="l"/>
            <a:pathLst>
              <a:path h="566019" w="566019">
                <a:moveTo>
                  <a:pt x="0" y="0"/>
                </a:moveTo>
                <a:lnTo>
                  <a:pt x="566019" y="0"/>
                </a:lnTo>
                <a:lnTo>
                  <a:pt x="566019" y="566018"/>
                </a:lnTo>
                <a:lnTo>
                  <a:pt x="0" y="5660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851350" y="2918068"/>
            <a:ext cx="9252938" cy="2922864"/>
            <a:chOff x="0" y="0"/>
            <a:chExt cx="1832836" cy="578965"/>
          </a:xfrm>
        </p:grpSpPr>
        <p:sp>
          <p:nvSpPr>
            <p:cNvPr name="Freeform 4" id="4"/>
            <p:cNvSpPr/>
            <p:nvPr/>
          </p:nvSpPr>
          <p:spPr>
            <a:xfrm flipH="false" flipV="false" rot="0">
              <a:off x="0" y="0"/>
              <a:ext cx="1832836" cy="578965"/>
            </a:xfrm>
            <a:custGeom>
              <a:avLst/>
              <a:gdLst/>
              <a:ahLst/>
              <a:cxnLst/>
              <a:rect r="r" b="b" t="t" l="l"/>
              <a:pathLst>
                <a:path h="578965" w="1832836">
                  <a:moveTo>
                    <a:pt x="16342" y="0"/>
                  </a:moveTo>
                  <a:lnTo>
                    <a:pt x="1816494" y="0"/>
                  </a:lnTo>
                  <a:cubicBezTo>
                    <a:pt x="1825520" y="0"/>
                    <a:pt x="1832836" y="7316"/>
                    <a:pt x="1832836" y="16342"/>
                  </a:cubicBezTo>
                  <a:lnTo>
                    <a:pt x="1832836" y="562624"/>
                  </a:lnTo>
                  <a:cubicBezTo>
                    <a:pt x="1832836" y="566958"/>
                    <a:pt x="1831114" y="571114"/>
                    <a:pt x="1828050" y="574179"/>
                  </a:cubicBezTo>
                  <a:cubicBezTo>
                    <a:pt x="1824985" y="577244"/>
                    <a:pt x="1820828" y="578965"/>
                    <a:pt x="1816494" y="578965"/>
                  </a:cubicBezTo>
                  <a:lnTo>
                    <a:pt x="16342" y="578965"/>
                  </a:lnTo>
                  <a:cubicBezTo>
                    <a:pt x="7316" y="578965"/>
                    <a:pt x="0" y="571649"/>
                    <a:pt x="0" y="562624"/>
                  </a:cubicBezTo>
                  <a:lnTo>
                    <a:pt x="0" y="16342"/>
                  </a:lnTo>
                  <a:cubicBezTo>
                    <a:pt x="0" y="7316"/>
                    <a:pt x="7316" y="0"/>
                    <a:pt x="16342" y="0"/>
                  </a:cubicBezTo>
                  <a:close/>
                </a:path>
              </a:pathLst>
            </a:custGeom>
            <a:solidFill>
              <a:srgbClr val="00323A"/>
            </a:solidFill>
          </p:spPr>
        </p:sp>
        <p:sp>
          <p:nvSpPr>
            <p:cNvPr name="TextBox 5" id="5"/>
            <p:cNvSpPr txBox="true"/>
            <p:nvPr/>
          </p:nvSpPr>
          <p:spPr>
            <a:xfrm>
              <a:off x="0" y="-47625"/>
              <a:ext cx="1832836" cy="626590"/>
            </a:xfrm>
            <a:prstGeom prst="rect">
              <a:avLst/>
            </a:prstGeom>
          </p:spPr>
          <p:txBody>
            <a:bodyPr anchor="ctr" rtlCol="false" tIns="50800" lIns="50800" bIns="50800" rIns="50800"/>
            <a:lstStyle/>
            <a:p>
              <a:pPr algn="ctr">
                <a:lnSpc>
                  <a:spcPts val="3254"/>
                </a:lnSpc>
              </a:pPr>
            </a:p>
          </p:txBody>
        </p:sp>
      </p:grpSp>
      <p:grpSp>
        <p:nvGrpSpPr>
          <p:cNvPr name="Group 6" id="6"/>
          <p:cNvGrpSpPr/>
          <p:nvPr/>
        </p:nvGrpSpPr>
        <p:grpSpPr>
          <a:xfrm rot="0">
            <a:off x="7851350" y="6165725"/>
            <a:ext cx="9407950" cy="3148788"/>
            <a:chOff x="0" y="0"/>
            <a:chExt cx="1863541" cy="623717"/>
          </a:xfrm>
        </p:grpSpPr>
        <p:sp>
          <p:nvSpPr>
            <p:cNvPr name="Freeform 7" id="7"/>
            <p:cNvSpPr/>
            <p:nvPr/>
          </p:nvSpPr>
          <p:spPr>
            <a:xfrm flipH="false" flipV="false" rot="0">
              <a:off x="0" y="0"/>
              <a:ext cx="1863541" cy="623717"/>
            </a:xfrm>
            <a:custGeom>
              <a:avLst/>
              <a:gdLst/>
              <a:ahLst/>
              <a:cxnLst/>
              <a:rect r="r" b="b" t="t" l="l"/>
              <a:pathLst>
                <a:path h="623717" w="1863541">
                  <a:moveTo>
                    <a:pt x="16073" y="0"/>
                  </a:moveTo>
                  <a:lnTo>
                    <a:pt x="1847468" y="0"/>
                  </a:lnTo>
                  <a:cubicBezTo>
                    <a:pt x="1856345" y="0"/>
                    <a:pt x="1863541" y="7196"/>
                    <a:pt x="1863541" y="16073"/>
                  </a:cubicBezTo>
                  <a:lnTo>
                    <a:pt x="1863541" y="607644"/>
                  </a:lnTo>
                  <a:cubicBezTo>
                    <a:pt x="1863541" y="616521"/>
                    <a:pt x="1856345" y="623717"/>
                    <a:pt x="1847468" y="623717"/>
                  </a:cubicBezTo>
                  <a:lnTo>
                    <a:pt x="16073" y="623717"/>
                  </a:lnTo>
                  <a:cubicBezTo>
                    <a:pt x="7196" y="623717"/>
                    <a:pt x="0" y="616521"/>
                    <a:pt x="0" y="607644"/>
                  </a:cubicBezTo>
                  <a:lnTo>
                    <a:pt x="0" y="16073"/>
                  </a:lnTo>
                  <a:cubicBezTo>
                    <a:pt x="0" y="7196"/>
                    <a:pt x="7196" y="0"/>
                    <a:pt x="16073" y="0"/>
                  </a:cubicBezTo>
                  <a:close/>
                </a:path>
              </a:pathLst>
            </a:custGeom>
            <a:solidFill>
              <a:srgbClr val="25626D"/>
            </a:solidFill>
          </p:spPr>
        </p:sp>
        <p:sp>
          <p:nvSpPr>
            <p:cNvPr name="TextBox 8" id="8"/>
            <p:cNvSpPr txBox="true"/>
            <p:nvPr/>
          </p:nvSpPr>
          <p:spPr>
            <a:xfrm>
              <a:off x="0" y="-47625"/>
              <a:ext cx="1863541" cy="671342"/>
            </a:xfrm>
            <a:prstGeom prst="rect">
              <a:avLst/>
            </a:prstGeom>
          </p:spPr>
          <p:txBody>
            <a:bodyPr anchor="ctr" rtlCol="false" tIns="50800" lIns="50800" bIns="50800" rIns="50800"/>
            <a:lstStyle/>
            <a:p>
              <a:pPr algn="ctr">
                <a:lnSpc>
                  <a:spcPts val="3254"/>
                </a:lnSpc>
              </a:pPr>
            </a:p>
          </p:txBody>
        </p:sp>
      </p:grpSp>
      <p:sp>
        <p:nvSpPr>
          <p:cNvPr name="TextBox 9" id="9"/>
          <p:cNvSpPr txBox="true"/>
          <p:nvPr/>
        </p:nvSpPr>
        <p:spPr>
          <a:xfrm rot="0">
            <a:off x="9020931" y="3161685"/>
            <a:ext cx="4397603" cy="521335"/>
          </a:xfrm>
          <a:prstGeom prst="rect">
            <a:avLst/>
          </a:prstGeom>
        </p:spPr>
        <p:txBody>
          <a:bodyPr anchor="t" rtlCol="false" tIns="0" lIns="0" bIns="0" rIns="0">
            <a:spAutoFit/>
          </a:bodyPr>
          <a:lstStyle/>
          <a:p>
            <a:pPr algn="l">
              <a:lnSpc>
                <a:spcPts val="4340"/>
              </a:lnSpc>
            </a:pPr>
            <a:r>
              <a:rPr lang="en-US" sz="3100">
                <a:solidFill>
                  <a:srgbClr val="F6F6F6"/>
                </a:solidFill>
                <a:latin typeface="Montserrat"/>
                <a:ea typeface="Montserrat"/>
                <a:cs typeface="Montserrat"/>
                <a:sym typeface="Montserrat"/>
              </a:rPr>
              <a:t>Goal</a:t>
            </a:r>
          </a:p>
        </p:txBody>
      </p:sp>
      <p:sp>
        <p:nvSpPr>
          <p:cNvPr name="TextBox 10" id="10"/>
          <p:cNvSpPr txBox="true"/>
          <p:nvPr/>
        </p:nvSpPr>
        <p:spPr>
          <a:xfrm rot="0">
            <a:off x="8925783" y="6462223"/>
            <a:ext cx="4397603" cy="521335"/>
          </a:xfrm>
          <a:prstGeom prst="rect">
            <a:avLst/>
          </a:prstGeom>
        </p:spPr>
        <p:txBody>
          <a:bodyPr anchor="t" rtlCol="false" tIns="0" lIns="0" bIns="0" rIns="0">
            <a:spAutoFit/>
          </a:bodyPr>
          <a:lstStyle/>
          <a:p>
            <a:pPr algn="l">
              <a:lnSpc>
                <a:spcPts val="4340"/>
              </a:lnSpc>
            </a:pPr>
            <a:r>
              <a:rPr lang="en-US" sz="3100">
                <a:solidFill>
                  <a:srgbClr val="F6F6F6"/>
                </a:solidFill>
                <a:latin typeface="Montserrat"/>
                <a:ea typeface="Montserrat"/>
                <a:cs typeface="Montserrat"/>
                <a:sym typeface="Montserrat"/>
              </a:rPr>
              <a:t>O</a:t>
            </a:r>
            <a:r>
              <a:rPr lang="en-US" sz="3100">
                <a:solidFill>
                  <a:srgbClr val="F6F6F6"/>
                </a:solidFill>
                <a:latin typeface="Montserrat"/>
                <a:ea typeface="Montserrat"/>
                <a:cs typeface="Montserrat"/>
                <a:sym typeface="Montserrat"/>
              </a:rPr>
              <a:t>bjective</a:t>
            </a:r>
          </a:p>
        </p:txBody>
      </p:sp>
      <p:sp>
        <p:nvSpPr>
          <p:cNvPr name="TextBox 11" id="11"/>
          <p:cNvSpPr txBox="true"/>
          <p:nvPr/>
        </p:nvSpPr>
        <p:spPr>
          <a:xfrm rot="0">
            <a:off x="9001881" y="3759676"/>
            <a:ext cx="7572537" cy="1737413"/>
          </a:xfrm>
          <a:prstGeom prst="rect">
            <a:avLst/>
          </a:prstGeom>
        </p:spPr>
        <p:txBody>
          <a:bodyPr anchor="t" rtlCol="false" tIns="0" lIns="0" bIns="0" rIns="0">
            <a:spAutoFit/>
          </a:bodyPr>
          <a:lstStyle/>
          <a:p>
            <a:pPr algn="just">
              <a:lnSpc>
                <a:spcPts val="2781"/>
              </a:lnSpc>
            </a:pPr>
            <a:r>
              <a:rPr lang="en-US" sz="1987">
                <a:solidFill>
                  <a:srgbClr val="F6F6F6"/>
                </a:solidFill>
                <a:latin typeface="Montserrat"/>
                <a:ea typeface="Montserrat"/>
                <a:cs typeface="Montserrat"/>
                <a:sym typeface="Montserrat"/>
              </a:rPr>
              <a:t>M</a:t>
            </a:r>
            <a:r>
              <a:rPr lang="en-US" sz="1987">
                <a:solidFill>
                  <a:srgbClr val="F6F6F6"/>
                </a:solidFill>
                <a:latin typeface="Montserrat"/>
                <a:ea typeface="Montserrat"/>
                <a:cs typeface="Montserrat"/>
                <a:sym typeface="Montserrat"/>
              </a:rPr>
              <a:t>embangun model prediksi sales untuk mengidentifikasi faktor-faktor yang paling mempengaruhi penjualan sehingga perusahaan dapat mengoptimalkan strategi promo, operasional toko, dan perencanaan penjualan pada periode mendatang.</a:t>
            </a:r>
          </a:p>
        </p:txBody>
      </p:sp>
      <p:sp>
        <p:nvSpPr>
          <p:cNvPr name="TextBox 12" id="12"/>
          <p:cNvSpPr txBox="true"/>
          <p:nvPr/>
        </p:nvSpPr>
        <p:spPr>
          <a:xfrm rot="0">
            <a:off x="8766221" y="7094731"/>
            <a:ext cx="8039828" cy="2087369"/>
          </a:xfrm>
          <a:prstGeom prst="rect">
            <a:avLst/>
          </a:prstGeom>
        </p:spPr>
        <p:txBody>
          <a:bodyPr anchor="t" rtlCol="false" tIns="0" lIns="0" bIns="0" rIns="0">
            <a:spAutoFit/>
          </a:bodyPr>
          <a:lstStyle/>
          <a:p>
            <a:pPr algn="just" marL="429009" indent="-214504" lvl="1">
              <a:lnSpc>
                <a:spcPts val="2781"/>
              </a:lnSpc>
              <a:buFont typeface="Arial"/>
              <a:buChar char="•"/>
            </a:pPr>
            <a:r>
              <a:rPr lang="en-US" sz="1987">
                <a:solidFill>
                  <a:srgbClr val="F6F6F6"/>
                </a:solidFill>
                <a:latin typeface="Montserrat"/>
                <a:ea typeface="Montserrat"/>
                <a:cs typeface="Montserrat"/>
                <a:sym typeface="Montserrat"/>
              </a:rPr>
              <a:t>M</a:t>
            </a:r>
            <a:r>
              <a:rPr lang="en-US" sz="1987">
                <a:solidFill>
                  <a:srgbClr val="F6F6F6"/>
                </a:solidFill>
                <a:latin typeface="Montserrat"/>
                <a:ea typeface="Montserrat"/>
                <a:cs typeface="Montserrat"/>
                <a:sym typeface="Montserrat"/>
              </a:rPr>
              <a:t>enganalisis pengaruh promo, jumlah pelanggan, dan faktor waktu terhadap penjualan.</a:t>
            </a:r>
          </a:p>
          <a:p>
            <a:pPr algn="just" marL="429009" indent="-214504" lvl="1">
              <a:lnSpc>
                <a:spcPts val="2781"/>
              </a:lnSpc>
              <a:buFont typeface="Arial"/>
              <a:buChar char="•"/>
            </a:pPr>
            <a:r>
              <a:rPr lang="en-US" sz="1987">
                <a:solidFill>
                  <a:srgbClr val="F6F6F6"/>
                </a:solidFill>
                <a:latin typeface="Montserrat"/>
                <a:ea typeface="Montserrat"/>
                <a:cs typeface="Montserrat"/>
                <a:sym typeface="Montserrat"/>
              </a:rPr>
              <a:t>Mengidentifikasi toko dengan performa penjualan rendah.</a:t>
            </a:r>
          </a:p>
          <a:p>
            <a:pPr algn="just" marL="429009" indent="-214504" lvl="1">
              <a:lnSpc>
                <a:spcPts val="2781"/>
              </a:lnSpc>
              <a:buFont typeface="Arial"/>
              <a:buChar char="•"/>
            </a:pPr>
            <a:r>
              <a:rPr lang="en-US" sz="1987">
                <a:solidFill>
                  <a:srgbClr val="F6F6F6"/>
                </a:solidFill>
                <a:latin typeface="Montserrat"/>
                <a:ea typeface="Montserrat"/>
                <a:cs typeface="Montserrat"/>
                <a:sym typeface="Montserrat"/>
              </a:rPr>
              <a:t>Membangun model regresi untuk memprediksi penjualan harian.</a:t>
            </a:r>
          </a:p>
          <a:p>
            <a:pPr algn="just">
              <a:lnSpc>
                <a:spcPts val="2781"/>
              </a:lnSpc>
            </a:pPr>
          </a:p>
        </p:txBody>
      </p:sp>
      <p:sp>
        <p:nvSpPr>
          <p:cNvPr name="Freeform 13" id="13"/>
          <p:cNvSpPr/>
          <p:nvPr/>
        </p:nvSpPr>
        <p:spPr>
          <a:xfrm flipH="false" flipV="false" rot="0">
            <a:off x="8247870" y="3228360"/>
            <a:ext cx="506617" cy="506617"/>
          </a:xfrm>
          <a:custGeom>
            <a:avLst/>
            <a:gdLst/>
            <a:ahLst/>
            <a:cxnLst/>
            <a:rect r="r" b="b" t="t" l="l"/>
            <a:pathLst>
              <a:path h="506617" w="506617">
                <a:moveTo>
                  <a:pt x="0" y="0"/>
                </a:moveTo>
                <a:lnTo>
                  <a:pt x="506617" y="0"/>
                </a:lnTo>
                <a:lnTo>
                  <a:pt x="506617" y="506616"/>
                </a:lnTo>
                <a:lnTo>
                  <a:pt x="0" y="5066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152722" y="6507682"/>
            <a:ext cx="506617" cy="506617"/>
          </a:xfrm>
          <a:custGeom>
            <a:avLst/>
            <a:gdLst/>
            <a:ahLst/>
            <a:cxnLst/>
            <a:rect r="r" b="b" t="t" l="l"/>
            <a:pathLst>
              <a:path h="506617" w="506617">
                <a:moveTo>
                  <a:pt x="0" y="0"/>
                </a:moveTo>
                <a:lnTo>
                  <a:pt x="506616" y="0"/>
                </a:lnTo>
                <a:lnTo>
                  <a:pt x="506616" y="506617"/>
                </a:lnTo>
                <a:lnTo>
                  <a:pt x="0" y="5066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3683338" y="1028700"/>
            <a:ext cx="3208008" cy="780104"/>
          </a:xfrm>
          <a:custGeom>
            <a:avLst/>
            <a:gdLst/>
            <a:ahLst/>
            <a:cxnLst/>
            <a:rect r="r" b="b" t="t" l="l"/>
            <a:pathLst>
              <a:path h="780104" w="3208008">
                <a:moveTo>
                  <a:pt x="0" y="0"/>
                </a:moveTo>
                <a:lnTo>
                  <a:pt x="3208008" y="0"/>
                </a:lnTo>
                <a:lnTo>
                  <a:pt x="3208008" y="780104"/>
                </a:lnTo>
                <a:lnTo>
                  <a:pt x="0" y="780104"/>
                </a:lnTo>
                <a:lnTo>
                  <a:pt x="0" y="0"/>
                </a:lnTo>
                <a:close/>
              </a:path>
            </a:pathLst>
          </a:custGeom>
          <a:blipFill>
            <a:blip r:embed="rId6">
              <a:extLst>
                <a:ext uri="{96DAC541-7B7A-43D3-8B79-37D633B846F1}">
                  <asvg:svgBlip xmlns:asvg="http://schemas.microsoft.com/office/drawing/2016/SVG/main" r:embed="rId7"/>
                </a:ext>
              </a:extLst>
            </a:blip>
            <a:stretch>
              <a:fillRect l="-63471" t="-267898" r="0" b="0"/>
            </a:stretch>
          </a:blipFill>
        </p:spPr>
      </p:sp>
      <p:sp>
        <p:nvSpPr>
          <p:cNvPr name="TextBox 16" id="16"/>
          <p:cNvSpPr txBox="true"/>
          <p:nvPr/>
        </p:nvSpPr>
        <p:spPr>
          <a:xfrm rot="0">
            <a:off x="1874946" y="4041338"/>
            <a:ext cx="5538254" cy="4671484"/>
          </a:xfrm>
          <a:prstGeom prst="rect">
            <a:avLst/>
          </a:prstGeom>
        </p:spPr>
        <p:txBody>
          <a:bodyPr anchor="t" rtlCol="false" tIns="0" lIns="0" bIns="0" rIns="0">
            <a:spAutoFit/>
          </a:bodyPr>
          <a:lstStyle/>
          <a:p>
            <a:pPr algn="just" marL="0" indent="0" lvl="0">
              <a:lnSpc>
                <a:spcPts val="3435"/>
              </a:lnSpc>
            </a:pPr>
            <a:r>
              <a:rPr lang="en-US" sz="2147">
                <a:solidFill>
                  <a:srgbClr val="191919"/>
                </a:solidFill>
                <a:latin typeface="Montserrat"/>
                <a:ea typeface="Montserrat"/>
                <a:cs typeface="Montserrat"/>
                <a:sym typeface="Montserrat"/>
              </a:rPr>
              <a:t>Perusahaan menghadapi ketidakpastian dalam memprediksi penjualan harian, sementara beberapa toko masih menunjukkan kinerja penjualan di bawah target dan pertumbuhan penjualan yang cenderung stagnan. Kondisi ini menyulitkan perusahaan dalam merancang strategi promosi dan operasional yang efektif untuk meningkatkan penjualan.</a:t>
            </a:r>
          </a:p>
        </p:txBody>
      </p:sp>
      <p:sp>
        <p:nvSpPr>
          <p:cNvPr name="TextBox 17" id="17"/>
          <p:cNvSpPr txBox="true"/>
          <p:nvPr/>
        </p:nvSpPr>
        <p:spPr>
          <a:xfrm rot="0">
            <a:off x="1874946" y="3218583"/>
            <a:ext cx="3897201" cy="598776"/>
          </a:xfrm>
          <a:prstGeom prst="rect">
            <a:avLst/>
          </a:prstGeom>
        </p:spPr>
        <p:txBody>
          <a:bodyPr anchor="t" rtlCol="false" tIns="0" lIns="0" bIns="0" rIns="0">
            <a:spAutoFit/>
          </a:bodyPr>
          <a:lstStyle/>
          <a:p>
            <a:pPr algn="just">
              <a:lnSpc>
                <a:spcPts val="5069"/>
              </a:lnSpc>
            </a:pPr>
            <a:r>
              <a:rPr lang="en-US" b="true" sz="3168">
                <a:solidFill>
                  <a:srgbClr val="191919"/>
                </a:solidFill>
                <a:latin typeface="Montserrat Bold"/>
                <a:ea typeface="Montserrat Bold"/>
                <a:cs typeface="Montserrat Bold"/>
                <a:sym typeface="Montserrat Bold"/>
              </a:rPr>
              <a:t>Business Problem</a:t>
            </a:r>
          </a:p>
        </p:txBody>
      </p:sp>
      <p:sp>
        <p:nvSpPr>
          <p:cNvPr name="TextBox 18" id="18"/>
          <p:cNvSpPr txBox="true"/>
          <p:nvPr/>
        </p:nvSpPr>
        <p:spPr>
          <a:xfrm rot="0">
            <a:off x="1432202" y="1445297"/>
            <a:ext cx="14133871" cy="1104900"/>
          </a:xfrm>
          <a:prstGeom prst="rect">
            <a:avLst/>
          </a:prstGeom>
        </p:spPr>
        <p:txBody>
          <a:bodyPr anchor="t" rtlCol="false" tIns="0" lIns="0" bIns="0" rIns="0">
            <a:spAutoFit/>
          </a:bodyPr>
          <a:lstStyle/>
          <a:p>
            <a:pPr algn="just">
              <a:lnSpc>
                <a:spcPts val="8699"/>
              </a:lnSpc>
            </a:pPr>
            <a:r>
              <a:rPr lang="en-US" b="true" sz="7499">
                <a:solidFill>
                  <a:srgbClr val="E0751C"/>
                </a:solidFill>
                <a:latin typeface="Montserrat Bold"/>
                <a:ea typeface="Montserrat Bold"/>
                <a:cs typeface="Montserrat Bold"/>
                <a:sym typeface="Montserrat Bold"/>
              </a:rPr>
              <a:t>Business Understanding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68312" y="-108545"/>
            <a:ext cx="18505837" cy="563266"/>
            <a:chOff x="0" y="0"/>
            <a:chExt cx="4873965" cy="148350"/>
          </a:xfrm>
        </p:grpSpPr>
        <p:sp>
          <p:nvSpPr>
            <p:cNvPr name="Freeform 3" id="3"/>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004A55"/>
            </a:solidFill>
          </p:spPr>
        </p:sp>
        <p:sp>
          <p:nvSpPr>
            <p:cNvPr name="TextBox 4" id="4"/>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458236" y="2029333"/>
            <a:ext cx="8310603" cy="4181191"/>
          </a:xfrm>
          <a:custGeom>
            <a:avLst/>
            <a:gdLst/>
            <a:ahLst/>
            <a:cxnLst/>
            <a:rect r="r" b="b" t="t" l="l"/>
            <a:pathLst>
              <a:path h="4181191" w="8310603">
                <a:moveTo>
                  <a:pt x="0" y="0"/>
                </a:moveTo>
                <a:lnTo>
                  <a:pt x="8310603" y="0"/>
                </a:lnTo>
                <a:lnTo>
                  <a:pt x="8310603" y="4181191"/>
                </a:lnTo>
                <a:lnTo>
                  <a:pt x="0" y="4181191"/>
                </a:lnTo>
                <a:lnTo>
                  <a:pt x="0" y="0"/>
                </a:lnTo>
                <a:close/>
              </a:path>
            </a:pathLst>
          </a:custGeom>
          <a:blipFill>
            <a:blip r:embed="rId2"/>
            <a:stretch>
              <a:fillRect l="0" t="0" r="0" b="0"/>
            </a:stretch>
          </a:blipFill>
          <a:ln w="9525" cap="sq">
            <a:solidFill>
              <a:srgbClr val="25626D"/>
            </a:solidFill>
            <a:prstDash val="solid"/>
            <a:miter/>
          </a:ln>
        </p:spPr>
      </p:sp>
      <p:sp>
        <p:nvSpPr>
          <p:cNvPr name="TextBox 6" id="6"/>
          <p:cNvSpPr txBox="true"/>
          <p:nvPr/>
        </p:nvSpPr>
        <p:spPr>
          <a:xfrm rot="0">
            <a:off x="3967110" y="564011"/>
            <a:ext cx="10353780" cy="1045211"/>
          </a:xfrm>
          <a:prstGeom prst="rect">
            <a:avLst/>
          </a:prstGeom>
        </p:spPr>
        <p:txBody>
          <a:bodyPr anchor="t" rtlCol="false" tIns="0" lIns="0" bIns="0" rIns="0">
            <a:spAutoFit/>
          </a:bodyPr>
          <a:lstStyle/>
          <a:p>
            <a:pPr algn="ctr">
              <a:lnSpc>
                <a:spcPts val="8120"/>
              </a:lnSpc>
            </a:pPr>
            <a:r>
              <a:rPr lang="en-US" b="true" sz="7000">
                <a:solidFill>
                  <a:srgbClr val="E0751C"/>
                </a:solidFill>
                <a:latin typeface="Montserrat Bold"/>
                <a:ea typeface="Montserrat Bold"/>
                <a:cs typeface="Montserrat Bold"/>
                <a:sym typeface="Montserrat Bold"/>
              </a:rPr>
              <a:t>Data Overview</a:t>
            </a:r>
          </a:p>
        </p:txBody>
      </p:sp>
      <p:sp>
        <p:nvSpPr>
          <p:cNvPr name="TextBox 7" id="7"/>
          <p:cNvSpPr txBox="true"/>
          <p:nvPr/>
        </p:nvSpPr>
        <p:spPr>
          <a:xfrm rot="0">
            <a:off x="1043762" y="6448649"/>
            <a:ext cx="7111168" cy="348312"/>
          </a:xfrm>
          <a:prstGeom prst="rect">
            <a:avLst/>
          </a:prstGeom>
        </p:spPr>
        <p:txBody>
          <a:bodyPr anchor="t" rtlCol="false" tIns="0" lIns="0" bIns="0" rIns="0">
            <a:spAutoFit/>
          </a:bodyPr>
          <a:lstStyle/>
          <a:p>
            <a:pPr algn="ctr">
              <a:lnSpc>
                <a:spcPts val="2851"/>
              </a:lnSpc>
            </a:pPr>
            <a:r>
              <a:rPr lang="en-US" sz="2036">
                <a:solidFill>
                  <a:srgbClr val="E0751C"/>
                </a:solidFill>
                <a:latin typeface="Montserrat"/>
                <a:ea typeface="Montserrat"/>
                <a:cs typeface="Montserrat"/>
                <a:sym typeface="Montserrat"/>
              </a:rPr>
              <a:t>Data Original terdiri dari </a:t>
            </a:r>
            <a:r>
              <a:rPr lang="en-US" sz="2036">
                <a:solidFill>
                  <a:srgbClr val="155661"/>
                </a:solidFill>
                <a:latin typeface="Montserrat"/>
                <a:ea typeface="Montserrat"/>
                <a:cs typeface="Montserrat"/>
                <a:sym typeface="Montserrat"/>
              </a:rPr>
              <a:t>610.234 baris</a:t>
            </a:r>
            <a:r>
              <a:rPr lang="en-US" sz="2036">
                <a:solidFill>
                  <a:srgbClr val="E0751C"/>
                </a:solidFill>
                <a:latin typeface="Montserrat"/>
                <a:ea typeface="Montserrat"/>
                <a:cs typeface="Montserrat"/>
                <a:sym typeface="Montserrat"/>
              </a:rPr>
              <a:t> dan </a:t>
            </a:r>
            <a:r>
              <a:rPr lang="en-US" sz="2036">
                <a:solidFill>
                  <a:srgbClr val="155661"/>
                </a:solidFill>
                <a:latin typeface="Montserrat"/>
                <a:ea typeface="Montserrat"/>
                <a:cs typeface="Montserrat"/>
                <a:sym typeface="Montserrat"/>
              </a:rPr>
              <a:t>9 kolom</a:t>
            </a:r>
          </a:p>
        </p:txBody>
      </p:sp>
      <p:sp>
        <p:nvSpPr>
          <p:cNvPr name="TextBox 8" id="8"/>
          <p:cNvSpPr txBox="true"/>
          <p:nvPr/>
        </p:nvSpPr>
        <p:spPr>
          <a:xfrm rot="0">
            <a:off x="9711931" y="6448649"/>
            <a:ext cx="7714486" cy="348368"/>
          </a:xfrm>
          <a:prstGeom prst="rect">
            <a:avLst/>
          </a:prstGeom>
        </p:spPr>
        <p:txBody>
          <a:bodyPr anchor="t" rtlCol="false" tIns="0" lIns="0" bIns="0" rIns="0">
            <a:spAutoFit/>
          </a:bodyPr>
          <a:lstStyle/>
          <a:p>
            <a:pPr algn="ctr">
              <a:lnSpc>
                <a:spcPts val="2851"/>
              </a:lnSpc>
            </a:pPr>
            <a:r>
              <a:rPr lang="en-US" sz="2036">
                <a:solidFill>
                  <a:srgbClr val="E0751C"/>
                </a:solidFill>
                <a:latin typeface="Montserrat"/>
                <a:ea typeface="Montserrat"/>
                <a:cs typeface="Montserrat"/>
                <a:sym typeface="Montserrat"/>
              </a:rPr>
              <a:t>Tipe data kolom</a:t>
            </a:r>
          </a:p>
        </p:txBody>
      </p:sp>
      <p:grpSp>
        <p:nvGrpSpPr>
          <p:cNvPr name="Group 9" id="9"/>
          <p:cNvGrpSpPr/>
          <p:nvPr/>
        </p:nvGrpSpPr>
        <p:grpSpPr>
          <a:xfrm rot="0">
            <a:off x="-68312" y="10005367"/>
            <a:ext cx="18505837" cy="563266"/>
            <a:chOff x="0" y="0"/>
            <a:chExt cx="4873965" cy="148350"/>
          </a:xfrm>
        </p:grpSpPr>
        <p:sp>
          <p:nvSpPr>
            <p:cNvPr name="Freeform 10" id="10"/>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004A55"/>
            </a:solidFill>
          </p:spPr>
        </p:sp>
        <p:sp>
          <p:nvSpPr>
            <p:cNvPr name="TextBox 11" id="11"/>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1356705" y="8114081"/>
            <a:ext cx="2877216" cy="1343166"/>
            <a:chOff x="0" y="0"/>
            <a:chExt cx="934100" cy="436064"/>
          </a:xfrm>
        </p:grpSpPr>
        <p:sp>
          <p:nvSpPr>
            <p:cNvPr name="Freeform 13" id="13"/>
            <p:cNvSpPr/>
            <p:nvPr/>
          </p:nvSpPr>
          <p:spPr>
            <a:xfrm flipH="false" flipV="false" rot="0">
              <a:off x="0" y="0"/>
              <a:ext cx="934100" cy="436064"/>
            </a:xfrm>
            <a:custGeom>
              <a:avLst/>
              <a:gdLst/>
              <a:ahLst/>
              <a:cxnLst/>
              <a:rect r="r" b="b" t="t" l="l"/>
              <a:pathLst>
                <a:path h="436064" w="934100">
                  <a:moveTo>
                    <a:pt x="0" y="0"/>
                  </a:moveTo>
                  <a:lnTo>
                    <a:pt x="934100" y="0"/>
                  </a:lnTo>
                  <a:lnTo>
                    <a:pt x="934100" y="436064"/>
                  </a:lnTo>
                  <a:lnTo>
                    <a:pt x="0" y="436064"/>
                  </a:lnTo>
                  <a:close/>
                </a:path>
              </a:pathLst>
            </a:custGeom>
            <a:solidFill>
              <a:srgbClr val="25626D"/>
            </a:solidFill>
          </p:spPr>
        </p:sp>
        <p:sp>
          <p:nvSpPr>
            <p:cNvPr name="TextBox 14" id="14"/>
            <p:cNvSpPr txBox="true"/>
            <p:nvPr/>
          </p:nvSpPr>
          <p:spPr>
            <a:xfrm>
              <a:off x="0" y="-38100"/>
              <a:ext cx="934100" cy="474164"/>
            </a:xfrm>
            <a:prstGeom prst="rect">
              <a:avLst/>
            </a:prstGeom>
          </p:spPr>
          <p:txBody>
            <a:bodyPr anchor="ctr" rtlCol="false" tIns="50800" lIns="50800" bIns="50800" rIns="50800"/>
            <a:lstStyle/>
            <a:p>
              <a:pPr algn="ctr">
                <a:lnSpc>
                  <a:spcPts val="2800"/>
                </a:lnSpc>
              </a:pPr>
              <a:r>
                <a:rPr lang="en-US" sz="2000">
                  <a:solidFill>
                    <a:srgbClr val="F6F6F6"/>
                  </a:solidFill>
                  <a:latin typeface="Montserrat"/>
                  <a:ea typeface="Montserrat"/>
                  <a:cs typeface="Montserrat"/>
                  <a:sym typeface="Montserrat"/>
                </a:rPr>
                <a:t>Duplicated data (0)</a:t>
              </a:r>
            </a:p>
          </p:txBody>
        </p:sp>
      </p:grpSp>
      <p:grpSp>
        <p:nvGrpSpPr>
          <p:cNvPr name="Group 15" id="15"/>
          <p:cNvGrpSpPr/>
          <p:nvPr/>
        </p:nvGrpSpPr>
        <p:grpSpPr>
          <a:xfrm rot="0">
            <a:off x="4969616" y="8114081"/>
            <a:ext cx="2961173" cy="1343166"/>
            <a:chOff x="0" y="0"/>
            <a:chExt cx="961357" cy="436064"/>
          </a:xfrm>
        </p:grpSpPr>
        <p:sp>
          <p:nvSpPr>
            <p:cNvPr name="Freeform 16" id="16"/>
            <p:cNvSpPr/>
            <p:nvPr/>
          </p:nvSpPr>
          <p:spPr>
            <a:xfrm flipH="false" flipV="false" rot="0">
              <a:off x="0" y="0"/>
              <a:ext cx="961357" cy="436064"/>
            </a:xfrm>
            <a:custGeom>
              <a:avLst/>
              <a:gdLst/>
              <a:ahLst/>
              <a:cxnLst/>
              <a:rect r="r" b="b" t="t" l="l"/>
              <a:pathLst>
                <a:path h="436064" w="961357">
                  <a:moveTo>
                    <a:pt x="0" y="0"/>
                  </a:moveTo>
                  <a:lnTo>
                    <a:pt x="961357" y="0"/>
                  </a:lnTo>
                  <a:lnTo>
                    <a:pt x="961357" y="436064"/>
                  </a:lnTo>
                  <a:lnTo>
                    <a:pt x="0" y="436064"/>
                  </a:lnTo>
                  <a:close/>
                </a:path>
              </a:pathLst>
            </a:custGeom>
            <a:solidFill>
              <a:srgbClr val="00323A"/>
            </a:solidFill>
          </p:spPr>
        </p:sp>
        <p:sp>
          <p:nvSpPr>
            <p:cNvPr name="TextBox 17" id="17"/>
            <p:cNvSpPr txBox="true"/>
            <p:nvPr/>
          </p:nvSpPr>
          <p:spPr>
            <a:xfrm>
              <a:off x="0" y="-38100"/>
              <a:ext cx="961357" cy="474164"/>
            </a:xfrm>
            <a:prstGeom prst="rect">
              <a:avLst/>
            </a:prstGeom>
          </p:spPr>
          <p:txBody>
            <a:bodyPr anchor="ctr" rtlCol="false" tIns="50800" lIns="50800" bIns="50800" rIns="50800"/>
            <a:lstStyle/>
            <a:p>
              <a:pPr algn="ctr">
                <a:lnSpc>
                  <a:spcPts val="2800"/>
                </a:lnSpc>
              </a:pPr>
              <a:r>
                <a:rPr lang="en-US" sz="2000">
                  <a:solidFill>
                    <a:srgbClr val="F6F6F6"/>
                  </a:solidFill>
                  <a:latin typeface="Montserrat"/>
                  <a:ea typeface="Montserrat"/>
                  <a:cs typeface="Montserrat"/>
                  <a:sym typeface="Montserrat"/>
                </a:rPr>
                <a:t>Missing Value (0)</a:t>
              </a:r>
            </a:p>
          </p:txBody>
        </p:sp>
      </p:grpSp>
      <p:grpSp>
        <p:nvGrpSpPr>
          <p:cNvPr name="Group 18" id="18"/>
          <p:cNvGrpSpPr/>
          <p:nvPr/>
        </p:nvGrpSpPr>
        <p:grpSpPr>
          <a:xfrm rot="0">
            <a:off x="8687587" y="8161565"/>
            <a:ext cx="2965535" cy="1343166"/>
            <a:chOff x="0" y="0"/>
            <a:chExt cx="962773" cy="436064"/>
          </a:xfrm>
        </p:grpSpPr>
        <p:sp>
          <p:nvSpPr>
            <p:cNvPr name="Freeform 19" id="19"/>
            <p:cNvSpPr/>
            <p:nvPr/>
          </p:nvSpPr>
          <p:spPr>
            <a:xfrm flipH="false" flipV="false" rot="0">
              <a:off x="0" y="0"/>
              <a:ext cx="962773" cy="436064"/>
            </a:xfrm>
            <a:custGeom>
              <a:avLst/>
              <a:gdLst/>
              <a:ahLst/>
              <a:cxnLst/>
              <a:rect r="r" b="b" t="t" l="l"/>
              <a:pathLst>
                <a:path h="436064" w="962773">
                  <a:moveTo>
                    <a:pt x="0" y="0"/>
                  </a:moveTo>
                  <a:lnTo>
                    <a:pt x="962773" y="0"/>
                  </a:lnTo>
                  <a:lnTo>
                    <a:pt x="962773" y="436064"/>
                  </a:lnTo>
                  <a:lnTo>
                    <a:pt x="0" y="436064"/>
                  </a:lnTo>
                  <a:close/>
                </a:path>
              </a:pathLst>
            </a:custGeom>
            <a:solidFill>
              <a:srgbClr val="25626D"/>
            </a:solidFill>
          </p:spPr>
        </p:sp>
        <p:sp>
          <p:nvSpPr>
            <p:cNvPr name="TextBox 20" id="20"/>
            <p:cNvSpPr txBox="true"/>
            <p:nvPr/>
          </p:nvSpPr>
          <p:spPr>
            <a:xfrm>
              <a:off x="0" y="-38100"/>
              <a:ext cx="962773" cy="474164"/>
            </a:xfrm>
            <a:prstGeom prst="rect">
              <a:avLst/>
            </a:prstGeom>
          </p:spPr>
          <p:txBody>
            <a:bodyPr anchor="ctr" rtlCol="false" tIns="50800" lIns="50800" bIns="50800" rIns="50800"/>
            <a:lstStyle/>
            <a:p>
              <a:pPr algn="ctr">
                <a:lnSpc>
                  <a:spcPts val="2800"/>
                </a:lnSpc>
              </a:pPr>
              <a:r>
                <a:rPr lang="en-US" sz="2000">
                  <a:solidFill>
                    <a:srgbClr val="F6F6F6"/>
                  </a:solidFill>
                  <a:latin typeface="Montserrat"/>
                  <a:ea typeface="Montserrat"/>
                  <a:cs typeface="Montserrat"/>
                  <a:sym typeface="Montserrat"/>
                </a:rPr>
                <a:t>Data Type Checking</a:t>
              </a:r>
            </a:p>
          </p:txBody>
        </p:sp>
      </p:grpSp>
      <p:grpSp>
        <p:nvGrpSpPr>
          <p:cNvPr name="Group 21" id="21"/>
          <p:cNvGrpSpPr/>
          <p:nvPr/>
        </p:nvGrpSpPr>
        <p:grpSpPr>
          <a:xfrm rot="0">
            <a:off x="12429427" y="8114081"/>
            <a:ext cx="4240057" cy="1390650"/>
            <a:chOff x="0" y="0"/>
            <a:chExt cx="1376552" cy="451480"/>
          </a:xfrm>
        </p:grpSpPr>
        <p:sp>
          <p:nvSpPr>
            <p:cNvPr name="Freeform 22" id="22"/>
            <p:cNvSpPr/>
            <p:nvPr/>
          </p:nvSpPr>
          <p:spPr>
            <a:xfrm flipH="false" flipV="false" rot="0">
              <a:off x="0" y="0"/>
              <a:ext cx="1376552" cy="451480"/>
            </a:xfrm>
            <a:custGeom>
              <a:avLst/>
              <a:gdLst/>
              <a:ahLst/>
              <a:cxnLst/>
              <a:rect r="r" b="b" t="t" l="l"/>
              <a:pathLst>
                <a:path h="451480" w="1376552">
                  <a:moveTo>
                    <a:pt x="0" y="0"/>
                  </a:moveTo>
                  <a:lnTo>
                    <a:pt x="1376552" y="0"/>
                  </a:lnTo>
                  <a:lnTo>
                    <a:pt x="1376552" y="451480"/>
                  </a:lnTo>
                  <a:lnTo>
                    <a:pt x="0" y="451480"/>
                  </a:lnTo>
                  <a:close/>
                </a:path>
              </a:pathLst>
            </a:custGeom>
            <a:solidFill>
              <a:srgbClr val="00323A"/>
            </a:solidFill>
          </p:spPr>
        </p:sp>
        <p:sp>
          <p:nvSpPr>
            <p:cNvPr name="TextBox 23" id="23"/>
            <p:cNvSpPr txBox="true"/>
            <p:nvPr/>
          </p:nvSpPr>
          <p:spPr>
            <a:xfrm>
              <a:off x="0" y="-38100"/>
              <a:ext cx="1376552" cy="489580"/>
            </a:xfrm>
            <a:prstGeom prst="rect">
              <a:avLst/>
            </a:prstGeom>
          </p:spPr>
          <p:txBody>
            <a:bodyPr anchor="ctr" rtlCol="false" tIns="50800" lIns="50800" bIns="50800" rIns="50800"/>
            <a:lstStyle/>
            <a:p>
              <a:pPr algn="ctr">
                <a:lnSpc>
                  <a:spcPts val="2800"/>
                </a:lnSpc>
              </a:pPr>
              <a:r>
                <a:rPr lang="en-US" sz="2000">
                  <a:solidFill>
                    <a:srgbClr val="F6F6F6"/>
                  </a:solidFill>
                  <a:latin typeface="Montserrat"/>
                  <a:ea typeface="Montserrat"/>
                  <a:cs typeface="Montserrat"/>
                  <a:sym typeface="Montserrat"/>
                </a:rPr>
                <a:t>Feature Engginer (12 kolom)</a:t>
              </a:r>
            </a:p>
          </p:txBody>
        </p:sp>
      </p:grpSp>
      <p:grpSp>
        <p:nvGrpSpPr>
          <p:cNvPr name="Group 24" id="24"/>
          <p:cNvGrpSpPr/>
          <p:nvPr/>
        </p:nvGrpSpPr>
        <p:grpSpPr>
          <a:xfrm rot="0">
            <a:off x="11598471" y="8450591"/>
            <a:ext cx="635650" cy="717629"/>
            <a:chOff x="0" y="0"/>
            <a:chExt cx="719949" cy="812800"/>
          </a:xfrm>
        </p:grpSpPr>
        <p:sp>
          <p:nvSpPr>
            <p:cNvPr name="Freeform 25" id="25"/>
            <p:cNvSpPr/>
            <p:nvPr/>
          </p:nvSpPr>
          <p:spPr>
            <a:xfrm flipH="false" flipV="false" rot="0">
              <a:off x="0" y="0"/>
              <a:ext cx="719949" cy="812800"/>
            </a:xfrm>
            <a:custGeom>
              <a:avLst/>
              <a:gdLst/>
              <a:ahLst/>
              <a:cxnLst/>
              <a:rect r="r" b="b" t="t" l="l"/>
              <a:pathLst>
                <a:path h="812800" w="719949">
                  <a:moveTo>
                    <a:pt x="719949" y="406400"/>
                  </a:moveTo>
                  <a:lnTo>
                    <a:pt x="313549" y="0"/>
                  </a:lnTo>
                  <a:lnTo>
                    <a:pt x="313549" y="203200"/>
                  </a:lnTo>
                  <a:lnTo>
                    <a:pt x="0" y="203200"/>
                  </a:lnTo>
                  <a:lnTo>
                    <a:pt x="0" y="609600"/>
                  </a:lnTo>
                  <a:lnTo>
                    <a:pt x="313549" y="609600"/>
                  </a:lnTo>
                  <a:lnTo>
                    <a:pt x="313549" y="812800"/>
                  </a:lnTo>
                  <a:lnTo>
                    <a:pt x="719949" y="406400"/>
                  </a:lnTo>
                  <a:close/>
                </a:path>
              </a:pathLst>
            </a:custGeom>
            <a:solidFill>
              <a:srgbClr val="25626D"/>
            </a:solidFill>
          </p:spPr>
        </p:sp>
        <p:sp>
          <p:nvSpPr>
            <p:cNvPr name="TextBox 26" id="26"/>
            <p:cNvSpPr txBox="true"/>
            <p:nvPr/>
          </p:nvSpPr>
          <p:spPr>
            <a:xfrm>
              <a:off x="0" y="155575"/>
              <a:ext cx="618349" cy="454025"/>
            </a:xfrm>
            <a:prstGeom prst="rect">
              <a:avLst/>
            </a:prstGeom>
          </p:spPr>
          <p:txBody>
            <a:bodyPr anchor="ctr" rtlCol="false" tIns="50800" lIns="50800" bIns="50800" rIns="50800"/>
            <a:lstStyle/>
            <a:p>
              <a:pPr algn="ctr">
                <a:lnSpc>
                  <a:spcPts val="3640"/>
                </a:lnSpc>
              </a:pPr>
            </a:p>
          </p:txBody>
        </p:sp>
      </p:grpSp>
      <p:grpSp>
        <p:nvGrpSpPr>
          <p:cNvPr name="Group 27" id="27"/>
          <p:cNvGrpSpPr/>
          <p:nvPr/>
        </p:nvGrpSpPr>
        <p:grpSpPr>
          <a:xfrm rot="0">
            <a:off x="4219547" y="8426849"/>
            <a:ext cx="616719" cy="717629"/>
            <a:chOff x="0" y="0"/>
            <a:chExt cx="698508" cy="812800"/>
          </a:xfrm>
        </p:grpSpPr>
        <p:sp>
          <p:nvSpPr>
            <p:cNvPr name="Freeform 28" id="28"/>
            <p:cNvSpPr/>
            <p:nvPr/>
          </p:nvSpPr>
          <p:spPr>
            <a:xfrm flipH="false" flipV="false" rot="0">
              <a:off x="0" y="0"/>
              <a:ext cx="698508" cy="812800"/>
            </a:xfrm>
            <a:custGeom>
              <a:avLst/>
              <a:gdLst/>
              <a:ahLst/>
              <a:cxnLst/>
              <a:rect r="r" b="b" t="t" l="l"/>
              <a:pathLst>
                <a:path h="812800" w="698508">
                  <a:moveTo>
                    <a:pt x="698508" y="406400"/>
                  </a:moveTo>
                  <a:lnTo>
                    <a:pt x="292108" y="0"/>
                  </a:lnTo>
                  <a:lnTo>
                    <a:pt x="292108" y="203200"/>
                  </a:lnTo>
                  <a:lnTo>
                    <a:pt x="0" y="203200"/>
                  </a:lnTo>
                  <a:lnTo>
                    <a:pt x="0" y="609600"/>
                  </a:lnTo>
                  <a:lnTo>
                    <a:pt x="292108" y="609600"/>
                  </a:lnTo>
                  <a:lnTo>
                    <a:pt x="292108" y="812800"/>
                  </a:lnTo>
                  <a:lnTo>
                    <a:pt x="698508" y="406400"/>
                  </a:lnTo>
                  <a:close/>
                </a:path>
              </a:pathLst>
            </a:custGeom>
            <a:solidFill>
              <a:srgbClr val="25626D"/>
            </a:solidFill>
          </p:spPr>
        </p:sp>
        <p:sp>
          <p:nvSpPr>
            <p:cNvPr name="TextBox 29" id="29"/>
            <p:cNvSpPr txBox="true"/>
            <p:nvPr/>
          </p:nvSpPr>
          <p:spPr>
            <a:xfrm>
              <a:off x="0" y="155575"/>
              <a:ext cx="596908" cy="454025"/>
            </a:xfrm>
            <a:prstGeom prst="rect">
              <a:avLst/>
            </a:prstGeom>
          </p:spPr>
          <p:txBody>
            <a:bodyPr anchor="ctr" rtlCol="false" tIns="50800" lIns="50800" bIns="50800" rIns="50800"/>
            <a:lstStyle/>
            <a:p>
              <a:pPr algn="ctr">
                <a:lnSpc>
                  <a:spcPts val="3640"/>
                </a:lnSpc>
              </a:pPr>
            </a:p>
          </p:txBody>
        </p:sp>
      </p:grpSp>
      <p:grpSp>
        <p:nvGrpSpPr>
          <p:cNvPr name="Group 30" id="30"/>
          <p:cNvGrpSpPr/>
          <p:nvPr/>
        </p:nvGrpSpPr>
        <p:grpSpPr>
          <a:xfrm rot="0">
            <a:off x="16403279" y="8450591"/>
            <a:ext cx="908838" cy="717629"/>
            <a:chOff x="0" y="0"/>
            <a:chExt cx="1029368" cy="812800"/>
          </a:xfrm>
        </p:grpSpPr>
        <p:sp>
          <p:nvSpPr>
            <p:cNvPr name="Freeform 31" id="31"/>
            <p:cNvSpPr/>
            <p:nvPr/>
          </p:nvSpPr>
          <p:spPr>
            <a:xfrm flipH="false" flipV="false" rot="0">
              <a:off x="0" y="0"/>
              <a:ext cx="1029368" cy="812800"/>
            </a:xfrm>
            <a:custGeom>
              <a:avLst/>
              <a:gdLst/>
              <a:ahLst/>
              <a:cxnLst/>
              <a:rect r="r" b="b" t="t" l="l"/>
              <a:pathLst>
                <a:path h="812800" w="1029368">
                  <a:moveTo>
                    <a:pt x="1029368" y="406400"/>
                  </a:moveTo>
                  <a:lnTo>
                    <a:pt x="622968" y="0"/>
                  </a:lnTo>
                  <a:lnTo>
                    <a:pt x="622968" y="203200"/>
                  </a:lnTo>
                  <a:lnTo>
                    <a:pt x="0" y="203200"/>
                  </a:lnTo>
                  <a:lnTo>
                    <a:pt x="0" y="609600"/>
                  </a:lnTo>
                  <a:lnTo>
                    <a:pt x="622968" y="609600"/>
                  </a:lnTo>
                  <a:lnTo>
                    <a:pt x="622968" y="812800"/>
                  </a:lnTo>
                  <a:lnTo>
                    <a:pt x="1029368" y="406400"/>
                  </a:lnTo>
                  <a:close/>
                </a:path>
              </a:pathLst>
            </a:custGeom>
            <a:solidFill>
              <a:srgbClr val="00323A"/>
            </a:solidFill>
          </p:spPr>
        </p:sp>
        <p:sp>
          <p:nvSpPr>
            <p:cNvPr name="TextBox 32" id="32"/>
            <p:cNvSpPr txBox="true"/>
            <p:nvPr/>
          </p:nvSpPr>
          <p:spPr>
            <a:xfrm>
              <a:off x="0" y="155575"/>
              <a:ext cx="927768" cy="454025"/>
            </a:xfrm>
            <a:prstGeom prst="rect">
              <a:avLst/>
            </a:prstGeom>
          </p:spPr>
          <p:txBody>
            <a:bodyPr anchor="ctr" rtlCol="false" tIns="50800" lIns="50800" bIns="50800" rIns="50800"/>
            <a:lstStyle/>
            <a:p>
              <a:pPr algn="ctr">
                <a:lnSpc>
                  <a:spcPts val="3640"/>
                </a:lnSpc>
              </a:pPr>
            </a:p>
          </p:txBody>
        </p:sp>
      </p:grpSp>
      <p:grpSp>
        <p:nvGrpSpPr>
          <p:cNvPr name="Group 33" id="33"/>
          <p:cNvGrpSpPr/>
          <p:nvPr/>
        </p:nvGrpSpPr>
        <p:grpSpPr>
          <a:xfrm rot="0">
            <a:off x="7919522" y="8426849"/>
            <a:ext cx="634715" cy="717629"/>
            <a:chOff x="0" y="0"/>
            <a:chExt cx="718890" cy="812800"/>
          </a:xfrm>
        </p:grpSpPr>
        <p:sp>
          <p:nvSpPr>
            <p:cNvPr name="Freeform 34" id="34"/>
            <p:cNvSpPr/>
            <p:nvPr/>
          </p:nvSpPr>
          <p:spPr>
            <a:xfrm flipH="false" flipV="false" rot="0">
              <a:off x="0" y="0"/>
              <a:ext cx="718890" cy="812800"/>
            </a:xfrm>
            <a:custGeom>
              <a:avLst/>
              <a:gdLst/>
              <a:ahLst/>
              <a:cxnLst/>
              <a:rect r="r" b="b" t="t" l="l"/>
              <a:pathLst>
                <a:path h="812800" w="718890">
                  <a:moveTo>
                    <a:pt x="718890" y="406400"/>
                  </a:moveTo>
                  <a:lnTo>
                    <a:pt x="312490" y="0"/>
                  </a:lnTo>
                  <a:lnTo>
                    <a:pt x="312490" y="203200"/>
                  </a:lnTo>
                  <a:lnTo>
                    <a:pt x="0" y="203200"/>
                  </a:lnTo>
                  <a:lnTo>
                    <a:pt x="0" y="609600"/>
                  </a:lnTo>
                  <a:lnTo>
                    <a:pt x="312490" y="609600"/>
                  </a:lnTo>
                  <a:lnTo>
                    <a:pt x="312490" y="812800"/>
                  </a:lnTo>
                  <a:lnTo>
                    <a:pt x="718890" y="406400"/>
                  </a:lnTo>
                  <a:close/>
                </a:path>
              </a:pathLst>
            </a:custGeom>
            <a:solidFill>
              <a:srgbClr val="00323A"/>
            </a:solidFill>
          </p:spPr>
        </p:sp>
        <p:sp>
          <p:nvSpPr>
            <p:cNvPr name="TextBox 35" id="35"/>
            <p:cNvSpPr txBox="true"/>
            <p:nvPr/>
          </p:nvSpPr>
          <p:spPr>
            <a:xfrm>
              <a:off x="0" y="155575"/>
              <a:ext cx="617290" cy="454025"/>
            </a:xfrm>
            <a:prstGeom prst="rect">
              <a:avLst/>
            </a:prstGeom>
          </p:spPr>
          <p:txBody>
            <a:bodyPr anchor="ctr" rtlCol="false" tIns="50800" lIns="50800" bIns="50800" rIns="50800"/>
            <a:lstStyle/>
            <a:p>
              <a:pPr algn="ctr">
                <a:lnSpc>
                  <a:spcPts val="3640"/>
                </a:lnSpc>
              </a:pPr>
            </a:p>
          </p:txBody>
        </p:sp>
      </p:grpSp>
      <p:sp>
        <p:nvSpPr>
          <p:cNvPr name="TextBox 36" id="36"/>
          <p:cNvSpPr txBox="true"/>
          <p:nvPr/>
        </p:nvSpPr>
        <p:spPr>
          <a:xfrm rot="0">
            <a:off x="3505944" y="7077378"/>
            <a:ext cx="11187724" cy="718185"/>
          </a:xfrm>
          <a:prstGeom prst="rect">
            <a:avLst/>
          </a:prstGeom>
        </p:spPr>
        <p:txBody>
          <a:bodyPr anchor="t" rtlCol="false" tIns="0" lIns="0" bIns="0" rIns="0">
            <a:spAutoFit/>
          </a:bodyPr>
          <a:lstStyle/>
          <a:p>
            <a:pPr algn="ctr" marL="0" indent="0" lvl="0">
              <a:lnSpc>
                <a:spcPts val="5894"/>
              </a:lnSpc>
            </a:pPr>
            <a:r>
              <a:rPr lang="en-US" b="true" sz="4499">
                <a:solidFill>
                  <a:srgbClr val="004A55"/>
                </a:solidFill>
                <a:latin typeface="Montserrat Bold"/>
                <a:ea typeface="Montserrat Bold"/>
                <a:cs typeface="Montserrat Bold"/>
                <a:sym typeface="Montserrat Bold"/>
              </a:rPr>
              <a:t>Data Processing</a:t>
            </a:r>
          </a:p>
        </p:txBody>
      </p:sp>
      <p:sp>
        <p:nvSpPr>
          <p:cNvPr name="Freeform 37" id="37"/>
          <p:cNvSpPr/>
          <p:nvPr/>
        </p:nvSpPr>
        <p:spPr>
          <a:xfrm flipH="false" flipV="false" rot="0">
            <a:off x="11073232" y="2029333"/>
            <a:ext cx="4734730" cy="4181191"/>
          </a:xfrm>
          <a:custGeom>
            <a:avLst/>
            <a:gdLst/>
            <a:ahLst/>
            <a:cxnLst/>
            <a:rect r="r" b="b" t="t" l="l"/>
            <a:pathLst>
              <a:path h="4181191" w="4734730">
                <a:moveTo>
                  <a:pt x="0" y="0"/>
                </a:moveTo>
                <a:lnTo>
                  <a:pt x="4734730" y="0"/>
                </a:lnTo>
                <a:lnTo>
                  <a:pt x="4734730" y="4181191"/>
                </a:lnTo>
                <a:lnTo>
                  <a:pt x="0" y="4181191"/>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312" y="-108545"/>
            <a:ext cx="18505837" cy="563266"/>
            <a:chOff x="0" y="0"/>
            <a:chExt cx="4873965" cy="148350"/>
          </a:xfrm>
        </p:grpSpPr>
        <p:sp>
          <p:nvSpPr>
            <p:cNvPr name="Freeform 3" id="3"/>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25626D"/>
            </a:solidFill>
          </p:spPr>
        </p:sp>
        <p:sp>
          <p:nvSpPr>
            <p:cNvPr name="TextBox 4" id="4"/>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8312" y="10005367"/>
            <a:ext cx="18505837" cy="563266"/>
            <a:chOff x="0" y="0"/>
            <a:chExt cx="4873965" cy="148350"/>
          </a:xfrm>
        </p:grpSpPr>
        <p:sp>
          <p:nvSpPr>
            <p:cNvPr name="Freeform 6" id="6"/>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25626D"/>
            </a:solidFill>
          </p:spPr>
        </p:sp>
        <p:sp>
          <p:nvSpPr>
            <p:cNvPr name="TextBox 7" id="7"/>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338395" y="2758600"/>
            <a:ext cx="8661504" cy="6098173"/>
            <a:chOff x="0" y="0"/>
            <a:chExt cx="2281219" cy="1606103"/>
          </a:xfrm>
        </p:grpSpPr>
        <p:sp>
          <p:nvSpPr>
            <p:cNvPr name="Freeform 9" id="9"/>
            <p:cNvSpPr/>
            <p:nvPr/>
          </p:nvSpPr>
          <p:spPr>
            <a:xfrm flipH="false" flipV="false" rot="0">
              <a:off x="0" y="0"/>
              <a:ext cx="2281219" cy="1606103"/>
            </a:xfrm>
            <a:custGeom>
              <a:avLst/>
              <a:gdLst/>
              <a:ahLst/>
              <a:cxnLst/>
              <a:rect r="r" b="b" t="t" l="l"/>
              <a:pathLst>
                <a:path h="1606103" w="2281219">
                  <a:moveTo>
                    <a:pt x="24133" y="0"/>
                  </a:moveTo>
                  <a:lnTo>
                    <a:pt x="2257086" y="0"/>
                  </a:lnTo>
                  <a:cubicBezTo>
                    <a:pt x="2263486" y="0"/>
                    <a:pt x="2269625" y="2543"/>
                    <a:pt x="2274151" y="7069"/>
                  </a:cubicBezTo>
                  <a:cubicBezTo>
                    <a:pt x="2278677" y="11594"/>
                    <a:pt x="2281219" y="17733"/>
                    <a:pt x="2281219" y="24133"/>
                  </a:cubicBezTo>
                  <a:lnTo>
                    <a:pt x="2281219" y="1581970"/>
                  </a:lnTo>
                  <a:cubicBezTo>
                    <a:pt x="2281219" y="1588370"/>
                    <a:pt x="2278677" y="1594509"/>
                    <a:pt x="2274151" y="1599035"/>
                  </a:cubicBezTo>
                  <a:cubicBezTo>
                    <a:pt x="2269625" y="1603561"/>
                    <a:pt x="2263486" y="1606103"/>
                    <a:pt x="2257086" y="1606103"/>
                  </a:cubicBezTo>
                  <a:lnTo>
                    <a:pt x="24133" y="1606103"/>
                  </a:lnTo>
                  <a:cubicBezTo>
                    <a:pt x="17733" y="1606103"/>
                    <a:pt x="11594" y="1603561"/>
                    <a:pt x="7069" y="1599035"/>
                  </a:cubicBezTo>
                  <a:cubicBezTo>
                    <a:pt x="2543" y="1594509"/>
                    <a:pt x="0" y="1588370"/>
                    <a:pt x="0" y="1581970"/>
                  </a:cubicBezTo>
                  <a:lnTo>
                    <a:pt x="0" y="24133"/>
                  </a:lnTo>
                  <a:cubicBezTo>
                    <a:pt x="0" y="17733"/>
                    <a:pt x="2543" y="11594"/>
                    <a:pt x="7069" y="7069"/>
                  </a:cubicBezTo>
                  <a:cubicBezTo>
                    <a:pt x="11594" y="2543"/>
                    <a:pt x="17733" y="0"/>
                    <a:pt x="24133" y="0"/>
                  </a:cubicBezTo>
                  <a:close/>
                </a:path>
              </a:pathLst>
            </a:custGeom>
            <a:solidFill>
              <a:srgbClr val="25626D"/>
            </a:solidFill>
          </p:spPr>
        </p:sp>
        <p:sp>
          <p:nvSpPr>
            <p:cNvPr name="TextBox 10" id="10"/>
            <p:cNvSpPr txBox="true"/>
            <p:nvPr/>
          </p:nvSpPr>
          <p:spPr>
            <a:xfrm>
              <a:off x="0" y="-38100"/>
              <a:ext cx="2281219" cy="1644203"/>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8999900" y="3089787"/>
            <a:ext cx="9030918" cy="5601476"/>
          </a:xfrm>
          <a:custGeom>
            <a:avLst/>
            <a:gdLst/>
            <a:ahLst/>
            <a:cxnLst/>
            <a:rect r="r" b="b" t="t" l="l"/>
            <a:pathLst>
              <a:path h="5601476" w="9030918">
                <a:moveTo>
                  <a:pt x="0" y="0"/>
                </a:moveTo>
                <a:lnTo>
                  <a:pt x="9030918" y="0"/>
                </a:lnTo>
                <a:lnTo>
                  <a:pt x="9030918" y="5601476"/>
                </a:lnTo>
                <a:lnTo>
                  <a:pt x="0" y="5601476"/>
                </a:lnTo>
                <a:lnTo>
                  <a:pt x="0" y="0"/>
                </a:lnTo>
                <a:close/>
              </a:path>
            </a:pathLst>
          </a:custGeom>
          <a:blipFill>
            <a:blip r:embed="rId2"/>
            <a:stretch>
              <a:fillRect l="-1284" t="0" r="-1618" b="0"/>
            </a:stretch>
          </a:blipFill>
        </p:spPr>
      </p:sp>
      <p:sp>
        <p:nvSpPr>
          <p:cNvPr name="TextBox 12" id="12"/>
          <p:cNvSpPr txBox="true"/>
          <p:nvPr/>
        </p:nvSpPr>
        <p:spPr>
          <a:xfrm rot="0">
            <a:off x="2106501" y="1115808"/>
            <a:ext cx="14074997" cy="1174115"/>
          </a:xfrm>
          <a:prstGeom prst="rect">
            <a:avLst/>
          </a:prstGeom>
        </p:spPr>
        <p:txBody>
          <a:bodyPr anchor="t" rtlCol="false" tIns="0" lIns="0" bIns="0" rIns="0">
            <a:spAutoFit/>
          </a:bodyPr>
          <a:lstStyle/>
          <a:p>
            <a:pPr algn="ctr">
              <a:lnSpc>
                <a:spcPts val="9280"/>
              </a:lnSpc>
            </a:pPr>
            <a:r>
              <a:rPr lang="en-US" b="true" sz="8000">
                <a:solidFill>
                  <a:srgbClr val="E0751C"/>
                </a:solidFill>
                <a:latin typeface="Montserrat Bold"/>
                <a:ea typeface="Montserrat Bold"/>
                <a:cs typeface="Montserrat Bold"/>
                <a:sym typeface="Montserrat Bold"/>
              </a:rPr>
              <a:t>Feature Engineering</a:t>
            </a:r>
          </a:p>
        </p:txBody>
      </p:sp>
      <p:sp>
        <p:nvSpPr>
          <p:cNvPr name="TextBox 13" id="13"/>
          <p:cNvSpPr txBox="true"/>
          <p:nvPr/>
        </p:nvSpPr>
        <p:spPr>
          <a:xfrm rot="0">
            <a:off x="720739" y="3068487"/>
            <a:ext cx="8034231" cy="5273675"/>
          </a:xfrm>
          <a:prstGeom prst="rect">
            <a:avLst/>
          </a:prstGeom>
        </p:spPr>
        <p:txBody>
          <a:bodyPr anchor="t" rtlCol="false" tIns="0" lIns="0" bIns="0" rIns="0">
            <a:spAutoFit/>
          </a:bodyPr>
          <a:lstStyle/>
          <a:p>
            <a:pPr algn="l">
              <a:lnSpc>
                <a:spcPts val="2800"/>
              </a:lnSpc>
            </a:pPr>
            <a:r>
              <a:rPr lang="en-US" b="true" sz="2000">
                <a:solidFill>
                  <a:srgbClr val="FFFFFF"/>
                </a:solidFill>
                <a:latin typeface="Montserrat Bold"/>
                <a:ea typeface="Montserrat Bold"/>
                <a:cs typeface="Montserrat Bold"/>
                <a:sym typeface="Montserrat Bold"/>
              </a:rPr>
              <a:t>Keterangan kolom : </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year, month, day_of_month, week_of_year, quarter → menangkap pola waktu dan seasonality.</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is_weekend → membedakan penjualan pada hari kerja dan akhir pekan.</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is_payday_period → mengidentifikasi periode gajian yang berpotensi meningkatkan penjualan.</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event_harbolnas → mengukur pengaruh event promosi terhadap penjualan.</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customer_ratio → membandingkan jumlah pelanggan dengan rata-rata pelanggan toko.</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store_avg_customer → rata-rata pelanggan per toko.</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store_avg_sales → rata-rata penjualan historis per toko.</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kategori_sales → mengelompokkan penjualan menjadi Low, Medium, High, dan Very High untuk analisis segmentasi.</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68312" y="-108545"/>
            <a:ext cx="18505837" cy="563266"/>
            <a:chOff x="0" y="0"/>
            <a:chExt cx="4873965" cy="148350"/>
          </a:xfrm>
        </p:grpSpPr>
        <p:sp>
          <p:nvSpPr>
            <p:cNvPr name="Freeform 3" id="3"/>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25626D"/>
            </a:solidFill>
          </p:spPr>
        </p:sp>
        <p:sp>
          <p:nvSpPr>
            <p:cNvPr name="TextBox 4" id="4"/>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8312" y="10005367"/>
            <a:ext cx="18505837" cy="563266"/>
            <a:chOff x="0" y="0"/>
            <a:chExt cx="4873965" cy="148350"/>
          </a:xfrm>
        </p:grpSpPr>
        <p:sp>
          <p:nvSpPr>
            <p:cNvPr name="Freeform 6" id="6"/>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25626D"/>
            </a:solidFill>
          </p:spPr>
        </p:sp>
        <p:sp>
          <p:nvSpPr>
            <p:cNvPr name="TextBox 7" id="7"/>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7946609" y="2050839"/>
            <a:ext cx="4307013" cy="2869057"/>
            <a:chOff x="0" y="0"/>
            <a:chExt cx="986424" cy="657093"/>
          </a:xfrm>
        </p:grpSpPr>
        <p:sp>
          <p:nvSpPr>
            <p:cNvPr name="Freeform 9" id="9"/>
            <p:cNvSpPr/>
            <p:nvPr/>
          </p:nvSpPr>
          <p:spPr>
            <a:xfrm flipH="false" flipV="false" rot="0">
              <a:off x="0" y="0"/>
              <a:ext cx="986424" cy="657093"/>
            </a:xfrm>
            <a:custGeom>
              <a:avLst/>
              <a:gdLst/>
              <a:ahLst/>
              <a:cxnLst/>
              <a:rect r="r" b="b" t="t" l="l"/>
              <a:pathLst>
                <a:path h="657093" w="986424">
                  <a:moveTo>
                    <a:pt x="48533" y="0"/>
                  </a:moveTo>
                  <a:lnTo>
                    <a:pt x="937891" y="0"/>
                  </a:lnTo>
                  <a:cubicBezTo>
                    <a:pt x="950763" y="0"/>
                    <a:pt x="963107" y="5113"/>
                    <a:pt x="972209" y="14215"/>
                  </a:cubicBezTo>
                  <a:cubicBezTo>
                    <a:pt x="981311" y="23317"/>
                    <a:pt x="986424" y="35661"/>
                    <a:pt x="986424" y="48533"/>
                  </a:cubicBezTo>
                  <a:lnTo>
                    <a:pt x="986424" y="608560"/>
                  </a:lnTo>
                  <a:cubicBezTo>
                    <a:pt x="986424" y="635364"/>
                    <a:pt x="964695" y="657093"/>
                    <a:pt x="937891" y="657093"/>
                  </a:cubicBezTo>
                  <a:lnTo>
                    <a:pt x="48533" y="657093"/>
                  </a:lnTo>
                  <a:cubicBezTo>
                    <a:pt x="21729" y="657093"/>
                    <a:pt x="0" y="635364"/>
                    <a:pt x="0" y="608560"/>
                  </a:cubicBezTo>
                  <a:lnTo>
                    <a:pt x="0" y="48533"/>
                  </a:lnTo>
                  <a:cubicBezTo>
                    <a:pt x="0" y="21729"/>
                    <a:pt x="21729" y="0"/>
                    <a:pt x="48533" y="0"/>
                  </a:cubicBezTo>
                  <a:close/>
                </a:path>
              </a:pathLst>
            </a:custGeom>
            <a:solidFill>
              <a:srgbClr val="C2E9E8"/>
            </a:solidFill>
          </p:spPr>
        </p:sp>
        <p:sp>
          <p:nvSpPr>
            <p:cNvPr name="TextBox 10" id="10"/>
            <p:cNvSpPr txBox="true"/>
            <p:nvPr/>
          </p:nvSpPr>
          <p:spPr>
            <a:xfrm>
              <a:off x="0" y="-38100"/>
              <a:ext cx="986424" cy="695193"/>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7274055" y="5337253"/>
            <a:ext cx="4307013" cy="2869057"/>
            <a:chOff x="0" y="0"/>
            <a:chExt cx="986424" cy="657093"/>
          </a:xfrm>
        </p:grpSpPr>
        <p:sp>
          <p:nvSpPr>
            <p:cNvPr name="Freeform 12" id="12"/>
            <p:cNvSpPr/>
            <p:nvPr/>
          </p:nvSpPr>
          <p:spPr>
            <a:xfrm flipH="false" flipV="false" rot="0">
              <a:off x="0" y="0"/>
              <a:ext cx="986424" cy="657093"/>
            </a:xfrm>
            <a:custGeom>
              <a:avLst/>
              <a:gdLst/>
              <a:ahLst/>
              <a:cxnLst/>
              <a:rect r="r" b="b" t="t" l="l"/>
              <a:pathLst>
                <a:path h="657093" w="986424">
                  <a:moveTo>
                    <a:pt x="48533" y="0"/>
                  </a:moveTo>
                  <a:lnTo>
                    <a:pt x="937891" y="0"/>
                  </a:lnTo>
                  <a:cubicBezTo>
                    <a:pt x="950763" y="0"/>
                    <a:pt x="963107" y="5113"/>
                    <a:pt x="972209" y="14215"/>
                  </a:cubicBezTo>
                  <a:cubicBezTo>
                    <a:pt x="981311" y="23317"/>
                    <a:pt x="986424" y="35661"/>
                    <a:pt x="986424" y="48533"/>
                  </a:cubicBezTo>
                  <a:lnTo>
                    <a:pt x="986424" y="608560"/>
                  </a:lnTo>
                  <a:cubicBezTo>
                    <a:pt x="986424" y="635364"/>
                    <a:pt x="964695" y="657093"/>
                    <a:pt x="937891" y="657093"/>
                  </a:cubicBezTo>
                  <a:lnTo>
                    <a:pt x="48533" y="657093"/>
                  </a:lnTo>
                  <a:cubicBezTo>
                    <a:pt x="21729" y="657093"/>
                    <a:pt x="0" y="635364"/>
                    <a:pt x="0" y="608560"/>
                  </a:cubicBezTo>
                  <a:lnTo>
                    <a:pt x="0" y="48533"/>
                  </a:lnTo>
                  <a:cubicBezTo>
                    <a:pt x="0" y="21729"/>
                    <a:pt x="21729" y="0"/>
                    <a:pt x="48533" y="0"/>
                  </a:cubicBezTo>
                  <a:close/>
                </a:path>
              </a:pathLst>
            </a:custGeom>
            <a:solidFill>
              <a:srgbClr val="C2E9E8"/>
            </a:solidFill>
          </p:spPr>
        </p:sp>
        <p:sp>
          <p:nvSpPr>
            <p:cNvPr name="TextBox 13" id="13"/>
            <p:cNvSpPr txBox="true"/>
            <p:nvPr/>
          </p:nvSpPr>
          <p:spPr>
            <a:xfrm>
              <a:off x="0" y="-38100"/>
              <a:ext cx="986424" cy="695193"/>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12641005" y="2050839"/>
            <a:ext cx="4307013" cy="2869057"/>
            <a:chOff x="0" y="0"/>
            <a:chExt cx="986424" cy="657093"/>
          </a:xfrm>
        </p:grpSpPr>
        <p:sp>
          <p:nvSpPr>
            <p:cNvPr name="Freeform 15" id="15"/>
            <p:cNvSpPr/>
            <p:nvPr/>
          </p:nvSpPr>
          <p:spPr>
            <a:xfrm flipH="false" flipV="false" rot="0">
              <a:off x="0" y="0"/>
              <a:ext cx="986424" cy="657093"/>
            </a:xfrm>
            <a:custGeom>
              <a:avLst/>
              <a:gdLst/>
              <a:ahLst/>
              <a:cxnLst/>
              <a:rect r="r" b="b" t="t" l="l"/>
              <a:pathLst>
                <a:path h="657093" w="986424">
                  <a:moveTo>
                    <a:pt x="48533" y="0"/>
                  </a:moveTo>
                  <a:lnTo>
                    <a:pt x="937891" y="0"/>
                  </a:lnTo>
                  <a:cubicBezTo>
                    <a:pt x="950763" y="0"/>
                    <a:pt x="963107" y="5113"/>
                    <a:pt x="972209" y="14215"/>
                  </a:cubicBezTo>
                  <a:cubicBezTo>
                    <a:pt x="981311" y="23317"/>
                    <a:pt x="986424" y="35661"/>
                    <a:pt x="986424" y="48533"/>
                  </a:cubicBezTo>
                  <a:lnTo>
                    <a:pt x="986424" y="608560"/>
                  </a:lnTo>
                  <a:cubicBezTo>
                    <a:pt x="986424" y="635364"/>
                    <a:pt x="964695" y="657093"/>
                    <a:pt x="937891" y="657093"/>
                  </a:cubicBezTo>
                  <a:lnTo>
                    <a:pt x="48533" y="657093"/>
                  </a:lnTo>
                  <a:cubicBezTo>
                    <a:pt x="21729" y="657093"/>
                    <a:pt x="0" y="635364"/>
                    <a:pt x="0" y="608560"/>
                  </a:cubicBezTo>
                  <a:lnTo>
                    <a:pt x="0" y="48533"/>
                  </a:lnTo>
                  <a:cubicBezTo>
                    <a:pt x="0" y="21729"/>
                    <a:pt x="21729" y="0"/>
                    <a:pt x="48533" y="0"/>
                  </a:cubicBezTo>
                  <a:close/>
                </a:path>
              </a:pathLst>
            </a:custGeom>
            <a:solidFill>
              <a:srgbClr val="C2E9E8"/>
            </a:solidFill>
          </p:spPr>
        </p:sp>
        <p:sp>
          <p:nvSpPr>
            <p:cNvPr name="TextBox 16" id="16"/>
            <p:cNvSpPr txBox="true"/>
            <p:nvPr/>
          </p:nvSpPr>
          <p:spPr>
            <a:xfrm>
              <a:off x="0" y="-38100"/>
              <a:ext cx="986424" cy="695193"/>
            </a:xfrm>
            <a:prstGeom prst="rect">
              <a:avLst/>
            </a:prstGeom>
          </p:spPr>
          <p:txBody>
            <a:bodyPr anchor="ctr" rtlCol="false" tIns="50800" lIns="50800" bIns="50800" rIns="50800"/>
            <a:lstStyle/>
            <a:p>
              <a:pPr algn="ctr">
                <a:lnSpc>
                  <a:spcPts val="2800"/>
                </a:lnSpc>
              </a:pPr>
            </a:p>
          </p:txBody>
        </p:sp>
      </p:grpSp>
      <p:grpSp>
        <p:nvGrpSpPr>
          <p:cNvPr name="Group 17" id="17"/>
          <p:cNvGrpSpPr/>
          <p:nvPr/>
        </p:nvGrpSpPr>
        <p:grpSpPr>
          <a:xfrm rot="0">
            <a:off x="11895394" y="5287980"/>
            <a:ext cx="5169262" cy="2869057"/>
            <a:chOff x="0" y="0"/>
            <a:chExt cx="1183902" cy="657093"/>
          </a:xfrm>
        </p:grpSpPr>
        <p:sp>
          <p:nvSpPr>
            <p:cNvPr name="Freeform 18" id="18"/>
            <p:cNvSpPr/>
            <p:nvPr/>
          </p:nvSpPr>
          <p:spPr>
            <a:xfrm flipH="false" flipV="false" rot="0">
              <a:off x="0" y="0"/>
              <a:ext cx="1183902" cy="657093"/>
            </a:xfrm>
            <a:custGeom>
              <a:avLst/>
              <a:gdLst/>
              <a:ahLst/>
              <a:cxnLst/>
              <a:rect r="r" b="b" t="t" l="l"/>
              <a:pathLst>
                <a:path h="657093" w="1183902">
                  <a:moveTo>
                    <a:pt x="40437" y="0"/>
                  </a:moveTo>
                  <a:lnTo>
                    <a:pt x="1143465" y="0"/>
                  </a:lnTo>
                  <a:cubicBezTo>
                    <a:pt x="1154189" y="0"/>
                    <a:pt x="1164475" y="4260"/>
                    <a:pt x="1172058" y="11844"/>
                  </a:cubicBezTo>
                  <a:cubicBezTo>
                    <a:pt x="1179642" y="19427"/>
                    <a:pt x="1183902" y="29713"/>
                    <a:pt x="1183902" y="40437"/>
                  </a:cubicBezTo>
                  <a:lnTo>
                    <a:pt x="1183902" y="616655"/>
                  </a:lnTo>
                  <a:cubicBezTo>
                    <a:pt x="1183902" y="627380"/>
                    <a:pt x="1179642" y="637665"/>
                    <a:pt x="1172058" y="645249"/>
                  </a:cubicBezTo>
                  <a:cubicBezTo>
                    <a:pt x="1164475" y="652832"/>
                    <a:pt x="1154189" y="657093"/>
                    <a:pt x="1143465" y="657093"/>
                  </a:cubicBezTo>
                  <a:lnTo>
                    <a:pt x="40437" y="657093"/>
                  </a:lnTo>
                  <a:cubicBezTo>
                    <a:pt x="29713" y="657093"/>
                    <a:pt x="19427" y="652832"/>
                    <a:pt x="11844" y="645249"/>
                  </a:cubicBezTo>
                  <a:cubicBezTo>
                    <a:pt x="4260" y="637665"/>
                    <a:pt x="0" y="627380"/>
                    <a:pt x="0" y="616655"/>
                  </a:cubicBezTo>
                  <a:lnTo>
                    <a:pt x="0" y="40437"/>
                  </a:lnTo>
                  <a:cubicBezTo>
                    <a:pt x="0" y="29713"/>
                    <a:pt x="4260" y="19427"/>
                    <a:pt x="11844" y="11844"/>
                  </a:cubicBezTo>
                  <a:cubicBezTo>
                    <a:pt x="19427" y="4260"/>
                    <a:pt x="29713" y="0"/>
                    <a:pt x="40437" y="0"/>
                  </a:cubicBezTo>
                  <a:close/>
                </a:path>
              </a:pathLst>
            </a:custGeom>
            <a:solidFill>
              <a:srgbClr val="C2E9E8"/>
            </a:solidFill>
          </p:spPr>
        </p:sp>
        <p:sp>
          <p:nvSpPr>
            <p:cNvPr name="TextBox 19" id="19"/>
            <p:cNvSpPr txBox="true"/>
            <p:nvPr/>
          </p:nvSpPr>
          <p:spPr>
            <a:xfrm>
              <a:off x="0" y="-38100"/>
              <a:ext cx="1183902" cy="695193"/>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1339982" y="2176634"/>
            <a:ext cx="6662924" cy="2655569"/>
          </a:xfrm>
          <a:prstGeom prst="rect">
            <a:avLst/>
          </a:prstGeom>
        </p:spPr>
        <p:txBody>
          <a:bodyPr anchor="t" rtlCol="false" tIns="0" lIns="0" bIns="0" rIns="0">
            <a:spAutoFit/>
          </a:bodyPr>
          <a:lstStyle/>
          <a:p>
            <a:pPr algn="l">
              <a:lnSpc>
                <a:spcPts val="10439"/>
              </a:lnSpc>
            </a:pPr>
            <a:r>
              <a:rPr lang="en-US" b="true" sz="8999">
                <a:solidFill>
                  <a:srgbClr val="E0751C"/>
                </a:solidFill>
                <a:latin typeface="Montserrat Bold"/>
                <a:ea typeface="Montserrat Bold"/>
                <a:cs typeface="Montserrat Bold"/>
                <a:sym typeface="Montserrat Bold"/>
              </a:rPr>
              <a:t>Business Metric</a:t>
            </a:r>
          </a:p>
        </p:txBody>
      </p:sp>
      <p:sp>
        <p:nvSpPr>
          <p:cNvPr name="TextBox 21" id="21"/>
          <p:cNvSpPr txBox="true"/>
          <p:nvPr/>
        </p:nvSpPr>
        <p:spPr>
          <a:xfrm rot="0">
            <a:off x="8301939" y="2459843"/>
            <a:ext cx="3596353" cy="2065020"/>
          </a:xfrm>
          <a:prstGeom prst="rect">
            <a:avLst/>
          </a:prstGeom>
        </p:spPr>
        <p:txBody>
          <a:bodyPr anchor="t" rtlCol="false" tIns="0" lIns="0" bIns="0" rIns="0">
            <a:spAutoFit/>
          </a:bodyPr>
          <a:lstStyle/>
          <a:p>
            <a:pPr algn="l">
              <a:lnSpc>
                <a:spcPts val="3360"/>
              </a:lnSpc>
            </a:pPr>
            <a:r>
              <a:rPr lang="en-US" b="true" sz="2100">
                <a:solidFill>
                  <a:srgbClr val="004A55"/>
                </a:solidFill>
                <a:latin typeface="Montserrat Bold"/>
                <a:ea typeface="Montserrat Bold"/>
                <a:cs typeface="Montserrat Bold"/>
                <a:sym typeface="Montserrat Bold"/>
              </a:rPr>
              <a:t>Sales Performance</a:t>
            </a:r>
          </a:p>
          <a:p>
            <a:pPr algn="l">
              <a:lnSpc>
                <a:spcPts val="3360"/>
              </a:lnSpc>
            </a:pPr>
            <a:r>
              <a:rPr lang="en-US" sz="2100">
                <a:solidFill>
                  <a:srgbClr val="004A55"/>
                </a:solidFill>
                <a:latin typeface="Montserrat"/>
                <a:ea typeface="Montserrat"/>
                <a:cs typeface="Montserrat"/>
                <a:sym typeface="Montserrat"/>
              </a:rPr>
              <a:t>Peningkatan dan Prediksi Penjualan</a:t>
            </a:r>
          </a:p>
          <a:p>
            <a:pPr algn="l" marL="0" indent="0" lvl="0">
              <a:lnSpc>
                <a:spcPts val="3360"/>
              </a:lnSpc>
            </a:pPr>
            <a:r>
              <a:rPr lang="en-US" sz="2100">
                <a:solidFill>
                  <a:srgbClr val="004A55"/>
                </a:solidFill>
                <a:latin typeface="Montserrat"/>
                <a:ea typeface="Montserrat"/>
                <a:cs typeface="Montserrat"/>
                <a:sym typeface="Montserrat"/>
              </a:rPr>
              <a:t> ⟶ Sales, Customers, Promo, Store</a:t>
            </a:r>
          </a:p>
        </p:txBody>
      </p:sp>
      <p:sp>
        <p:nvSpPr>
          <p:cNvPr name="TextBox 22" id="22"/>
          <p:cNvSpPr txBox="true"/>
          <p:nvPr/>
        </p:nvSpPr>
        <p:spPr>
          <a:xfrm rot="0">
            <a:off x="7508893" y="6070998"/>
            <a:ext cx="3837338" cy="1226820"/>
          </a:xfrm>
          <a:prstGeom prst="rect">
            <a:avLst/>
          </a:prstGeom>
        </p:spPr>
        <p:txBody>
          <a:bodyPr anchor="t" rtlCol="false" tIns="0" lIns="0" bIns="0" rIns="0">
            <a:spAutoFit/>
          </a:bodyPr>
          <a:lstStyle/>
          <a:p>
            <a:pPr algn="l">
              <a:lnSpc>
                <a:spcPts val="3360"/>
              </a:lnSpc>
            </a:pPr>
            <a:r>
              <a:rPr lang="en-US" b="true" sz="2100">
                <a:solidFill>
                  <a:srgbClr val="004A55"/>
                </a:solidFill>
                <a:latin typeface="Montserrat Bold"/>
                <a:ea typeface="Montserrat Bold"/>
                <a:cs typeface="Montserrat Bold"/>
                <a:sym typeface="Montserrat Bold"/>
              </a:rPr>
              <a:t>Promotion Effectiveness</a:t>
            </a:r>
          </a:p>
          <a:p>
            <a:pPr algn="l">
              <a:lnSpc>
                <a:spcPts val="3360"/>
              </a:lnSpc>
            </a:pPr>
            <a:r>
              <a:rPr lang="en-US" sz="2100">
                <a:solidFill>
                  <a:srgbClr val="004A55"/>
                </a:solidFill>
                <a:latin typeface="Montserrat"/>
                <a:ea typeface="Montserrat"/>
                <a:cs typeface="Montserrat"/>
                <a:sym typeface="Montserrat"/>
              </a:rPr>
              <a:t>Analisis Efektivitas Promosi</a:t>
            </a:r>
          </a:p>
          <a:p>
            <a:pPr algn="l" marL="0" indent="0" lvl="0">
              <a:lnSpc>
                <a:spcPts val="3360"/>
              </a:lnSpc>
            </a:pPr>
            <a:r>
              <a:rPr lang="en-US" sz="2100">
                <a:solidFill>
                  <a:srgbClr val="004A55"/>
                </a:solidFill>
                <a:latin typeface="Montserrat"/>
                <a:ea typeface="Montserrat"/>
                <a:cs typeface="Montserrat"/>
                <a:sym typeface="Montserrat"/>
              </a:rPr>
              <a:t> ⟶ Promo, Sales, Customers</a:t>
            </a:r>
          </a:p>
        </p:txBody>
      </p:sp>
      <p:sp>
        <p:nvSpPr>
          <p:cNvPr name="TextBox 23" id="23"/>
          <p:cNvSpPr txBox="true"/>
          <p:nvPr/>
        </p:nvSpPr>
        <p:spPr>
          <a:xfrm rot="0">
            <a:off x="12996335" y="2414758"/>
            <a:ext cx="3596353" cy="2065020"/>
          </a:xfrm>
          <a:prstGeom prst="rect">
            <a:avLst/>
          </a:prstGeom>
        </p:spPr>
        <p:txBody>
          <a:bodyPr anchor="t" rtlCol="false" tIns="0" lIns="0" bIns="0" rIns="0">
            <a:spAutoFit/>
          </a:bodyPr>
          <a:lstStyle/>
          <a:p>
            <a:pPr algn="l">
              <a:lnSpc>
                <a:spcPts val="3360"/>
              </a:lnSpc>
            </a:pPr>
            <a:r>
              <a:rPr lang="en-US" b="true" sz="2100">
                <a:solidFill>
                  <a:srgbClr val="004A55"/>
                </a:solidFill>
                <a:latin typeface="Montserrat Bold"/>
                <a:ea typeface="Montserrat Bold"/>
                <a:cs typeface="Montserrat Bold"/>
                <a:sym typeface="Montserrat Bold"/>
              </a:rPr>
              <a:t>Store Performance</a:t>
            </a:r>
          </a:p>
          <a:p>
            <a:pPr algn="l">
              <a:lnSpc>
                <a:spcPts val="3360"/>
              </a:lnSpc>
            </a:pPr>
            <a:r>
              <a:rPr lang="en-US" sz="2100">
                <a:solidFill>
                  <a:srgbClr val="004A55"/>
                </a:solidFill>
                <a:latin typeface="Montserrat"/>
                <a:ea typeface="Montserrat"/>
                <a:cs typeface="Montserrat"/>
                <a:sym typeface="Montserrat"/>
              </a:rPr>
              <a:t>Evaluasi Kinerja Toko</a:t>
            </a:r>
          </a:p>
          <a:p>
            <a:pPr algn="l" marL="0" indent="0" lvl="0">
              <a:lnSpc>
                <a:spcPts val="3360"/>
              </a:lnSpc>
            </a:pPr>
            <a:r>
              <a:rPr lang="en-US" sz="2100">
                <a:solidFill>
                  <a:srgbClr val="004A55"/>
                </a:solidFill>
                <a:latin typeface="Montserrat"/>
                <a:ea typeface="Montserrat"/>
                <a:cs typeface="Montserrat"/>
                <a:sym typeface="Montserrat"/>
              </a:rPr>
              <a:t> ⟶ Store, Total Sales, Total Customers, Store Avg Sales</a:t>
            </a:r>
          </a:p>
        </p:txBody>
      </p:sp>
      <p:sp>
        <p:nvSpPr>
          <p:cNvPr name="TextBox 24" id="24"/>
          <p:cNvSpPr txBox="true"/>
          <p:nvPr/>
        </p:nvSpPr>
        <p:spPr>
          <a:xfrm rot="0">
            <a:off x="12229119" y="5651898"/>
            <a:ext cx="4501810" cy="2065020"/>
          </a:xfrm>
          <a:prstGeom prst="rect">
            <a:avLst/>
          </a:prstGeom>
        </p:spPr>
        <p:txBody>
          <a:bodyPr anchor="t" rtlCol="false" tIns="0" lIns="0" bIns="0" rIns="0">
            <a:spAutoFit/>
          </a:bodyPr>
          <a:lstStyle/>
          <a:p>
            <a:pPr algn="l">
              <a:lnSpc>
                <a:spcPts val="3360"/>
              </a:lnSpc>
            </a:pPr>
            <a:r>
              <a:rPr lang="en-US" b="true" sz="2100">
                <a:solidFill>
                  <a:srgbClr val="004A55"/>
                </a:solidFill>
                <a:latin typeface="Montserrat Bold"/>
                <a:ea typeface="Montserrat Bold"/>
                <a:cs typeface="Montserrat Bold"/>
                <a:sym typeface="Montserrat Bold"/>
              </a:rPr>
              <a:t>Customer Analysis</a:t>
            </a:r>
          </a:p>
          <a:p>
            <a:pPr algn="l">
              <a:lnSpc>
                <a:spcPts val="3360"/>
              </a:lnSpc>
            </a:pPr>
            <a:r>
              <a:rPr lang="en-US" sz="2100">
                <a:solidFill>
                  <a:srgbClr val="004A55"/>
                </a:solidFill>
                <a:latin typeface="Montserrat"/>
                <a:ea typeface="Montserrat"/>
                <a:cs typeface="Montserrat"/>
                <a:sym typeface="Montserrat"/>
              </a:rPr>
              <a:t>A</a:t>
            </a:r>
            <a:r>
              <a:rPr lang="en-US" sz="2100">
                <a:solidFill>
                  <a:srgbClr val="004A55"/>
                </a:solidFill>
                <a:latin typeface="Montserrat"/>
                <a:ea typeface="Montserrat"/>
                <a:cs typeface="Montserrat"/>
                <a:sym typeface="Montserrat"/>
              </a:rPr>
              <a:t>nalisis Perilaku Pelanggan</a:t>
            </a:r>
          </a:p>
          <a:p>
            <a:pPr algn="l" marL="0" indent="0" lvl="0">
              <a:lnSpc>
                <a:spcPts val="3360"/>
              </a:lnSpc>
            </a:pPr>
            <a:r>
              <a:rPr lang="en-US" sz="2100">
                <a:solidFill>
                  <a:srgbClr val="004A55"/>
                </a:solidFill>
                <a:latin typeface="Montserrat"/>
                <a:ea typeface="Montserrat"/>
                <a:cs typeface="Montserrat"/>
                <a:sym typeface="Montserrat"/>
              </a:rPr>
              <a:t> ⟶ Customers, Customer Ratio, Store Avg Customer, Sales per Customer</a:t>
            </a:r>
          </a:p>
        </p:txBody>
      </p:sp>
      <p:grpSp>
        <p:nvGrpSpPr>
          <p:cNvPr name="Group 25" id="25"/>
          <p:cNvGrpSpPr/>
          <p:nvPr/>
        </p:nvGrpSpPr>
        <p:grpSpPr>
          <a:xfrm rot="0">
            <a:off x="1339982" y="5405950"/>
            <a:ext cx="5616027" cy="2731664"/>
            <a:chOff x="0" y="0"/>
            <a:chExt cx="1350916" cy="657093"/>
          </a:xfrm>
        </p:grpSpPr>
        <p:sp>
          <p:nvSpPr>
            <p:cNvPr name="Freeform 26" id="26"/>
            <p:cNvSpPr/>
            <p:nvPr/>
          </p:nvSpPr>
          <p:spPr>
            <a:xfrm flipH="false" flipV="false" rot="0">
              <a:off x="0" y="0"/>
              <a:ext cx="1350916" cy="657093"/>
            </a:xfrm>
            <a:custGeom>
              <a:avLst/>
              <a:gdLst/>
              <a:ahLst/>
              <a:cxnLst/>
              <a:rect r="r" b="b" t="t" l="l"/>
              <a:pathLst>
                <a:path h="657093" w="1350916">
                  <a:moveTo>
                    <a:pt x="37221" y="0"/>
                  </a:moveTo>
                  <a:lnTo>
                    <a:pt x="1313696" y="0"/>
                  </a:lnTo>
                  <a:cubicBezTo>
                    <a:pt x="1323567" y="0"/>
                    <a:pt x="1333035" y="3921"/>
                    <a:pt x="1340015" y="10902"/>
                  </a:cubicBezTo>
                  <a:cubicBezTo>
                    <a:pt x="1346995" y="17882"/>
                    <a:pt x="1350916" y="27349"/>
                    <a:pt x="1350916" y="37221"/>
                  </a:cubicBezTo>
                  <a:lnTo>
                    <a:pt x="1350916" y="619872"/>
                  </a:lnTo>
                  <a:cubicBezTo>
                    <a:pt x="1350916" y="629743"/>
                    <a:pt x="1346995" y="639211"/>
                    <a:pt x="1340015" y="646191"/>
                  </a:cubicBezTo>
                  <a:cubicBezTo>
                    <a:pt x="1333035" y="653171"/>
                    <a:pt x="1323567" y="657093"/>
                    <a:pt x="1313696" y="657093"/>
                  </a:cubicBezTo>
                  <a:lnTo>
                    <a:pt x="37221" y="657093"/>
                  </a:lnTo>
                  <a:cubicBezTo>
                    <a:pt x="27349" y="657093"/>
                    <a:pt x="17882" y="653171"/>
                    <a:pt x="10902" y="646191"/>
                  </a:cubicBezTo>
                  <a:cubicBezTo>
                    <a:pt x="3921" y="639211"/>
                    <a:pt x="0" y="629743"/>
                    <a:pt x="0" y="619872"/>
                  </a:cubicBezTo>
                  <a:lnTo>
                    <a:pt x="0" y="37221"/>
                  </a:lnTo>
                  <a:cubicBezTo>
                    <a:pt x="0" y="27349"/>
                    <a:pt x="3921" y="17882"/>
                    <a:pt x="10902" y="10902"/>
                  </a:cubicBezTo>
                  <a:cubicBezTo>
                    <a:pt x="17882" y="3921"/>
                    <a:pt x="27349" y="0"/>
                    <a:pt x="37221" y="0"/>
                  </a:cubicBezTo>
                  <a:close/>
                </a:path>
              </a:pathLst>
            </a:custGeom>
            <a:solidFill>
              <a:srgbClr val="C2E9E8"/>
            </a:solidFill>
          </p:spPr>
        </p:sp>
        <p:sp>
          <p:nvSpPr>
            <p:cNvPr name="TextBox 27" id="27"/>
            <p:cNvSpPr txBox="true"/>
            <p:nvPr/>
          </p:nvSpPr>
          <p:spPr>
            <a:xfrm>
              <a:off x="0" y="-38100"/>
              <a:ext cx="1350916" cy="695193"/>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1606769" y="5651898"/>
            <a:ext cx="5082452" cy="2065020"/>
          </a:xfrm>
          <a:prstGeom prst="rect">
            <a:avLst/>
          </a:prstGeom>
        </p:spPr>
        <p:txBody>
          <a:bodyPr anchor="t" rtlCol="false" tIns="0" lIns="0" bIns="0" rIns="0">
            <a:spAutoFit/>
          </a:bodyPr>
          <a:lstStyle/>
          <a:p>
            <a:pPr algn="l">
              <a:lnSpc>
                <a:spcPts val="3360"/>
              </a:lnSpc>
            </a:pPr>
            <a:r>
              <a:rPr lang="en-US" b="true" sz="2100">
                <a:solidFill>
                  <a:srgbClr val="004A55"/>
                </a:solidFill>
                <a:latin typeface="Montserrat Bold"/>
                <a:ea typeface="Montserrat Bold"/>
                <a:cs typeface="Montserrat Bold"/>
                <a:sym typeface="Montserrat Bold"/>
              </a:rPr>
              <a:t>Seasonal &amp; Time Analysis</a:t>
            </a:r>
          </a:p>
          <a:p>
            <a:pPr algn="l">
              <a:lnSpc>
                <a:spcPts val="3360"/>
              </a:lnSpc>
            </a:pPr>
            <a:r>
              <a:rPr lang="en-US" sz="2100">
                <a:solidFill>
                  <a:srgbClr val="004A55"/>
                </a:solidFill>
                <a:latin typeface="Montserrat"/>
                <a:ea typeface="Montserrat"/>
                <a:cs typeface="Montserrat"/>
                <a:sym typeface="Montserrat"/>
              </a:rPr>
              <a:t>Pola Penjualan Berdasarkan Waktu</a:t>
            </a:r>
          </a:p>
          <a:p>
            <a:pPr algn="l" marL="0" indent="0" lvl="0">
              <a:lnSpc>
                <a:spcPts val="3360"/>
              </a:lnSpc>
            </a:pPr>
            <a:r>
              <a:rPr lang="en-US" sz="2100">
                <a:solidFill>
                  <a:srgbClr val="004A55"/>
                </a:solidFill>
                <a:latin typeface="Montserrat"/>
                <a:ea typeface="Montserrat"/>
                <a:cs typeface="Montserrat"/>
                <a:sym typeface="Montserrat"/>
              </a:rPr>
              <a:t> ⟶ DayOfWeek, Month, Quarter, Holiday, Weekend, Payday Period, Event Harbolnas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0" y="7639433"/>
            <a:ext cx="18288000" cy="2676937"/>
            <a:chOff x="0" y="0"/>
            <a:chExt cx="4816593" cy="705037"/>
          </a:xfrm>
        </p:grpSpPr>
        <p:sp>
          <p:nvSpPr>
            <p:cNvPr name="Freeform 3" id="3"/>
            <p:cNvSpPr/>
            <p:nvPr/>
          </p:nvSpPr>
          <p:spPr>
            <a:xfrm flipH="false" flipV="false" rot="0">
              <a:off x="0" y="0"/>
              <a:ext cx="4816592" cy="705037"/>
            </a:xfrm>
            <a:custGeom>
              <a:avLst/>
              <a:gdLst/>
              <a:ahLst/>
              <a:cxnLst/>
              <a:rect r="r" b="b" t="t" l="l"/>
              <a:pathLst>
                <a:path h="705037" w="4816592">
                  <a:moveTo>
                    <a:pt x="0" y="0"/>
                  </a:moveTo>
                  <a:lnTo>
                    <a:pt x="4816592" y="0"/>
                  </a:lnTo>
                  <a:lnTo>
                    <a:pt x="4816592" y="705037"/>
                  </a:lnTo>
                  <a:lnTo>
                    <a:pt x="0" y="705037"/>
                  </a:lnTo>
                  <a:close/>
                </a:path>
              </a:pathLst>
            </a:custGeom>
            <a:solidFill>
              <a:srgbClr val="C2E9E8"/>
            </a:solidFill>
          </p:spPr>
        </p:sp>
        <p:sp>
          <p:nvSpPr>
            <p:cNvPr name="TextBox 4" id="4"/>
            <p:cNvSpPr txBox="true"/>
            <p:nvPr/>
          </p:nvSpPr>
          <p:spPr>
            <a:xfrm>
              <a:off x="0" y="-47625"/>
              <a:ext cx="4816593" cy="752662"/>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256205" y="1796162"/>
            <a:ext cx="14194690" cy="7113776"/>
            <a:chOff x="0" y="0"/>
            <a:chExt cx="3738519" cy="1873587"/>
          </a:xfrm>
        </p:grpSpPr>
        <p:sp>
          <p:nvSpPr>
            <p:cNvPr name="Freeform 6" id="6"/>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FF9038"/>
            </a:solidFill>
          </p:spPr>
        </p:sp>
        <p:sp>
          <p:nvSpPr>
            <p:cNvPr name="TextBox 7" id="7"/>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2046655" y="1586612"/>
            <a:ext cx="14194690" cy="7113776"/>
            <a:chOff x="0" y="0"/>
            <a:chExt cx="3738519" cy="1873587"/>
          </a:xfrm>
        </p:grpSpPr>
        <p:sp>
          <p:nvSpPr>
            <p:cNvPr name="Freeform 9" id="9"/>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155661"/>
            </a:solidFill>
          </p:spPr>
        </p:sp>
        <p:sp>
          <p:nvSpPr>
            <p:cNvPr name="TextBox 10" id="10"/>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689942" y="66015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4884631" y="714624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610197" y="3782598"/>
            <a:ext cx="8702189" cy="3150428"/>
          </a:xfrm>
          <a:prstGeom prst="rect">
            <a:avLst/>
          </a:prstGeom>
        </p:spPr>
        <p:txBody>
          <a:bodyPr anchor="t" rtlCol="false" tIns="0" lIns="0" bIns="0" rIns="0">
            <a:spAutoFit/>
          </a:bodyPr>
          <a:lstStyle/>
          <a:p>
            <a:pPr algn="ctr" marL="0" indent="0" lvl="0">
              <a:lnSpc>
                <a:spcPts val="12494"/>
              </a:lnSpc>
            </a:pPr>
            <a:r>
              <a:rPr lang="en-US" b="true" sz="10412">
                <a:solidFill>
                  <a:srgbClr val="F9F7F4"/>
                </a:solidFill>
                <a:latin typeface="Montserrat Bold"/>
                <a:ea typeface="Montserrat Bold"/>
                <a:cs typeface="Montserrat Bold"/>
                <a:sym typeface="Montserrat Bold"/>
              </a:rPr>
              <a:t>Visualisasi dan Insight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52546"/>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5" id="15"/>
          <p:cNvSpPr txBox="true"/>
          <p:nvPr/>
        </p:nvSpPr>
        <p:spPr>
          <a:xfrm rot="0">
            <a:off x="6005589" y="8264994"/>
            <a:ext cx="11679633" cy="1330708"/>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hlinkClick r:id="rId2" tooltip="https://github.com/apiipp-co/BLKPP-DIY-Data-Analyst-Science-Training/tree/main/Mini%20Project%202_DVD%20Rental%20Data%20Analysis%20Project"/>
              </a:rPr>
              <a:t>Sales menunjukkan tren penurunan dari tahun ke tahun yang sejalan dengan berkurangnya jumlah customer. Hal ini mengindikasikan bahwa penurunan pelanggan menjadi salah satu faktor utama yang memengaruhi kinerja penjualan perusahaan.</a:t>
            </a:r>
          </a:p>
        </p:txBody>
      </p:sp>
      <p:sp>
        <p:nvSpPr>
          <p:cNvPr name="TextBox 16" id="16"/>
          <p:cNvSpPr txBox="true"/>
          <p:nvPr/>
        </p:nvSpPr>
        <p:spPr>
          <a:xfrm rot="0">
            <a:off x="5431954" y="722067"/>
            <a:ext cx="7424092" cy="936952"/>
          </a:xfrm>
          <a:prstGeom prst="rect">
            <a:avLst/>
          </a:prstGeom>
        </p:spPr>
        <p:txBody>
          <a:bodyPr anchor="t" rtlCol="false" tIns="0" lIns="0" bIns="0" rIns="0">
            <a:spAutoFit/>
          </a:bodyPr>
          <a:lstStyle/>
          <a:p>
            <a:pPr algn="ctr">
              <a:lnSpc>
                <a:spcPts val="7324"/>
              </a:lnSpc>
            </a:pPr>
            <a:r>
              <a:rPr lang="en-US" b="true" sz="6314">
                <a:solidFill>
                  <a:srgbClr val="004A55"/>
                </a:solidFill>
                <a:latin typeface="Montserrat Bold"/>
                <a:ea typeface="Montserrat Bold"/>
                <a:cs typeface="Montserrat Bold"/>
                <a:sym typeface="Montserrat Bold"/>
              </a:rPr>
              <a:t>Tren Penjualan</a:t>
            </a:r>
          </a:p>
        </p:txBody>
      </p:sp>
      <p:sp>
        <p:nvSpPr>
          <p:cNvPr name="Freeform 17" id="17"/>
          <p:cNvSpPr/>
          <p:nvPr/>
        </p:nvSpPr>
        <p:spPr>
          <a:xfrm flipH="false" flipV="false" rot="0">
            <a:off x="9322706" y="2200673"/>
            <a:ext cx="8362516" cy="4265441"/>
          </a:xfrm>
          <a:custGeom>
            <a:avLst/>
            <a:gdLst/>
            <a:ahLst/>
            <a:cxnLst/>
            <a:rect r="r" b="b" t="t" l="l"/>
            <a:pathLst>
              <a:path h="4265441" w="8362516">
                <a:moveTo>
                  <a:pt x="0" y="0"/>
                </a:moveTo>
                <a:lnTo>
                  <a:pt x="8362516" y="0"/>
                </a:lnTo>
                <a:lnTo>
                  <a:pt x="8362516" y="4265441"/>
                </a:lnTo>
                <a:lnTo>
                  <a:pt x="0" y="4265441"/>
                </a:lnTo>
                <a:lnTo>
                  <a:pt x="0" y="0"/>
                </a:lnTo>
                <a:close/>
              </a:path>
            </a:pathLst>
          </a:custGeom>
          <a:blipFill>
            <a:blip r:embed="rId3"/>
            <a:stretch>
              <a:fillRect l="0" t="0" r="0" b="-13710"/>
            </a:stretch>
          </a:blipFill>
          <a:ln w="9525" cap="sq">
            <a:solidFill>
              <a:srgbClr val="000000"/>
            </a:solidFill>
            <a:prstDash val="solid"/>
            <a:miter/>
          </a:ln>
        </p:spPr>
      </p:sp>
      <p:sp>
        <p:nvSpPr>
          <p:cNvPr name="Freeform 18" id="18"/>
          <p:cNvSpPr/>
          <p:nvPr/>
        </p:nvSpPr>
        <p:spPr>
          <a:xfrm flipH="false" flipV="false" rot="0">
            <a:off x="1295400" y="2200673"/>
            <a:ext cx="7848600" cy="4310218"/>
          </a:xfrm>
          <a:custGeom>
            <a:avLst/>
            <a:gdLst/>
            <a:ahLst/>
            <a:cxnLst/>
            <a:rect r="r" b="b" t="t" l="l"/>
            <a:pathLst>
              <a:path h="4310218" w="7848600">
                <a:moveTo>
                  <a:pt x="0" y="0"/>
                </a:moveTo>
                <a:lnTo>
                  <a:pt x="7848600" y="0"/>
                </a:lnTo>
                <a:lnTo>
                  <a:pt x="7848600" y="4310218"/>
                </a:lnTo>
                <a:lnTo>
                  <a:pt x="0" y="4310218"/>
                </a:lnTo>
                <a:lnTo>
                  <a:pt x="0" y="0"/>
                </a:lnTo>
                <a:close/>
              </a:path>
            </a:pathLst>
          </a:custGeom>
          <a:blipFill>
            <a:blip r:embed="rId4"/>
            <a:stretch>
              <a:fillRect l="0" t="0" r="0" b="-15856"/>
            </a:stretch>
          </a:blipFill>
          <a:ln w="9525" cap="sq">
            <a:solidFill>
              <a:srgbClr val="000000"/>
            </a:solid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789916" y="7052546"/>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5" id="15"/>
          <p:cNvSpPr txBox="true"/>
          <p:nvPr/>
        </p:nvSpPr>
        <p:spPr>
          <a:xfrm rot="0">
            <a:off x="6005589" y="8264994"/>
            <a:ext cx="11679633" cy="1313246"/>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rPr>
              <a:t>Penjualan menunjukkan pola yang fluktuatif sepanjang tahun, dengan beberapa bulan mengalami peningkatan signifikan dan beberapa bulan lainnya mengalami penurunan. Hal ini mengindikasikan bahwa penjualan dipengaruhi oleh faktor musiman</a:t>
            </a:r>
          </a:p>
        </p:txBody>
      </p:sp>
      <p:sp>
        <p:nvSpPr>
          <p:cNvPr name="Freeform 16" id="16"/>
          <p:cNvSpPr/>
          <p:nvPr/>
        </p:nvSpPr>
        <p:spPr>
          <a:xfrm flipH="false" flipV="false" rot="0">
            <a:off x="10017319" y="2106693"/>
            <a:ext cx="7909451" cy="4493661"/>
          </a:xfrm>
          <a:custGeom>
            <a:avLst/>
            <a:gdLst/>
            <a:ahLst/>
            <a:cxnLst/>
            <a:rect r="r" b="b" t="t" l="l"/>
            <a:pathLst>
              <a:path h="4493661" w="7909451">
                <a:moveTo>
                  <a:pt x="0" y="0"/>
                </a:moveTo>
                <a:lnTo>
                  <a:pt x="7909451" y="0"/>
                </a:lnTo>
                <a:lnTo>
                  <a:pt x="7909451" y="4493662"/>
                </a:lnTo>
                <a:lnTo>
                  <a:pt x="0" y="4493662"/>
                </a:lnTo>
                <a:lnTo>
                  <a:pt x="0" y="0"/>
                </a:lnTo>
                <a:close/>
              </a:path>
            </a:pathLst>
          </a:custGeom>
          <a:blipFill>
            <a:blip r:embed="rId2"/>
            <a:stretch>
              <a:fillRect l="0" t="0" r="0" b="-11988"/>
            </a:stretch>
          </a:blipFill>
          <a:ln w="9525" cap="sq">
            <a:solidFill>
              <a:srgbClr val="000000"/>
            </a:solidFill>
            <a:prstDash val="solid"/>
            <a:miter/>
          </a:ln>
        </p:spPr>
      </p:sp>
      <p:sp>
        <p:nvSpPr>
          <p:cNvPr name="Freeform 17" id="17"/>
          <p:cNvSpPr/>
          <p:nvPr/>
        </p:nvSpPr>
        <p:spPr>
          <a:xfrm flipH="false" flipV="false" rot="0">
            <a:off x="1476775" y="2106693"/>
            <a:ext cx="8096229" cy="4493661"/>
          </a:xfrm>
          <a:custGeom>
            <a:avLst/>
            <a:gdLst/>
            <a:ahLst/>
            <a:cxnLst/>
            <a:rect r="r" b="b" t="t" l="l"/>
            <a:pathLst>
              <a:path h="4493661" w="8096229">
                <a:moveTo>
                  <a:pt x="0" y="0"/>
                </a:moveTo>
                <a:lnTo>
                  <a:pt x="8096228" y="0"/>
                </a:lnTo>
                <a:lnTo>
                  <a:pt x="8096228" y="4493662"/>
                </a:lnTo>
                <a:lnTo>
                  <a:pt x="0" y="4493662"/>
                </a:lnTo>
                <a:lnTo>
                  <a:pt x="0" y="0"/>
                </a:lnTo>
                <a:close/>
              </a:path>
            </a:pathLst>
          </a:custGeom>
          <a:blipFill>
            <a:blip r:embed="rId3"/>
            <a:stretch>
              <a:fillRect l="0" t="0" r="0" b="-14633"/>
            </a:stretch>
          </a:blipFill>
          <a:ln w="9525" cap="sq">
            <a:solidFill>
              <a:srgbClr val="000000"/>
            </a:solidFill>
            <a:prstDash val="solid"/>
            <a:miter/>
          </a:ln>
        </p:spPr>
      </p:sp>
      <p:sp>
        <p:nvSpPr>
          <p:cNvPr name="TextBox 18" id="18"/>
          <p:cNvSpPr txBox="true"/>
          <p:nvPr/>
        </p:nvSpPr>
        <p:spPr>
          <a:xfrm rot="0">
            <a:off x="5431954" y="722067"/>
            <a:ext cx="7424092" cy="936952"/>
          </a:xfrm>
          <a:prstGeom prst="rect">
            <a:avLst/>
          </a:prstGeom>
        </p:spPr>
        <p:txBody>
          <a:bodyPr anchor="t" rtlCol="false" tIns="0" lIns="0" bIns="0" rIns="0">
            <a:spAutoFit/>
          </a:bodyPr>
          <a:lstStyle/>
          <a:p>
            <a:pPr algn="ctr">
              <a:lnSpc>
                <a:spcPts val="7324"/>
              </a:lnSpc>
            </a:pPr>
            <a:r>
              <a:rPr lang="en-US" b="true" sz="6314">
                <a:solidFill>
                  <a:srgbClr val="004A55"/>
                </a:solidFill>
                <a:latin typeface="Montserrat Bold"/>
                <a:ea typeface="Montserrat Bold"/>
                <a:cs typeface="Montserrat Bold"/>
                <a:sym typeface="Montserrat Bold"/>
              </a:rPr>
              <a:t>Tren Penjualan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617788" y="-711780"/>
            <a:ext cx="11283024" cy="4699070"/>
            <a:chOff x="0" y="0"/>
            <a:chExt cx="1463722" cy="609600"/>
          </a:xfrm>
        </p:grpSpPr>
        <p:sp>
          <p:nvSpPr>
            <p:cNvPr name="Freeform 6" id="6"/>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7" id="7"/>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8232808" y="7428014"/>
            <a:ext cx="18887322" cy="3935257"/>
            <a:chOff x="0" y="0"/>
            <a:chExt cx="2925784" cy="609600"/>
          </a:xfrm>
        </p:grpSpPr>
        <p:sp>
          <p:nvSpPr>
            <p:cNvPr name="Freeform 9" id="9"/>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10" id="10"/>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8833540" y="2448907"/>
            <a:ext cx="8153662" cy="4588582"/>
          </a:xfrm>
          <a:custGeom>
            <a:avLst/>
            <a:gdLst/>
            <a:ahLst/>
            <a:cxnLst/>
            <a:rect r="r" b="b" t="t" l="l"/>
            <a:pathLst>
              <a:path h="4588582" w="8153662">
                <a:moveTo>
                  <a:pt x="0" y="0"/>
                </a:moveTo>
                <a:lnTo>
                  <a:pt x="8153662" y="0"/>
                </a:lnTo>
                <a:lnTo>
                  <a:pt x="8153662" y="4588582"/>
                </a:lnTo>
                <a:lnTo>
                  <a:pt x="0" y="4588582"/>
                </a:lnTo>
                <a:lnTo>
                  <a:pt x="0" y="0"/>
                </a:lnTo>
                <a:close/>
              </a:path>
            </a:pathLst>
          </a:custGeom>
          <a:blipFill>
            <a:blip r:embed="rId2"/>
            <a:stretch>
              <a:fillRect l="-1994" t="-3543" r="-2326" b="-3740"/>
            </a:stretch>
          </a:blipFill>
          <a:ln w="9525" cap="sq">
            <a:solidFill>
              <a:srgbClr val="000000"/>
            </a:solidFill>
            <a:prstDash val="solid"/>
            <a:miter/>
          </a:ln>
        </p:spPr>
      </p:sp>
      <p:sp>
        <p:nvSpPr>
          <p:cNvPr name="Freeform 12" id="12"/>
          <p:cNvSpPr/>
          <p:nvPr/>
        </p:nvSpPr>
        <p:spPr>
          <a:xfrm flipH="false" flipV="false" rot="0">
            <a:off x="666809" y="1028700"/>
            <a:ext cx="7416617" cy="4286805"/>
          </a:xfrm>
          <a:custGeom>
            <a:avLst/>
            <a:gdLst/>
            <a:ahLst/>
            <a:cxnLst/>
            <a:rect r="r" b="b" t="t" l="l"/>
            <a:pathLst>
              <a:path h="4286805" w="7416617">
                <a:moveTo>
                  <a:pt x="0" y="0"/>
                </a:moveTo>
                <a:lnTo>
                  <a:pt x="7416617" y="0"/>
                </a:lnTo>
                <a:lnTo>
                  <a:pt x="7416617" y="4286805"/>
                </a:lnTo>
                <a:lnTo>
                  <a:pt x="0" y="4286805"/>
                </a:lnTo>
                <a:lnTo>
                  <a:pt x="0" y="0"/>
                </a:lnTo>
                <a:close/>
              </a:path>
            </a:pathLst>
          </a:custGeom>
          <a:blipFill>
            <a:blip r:embed="rId3"/>
            <a:stretch>
              <a:fillRect l="0" t="0" r="0" b="-10077"/>
            </a:stretch>
          </a:blipFill>
          <a:ln w="9525" cap="sq">
            <a:solidFill>
              <a:srgbClr val="000000"/>
            </a:solidFill>
            <a:prstDash val="solid"/>
            <a:miter/>
          </a:ln>
        </p:spPr>
      </p:sp>
      <p:sp>
        <p:nvSpPr>
          <p:cNvPr name="Freeform 13" id="13"/>
          <p:cNvSpPr/>
          <p:nvPr/>
        </p:nvSpPr>
        <p:spPr>
          <a:xfrm flipH="false" flipV="false" rot="0">
            <a:off x="601323" y="5587072"/>
            <a:ext cx="7482103" cy="4198946"/>
          </a:xfrm>
          <a:custGeom>
            <a:avLst/>
            <a:gdLst/>
            <a:ahLst/>
            <a:cxnLst/>
            <a:rect r="r" b="b" t="t" l="l"/>
            <a:pathLst>
              <a:path h="4198946" w="7482103">
                <a:moveTo>
                  <a:pt x="0" y="0"/>
                </a:moveTo>
                <a:lnTo>
                  <a:pt x="7482103" y="0"/>
                </a:lnTo>
                <a:lnTo>
                  <a:pt x="7482103" y="4198946"/>
                </a:lnTo>
                <a:lnTo>
                  <a:pt x="0" y="4198946"/>
                </a:lnTo>
                <a:lnTo>
                  <a:pt x="0" y="0"/>
                </a:lnTo>
                <a:close/>
              </a:path>
            </a:pathLst>
          </a:custGeom>
          <a:blipFill>
            <a:blip r:embed="rId4"/>
            <a:stretch>
              <a:fillRect l="0" t="0" r="0" b="-13373"/>
            </a:stretch>
          </a:blipFill>
          <a:ln w="9525" cap="sq">
            <a:solidFill>
              <a:srgbClr val="000000"/>
            </a:solidFill>
            <a:prstDash val="solid"/>
            <a:miter/>
          </a:ln>
        </p:spPr>
      </p:sp>
      <p:sp>
        <p:nvSpPr>
          <p:cNvPr name="TextBox 14" id="14"/>
          <p:cNvSpPr txBox="true"/>
          <p:nvPr/>
        </p:nvSpPr>
        <p:spPr>
          <a:xfrm rot="0">
            <a:off x="9144000" y="895732"/>
            <a:ext cx="7497065" cy="1163320"/>
          </a:xfrm>
          <a:prstGeom prst="rect">
            <a:avLst/>
          </a:prstGeom>
        </p:spPr>
        <p:txBody>
          <a:bodyPr anchor="t" rtlCol="false" tIns="0" lIns="0" bIns="0" rIns="0">
            <a:spAutoFit/>
          </a:bodyPr>
          <a:lstStyle/>
          <a:p>
            <a:pPr algn="ctr">
              <a:lnSpc>
                <a:spcPts val="4639"/>
              </a:lnSpc>
            </a:pPr>
            <a:r>
              <a:rPr lang="en-US" b="true" sz="3999">
                <a:solidFill>
                  <a:srgbClr val="004A55"/>
                </a:solidFill>
                <a:latin typeface="Montserrat Bold"/>
                <a:ea typeface="Montserrat Bold"/>
                <a:cs typeface="Montserrat Bold"/>
                <a:sym typeface="Montserrat Bold"/>
              </a:rPr>
              <a:t>Strategi Promosi dan Tren Kunjungan Pelanggan</a:t>
            </a:r>
          </a:p>
        </p:txBody>
      </p:sp>
      <p:grpSp>
        <p:nvGrpSpPr>
          <p:cNvPr name="Group 15" id="15"/>
          <p:cNvGrpSpPr/>
          <p:nvPr/>
        </p:nvGrpSpPr>
        <p:grpSpPr>
          <a:xfrm rot="0">
            <a:off x="9770994" y="7686545"/>
            <a:ext cx="474372" cy="474571"/>
            <a:chOff x="0" y="0"/>
            <a:chExt cx="615325" cy="615584"/>
          </a:xfrm>
        </p:grpSpPr>
        <p:sp>
          <p:nvSpPr>
            <p:cNvPr name="Freeform 16" id="16"/>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7" id="17"/>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0575730" y="7686545"/>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9" id="19"/>
          <p:cNvSpPr txBox="true"/>
          <p:nvPr/>
        </p:nvSpPr>
        <p:spPr>
          <a:xfrm rot="0">
            <a:off x="9770994" y="8358790"/>
            <a:ext cx="8129611" cy="154432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Montserrat"/>
                <a:ea typeface="Montserrat"/>
                <a:cs typeface="Montserrat"/>
                <a:sym typeface="Montserrat"/>
              </a:rPr>
              <a:t>T</a:t>
            </a:r>
            <a:r>
              <a:rPr lang="en-US" sz="2199">
                <a:solidFill>
                  <a:srgbClr val="FFFFFF"/>
                </a:solidFill>
                <a:latin typeface="Montserrat"/>
                <a:ea typeface="Montserrat"/>
                <a:cs typeface="Montserrat"/>
                <a:sym typeface="Montserrat"/>
              </a:rPr>
              <a:t>oko terlihat sangat bergantung pada promo di hari kerja untuk mendongkrak penjualan, namun gagal memaksimalkan nilai belanja pada jumlah massa yang besar di akhir pekan.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013490" y="72906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810325" y="1360754"/>
            <a:ext cx="10077693" cy="5253072"/>
          </a:xfrm>
          <a:custGeom>
            <a:avLst/>
            <a:gdLst/>
            <a:ahLst/>
            <a:cxnLst/>
            <a:rect r="r" b="b" t="t" l="l"/>
            <a:pathLst>
              <a:path h="5253072" w="10077693">
                <a:moveTo>
                  <a:pt x="0" y="0"/>
                </a:moveTo>
                <a:lnTo>
                  <a:pt x="10077693" y="0"/>
                </a:lnTo>
                <a:lnTo>
                  <a:pt x="10077693" y="5253072"/>
                </a:lnTo>
                <a:lnTo>
                  <a:pt x="0" y="5253072"/>
                </a:lnTo>
                <a:lnTo>
                  <a:pt x="0" y="0"/>
                </a:lnTo>
                <a:close/>
              </a:path>
            </a:pathLst>
          </a:custGeom>
          <a:blipFill>
            <a:blip r:embed="rId2"/>
            <a:stretch>
              <a:fillRect l="0" t="0" r="0" b="-11269"/>
            </a:stretch>
          </a:blipFill>
          <a:ln w="9525" cap="sq">
            <a:solidFill>
              <a:srgbClr val="000000"/>
            </a:solidFill>
            <a:prstDash val="solid"/>
            <a:miter/>
          </a:ln>
        </p:spPr>
      </p:sp>
      <p:sp>
        <p:nvSpPr>
          <p:cNvPr name="TextBox 15" id="15"/>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6" id="16"/>
          <p:cNvSpPr txBox="true"/>
          <p:nvPr/>
        </p:nvSpPr>
        <p:spPr>
          <a:xfrm rot="0">
            <a:off x="6005589" y="8264994"/>
            <a:ext cx="11679633" cy="1642256"/>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rPr>
              <a:t>Total penjualan pada saat ada promo (€1.9 Miliar) berhasil melampaui penjualan saat tidak ada promo (€1.7 Miliar). Ini menunjukkan bahwa secara akumulatif, strategi promosi yang dijalankan mampu menarik lebih banyak transaksi atau meningkatkan nilai keranjang belanja pelanggan.</a:t>
            </a:r>
          </a:p>
        </p:txBody>
      </p:sp>
      <p:sp>
        <p:nvSpPr>
          <p:cNvPr name="TextBox 17" id="17"/>
          <p:cNvSpPr txBox="true"/>
          <p:nvPr/>
        </p:nvSpPr>
        <p:spPr>
          <a:xfrm rot="0">
            <a:off x="1286954" y="3097100"/>
            <a:ext cx="5747648" cy="2235426"/>
          </a:xfrm>
          <a:prstGeom prst="rect">
            <a:avLst/>
          </a:prstGeom>
        </p:spPr>
        <p:txBody>
          <a:bodyPr anchor="t" rtlCol="false" tIns="0" lIns="0" bIns="0" rIns="0">
            <a:spAutoFit/>
          </a:bodyPr>
          <a:lstStyle/>
          <a:p>
            <a:pPr algn="l">
              <a:lnSpc>
                <a:spcPts val="5851"/>
              </a:lnSpc>
            </a:pPr>
            <a:r>
              <a:rPr lang="en-US" sz="5044" b="true">
                <a:solidFill>
                  <a:srgbClr val="004A55"/>
                </a:solidFill>
                <a:latin typeface="Montserrat Bold"/>
                <a:ea typeface="Montserrat Bold"/>
                <a:cs typeface="Montserrat Bold"/>
                <a:sym typeface="Montserrat Bold"/>
              </a:rPr>
              <a:t>Perbandingan Penjualan saat Promo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345145" y="72906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7145271" y="1429423"/>
            <a:ext cx="10314894" cy="5346783"/>
          </a:xfrm>
          <a:custGeom>
            <a:avLst/>
            <a:gdLst/>
            <a:ahLst/>
            <a:cxnLst/>
            <a:rect r="r" b="b" t="t" l="l"/>
            <a:pathLst>
              <a:path h="5346783" w="10314894">
                <a:moveTo>
                  <a:pt x="0" y="0"/>
                </a:moveTo>
                <a:lnTo>
                  <a:pt x="10314894" y="0"/>
                </a:lnTo>
                <a:lnTo>
                  <a:pt x="10314894" y="5346783"/>
                </a:lnTo>
                <a:lnTo>
                  <a:pt x="0" y="5346783"/>
                </a:lnTo>
                <a:lnTo>
                  <a:pt x="0" y="0"/>
                </a:lnTo>
                <a:close/>
              </a:path>
            </a:pathLst>
          </a:custGeom>
          <a:blipFill>
            <a:blip r:embed="rId2"/>
            <a:stretch>
              <a:fillRect l="0" t="0" r="0" b="-11825"/>
            </a:stretch>
          </a:blipFill>
          <a:ln w="9525" cap="sq">
            <a:solidFill>
              <a:srgbClr val="000000"/>
            </a:solidFill>
            <a:prstDash val="solid"/>
            <a:miter/>
          </a:ln>
        </p:spPr>
      </p:sp>
      <p:sp>
        <p:nvSpPr>
          <p:cNvPr name="TextBox 15" id="15"/>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6" id="16"/>
          <p:cNvSpPr txBox="true"/>
          <p:nvPr/>
        </p:nvSpPr>
        <p:spPr>
          <a:xfrm rot="0">
            <a:off x="6005589" y="8264994"/>
            <a:ext cx="11679633" cy="1642256"/>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rPr>
              <a:t>Hari gajian memiliki durasi antara tanggal 25 -2. Namun, fakta bahwa periode singkat ini mampu menyumbang hampir sepertiga dari total penjualan hari biasa menunjukkan adanya konsentrasi daya beli yang cukup tinggi. Pelanggan sangat siap membelanjakan uang mereka pada jendela waktu ini.</a:t>
            </a:r>
          </a:p>
        </p:txBody>
      </p:sp>
      <p:sp>
        <p:nvSpPr>
          <p:cNvPr name="TextBox 17" id="17"/>
          <p:cNvSpPr txBox="true"/>
          <p:nvPr/>
        </p:nvSpPr>
        <p:spPr>
          <a:xfrm rot="0">
            <a:off x="1475785" y="3081179"/>
            <a:ext cx="5118955" cy="2062321"/>
          </a:xfrm>
          <a:prstGeom prst="rect">
            <a:avLst/>
          </a:prstGeom>
        </p:spPr>
        <p:txBody>
          <a:bodyPr anchor="t" rtlCol="false" tIns="0" lIns="0" bIns="0" rIns="0">
            <a:spAutoFit/>
          </a:bodyPr>
          <a:lstStyle/>
          <a:p>
            <a:pPr algn="l">
              <a:lnSpc>
                <a:spcPts val="5473"/>
              </a:lnSpc>
            </a:pPr>
            <a:r>
              <a:rPr lang="en-US" sz="4718" b="true">
                <a:solidFill>
                  <a:srgbClr val="004A55"/>
                </a:solidFill>
                <a:latin typeface="Montserrat Bold"/>
                <a:ea typeface="Montserrat Bold"/>
                <a:cs typeface="Montserrat Bold"/>
                <a:sym typeface="Montserrat Bold"/>
              </a:rPr>
              <a:t>Perbandingan Penjualan saat Payday Periode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345145" y="72906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7085591" y="1637755"/>
            <a:ext cx="9769720" cy="4980390"/>
          </a:xfrm>
          <a:custGeom>
            <a:avLst/>
            <a:gdLst/>
            <a:ahLst/>
            <a:cxnLst/>
            <a:rect r="r" b="b" t="t" l="l"/>
            <a:pathLst>
              <a:path h="4980390" w="9769720">
                <a:moveTo>
                  <a:pt x="0" y="0"/>
                </a:moveTo>
                <a:lnTo>
                  <a:pt x="9769720" y="0"/>
                </a:lnTo>
                <a:lnTo>
                  <a:pt x="9769720" y="4980390"/>
                </a:lnTo>
                <a:lnTo>
                  <a:pt x="0" y="4980390"/>
                </a:lnTo>
                <a:lnTo>
                  <a:pt x="0" y="0"/>
                </a:lnTo>
                <a:close/>
              </a:path>
            </a:pathLst>
          </a:custGeom>
          <a:blipFill>
            <a:blip r:embed="rId2"/>
            <a:stretch>
              <a:fillRect l="0" t="0" r="0" b="-13774"/>
            </a:stretch>
          </a:blipFill>
          <a:ln w="9525" cap="sq">
            <a:solidFill>
              <a:srgbClr val="000000"/>
            </a:solidFill>
            <a:prstDash val="solid"/>
            <a:miter/>
          </a:ln>
        </p:spPr>
      </p:sp>
      <p:sp>
        <p:nvSpPr>
          <p:cNvPr name="TextBox 15" id="15"/>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6" id="16"/>
          <p:cNvSpPr txBox="true"/>
          <p:nvPr/>
        </p:nvSpPr>
        <p:spPr>
          <a:xfrm rot="0">
            <a:off x="6005589" y="8108163"/>
            <a:ext cx="11679633" cy="1642256"/>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rPr>
              <a:t>Penjualan selama periode libur sekolah menunjukkan penurunan yang sangat signifikan. Total penjualan saat libur sekolah hanya mencapai €697,5 juta, jauh lebih rendah dibandingkan periode bukan libur sekolah yang mencapai €2,9 miliar. Hal ini mengindikasikan bahwa libur sekolah berpotensi menurunkan penjualan hingga lebih dari 75%.</a:t>
            </a:r>
          </a:p>
        </p:txBody>
      </p:sp>
      <p:sp>
        <p:nvSpPr>
          <p:cNvPr name="TextBox 17" id="17"/>
          <p:cNvSpPr txBox="true"/>
          <p:nvPr/>
        </p:nvSpPr>
        <p:spPr>
          <a:xfrm rot="0">
            <a:off x="1475785" y="3081179"/>
            <a:ext cx="5004176" cy="2062321"/>
          </a:xfrm>
          <a:prstGeom prst="rect">
            <a:avLst/>
          </a:prstGeom>
        </p:spPr>
        <p:txBody>
          <a:bodyPr anchor="t" rtlCol="false" tIns="0" lIns="0" bIns="0" rIns="0">
            <a:spAutoFit/>
          </a:bodyPr>
          <a:lstStyle/>
          <a:p>
            <a:pPr algn="l">
              <a:lnSpc>
                <a:spcPts val="5473"/>
              </a:lnSpc>
            </a:pPr>
            <a:r>
              <a:rPr lang="en-US" sz="4718" b="true">
                <a:solidFill>
                  <a:srgbClr val="004A55"/>
                </a:solidFill>
                <a:latin typeface="Montserrat Bold"/>
                <a:ea typeface="Montserrat Bold"/>
                <a:cs typeface="Montserrat Bold"/>
                <a:sym typeface="Montserrat Bold"/>
              </a:rPr>
              <a:t>Perbandingan Penjualan saat School Holiday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345145" y="72906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7104981" y="1452625"/>
            <a:ext cx="10154319" cy="5069330"/>
          </a:xfrm>
          <a:custGeom>
            <a:avLst/>
            <a:gdLst/>
            <a:ahLst/>
            <a:cxnLst/>
            <a:rect r="r" b="b" t="t" l="l"/>
            <a:pathLst>
              <a:path h="5069330" w="10154319">
                <a:moveTo>
                  <a:pt x="0" y="0"/>
                </a:moveTo>
                <a:lnTo>
                  <a:pt x="10154319" y="0"/>
                </a:lnTo>
                <a:lnTo>
                  <a:pt x="10154319" y="5069330"/>
                </a:lnTo>
                <a:lnTo>
                  <a:pt x="0" y="5069330"/>
                </a:lnTo>
                <a:lnTo>
                  <a:pt x="0" y="0"/>
                </a:lnTo>
                <a:close/>
              </a:path>
            </a:pathLst>
          </a:custGeom>
          <a:blipFill>
            <a:blip r:embed="rId2"/>
            <a:stretch>
              <a:fillRect l="0" t="0" r="0" b="-16179"/>
            </a:stretch>
          </a:blipFill>
          <a:ln w="9525" cap="sq">
            <a:solidFill>
              <a:srgbClr val="000000"/>
            </a:solidFill>
            <a:prstDash val="solid"/>
            <a:miter/>
          </a:ln>
        </p:spPr>
      </p:sp>
      <p:sp>
        <p:nvSpPr>
          <p:cNvPr name="TextBox 15" id="15"/>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6" id="16"/>
          <p:cNvSpPr txBox="true"/>
          <p:nvPr/>
        </p:nvSpPr>
        <p:spPr>
          <a:xfrm rot="0">
            <a:off x="6005589" y="8108163"/>
            <a:ext cx="11679633" cy="2300275"/>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rPr>
              <a:t>Event Harbolnas belum memberikan dampak positif yang diharapkan terhadap penjualan. Total penjualan selama periode event Harbolnas hanya sebesar €128 juta, jauh lebih rendah dibandingkan penjualan pada hari normal yang mencapai €3,4 miliar. Hal ini menunjukkan bahwa event Harbolnas saat ini belum efektif dalam mendorong peningkatan revenue secara keseluruhan.</a:t>
            </a:r>
          </a:p>
          <a:p>
            <a:pPr algn="l">
              <a:lnSpc>
                <a:spcPts val="2659"/>
              </a:lnSpc>
            </a:pPr>
          </a:p>
        </p:txBody>
      </p:sp>
      <p:sp>
        <p:nvSpPr>
          <p:cNvPr name="TextBox 17" id="17"/>
          <p:cNvSpPr txBox="true"/>
          <p:nvPr/>
        </p:nvSpPr>
        <p:spPr>
          <a:xfrm rot="0">
            <a:off x="1303615" y="2965654"/>
            <a:ext cx="5334541" cy="2062321"/>
          </a:xfrm>
          <a:prstGeom prst="rect">
            <a:avLst/>
          </a:prstGeom>
        </p:spPr>
        <p:txBody>
          <a:bodyPr anchor="t" rtlCol="false" tIns="0" lIns="0" bIns="0" rIns="0">
            <a:spAutoFit/>
          </a:bodyPr>
          <a:lstStyle/>
          <a:p>
            <a:pPr algn="l">
              <a:lnSpc>
                <a:spcPts val="5473"/>
              </a:lnSpc>
            </a:pPr>
            <a:r>
              <a:rPr lang="en-US" sz="4718" b="true">
                <a:solidFill>
                  <a:srgbClr val="004A55"/>
                </a:solidFill>
                <a:latin typeface="Montserrat Bold"/>
                <a:ea typeface="Montserrat Bold"/>
                <a:cs typeface="Montserrat Bold"/>
                <a:sym typeface="Montserrat Bold"/>
              </a:rPr>
              <a:t>Perbandingan Penjualan saat Event Harbolnas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345145" y="72906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5" id="15"/>
          <p:cNvSpPr txBox="true"/>
          <p:nvPr/>
        </p:nvSpPr>
        <p:spPr>
          <a:xfrm rot="0">
            <a:off x="6005589" y="8207604"/>
            <a:ext cx="11679633" cy="984237"/>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rPr>
              <a:t>Korelasi positif sangat kuat. Toko kategori Very High (titik ungu) secara konsisten digerakkan oleh trafik padat di atas 1.000 hingga 3.500 pelanggan harian.</a:t>
            </a:r>
          </a:p>
        </p:txBody>
      </p:sp>
      <p:sp>
        <p:nvSpPr>
          <p:cNvPr name="TextBox 16" id="16"/>
          <p:cNvSpPr txBox="true"/>
          <p:nvPr/>
        </p:nvSpPr>
        <p:spPr>
          <a:xfrm rot="0">
            <a:off x="1741347" y="3598028"/>
            <a:ext cx="4264242" cy="1376520"/>
          </a:xfrm>
          <a:prstGeom prst="rect">
            <a:avLst/>
          </a:prstGeom>
        </p:spPr>
        <p:txBody>
          <a:bodyPr anchor="t" rtlCol="false" tIns="0" lIns="0" bIns="0" rIns="0">
            <a:spAutoFit/>
          </a:bodyPr>
          <a:lstStyle/>
          <a:p>
            <a:pPr algn="ctr">
              <a:lnSpc>
                <a:spcPts val="5473"/>
              </a:lnSpc>
            </a:pPr>
            <a:r>
              <a:rPr lang="en-US" b="true" sz="4718">
                <a:solidFill>
                  <a:srgbClr val="004A55"/>
                </a:solidFill>
                <a:latin typeface="Montserrat Bold"/>
                <a:ea typeface="Montserrat Bold"/>
                <a:cs typeface="Montserrat Bold"/>
                <a:sym typeface="Montserrat Bold"/>
              </a:rPr>
              <a:t>Store dengan Inefficiency</a:t>
            </a:r>
          </a:p>
        </p:txBody>
      </p:sp>
      <p:sp>
        <p:nvSpPr>
          <p:cNvPr name="Freeform 17" id="17"/>
          <p:cNvSpPr/>
          <p:nvPr/>
        </p:nvSpPr>
        <p:spPr>
          <a:xfrm flipH="false" flipV="false" rot="0">
            <a:off x="7136020" y="1132461"/>
            <a:ext cx="9917183" cy="5589500"/>
          </a:xfrm>
          <a:custGeom>
            <a:avLst/>
            <a:gdLst/>
            <a:ahLst/>
            <a:cxnLst/>
            <a:rect r="r" b="b" t="t" l="l"/>
            <a:pathLst>
              <a:path h="5589500" w="9917183">
                <a:moveTo>
                  <a:pt x="0" y="0"/>
                </a:moveTo>
                <a:lnTo>
                  <a:pt x="9917183" y="0"/>
                </a:lnTo>
                <a:lnTo>
                  <a:pt x="9917183" y="5589500"/>
                </a:lnTo>
                <a:lnTo>
                  <a:pt x="0" y="5589500"/>
                </a:lnTo>
                <a:lnTo>
                  <a:pt x="0" y="0"/>
                </a:lnTo>
                <a:close/>
              </a:path>
            </a:pathLst>
          </a:custGeom>
          <a:blipFill>
            <a:blip r:embed="rId2"/>
            <a:stretch>
              <a:fillRect l="-1880" t="-3358" r="-2025" b="-3336"/>
            </a:stretch>
          </a:blipFill>
          <a:ln w="9525" cap="sq">
            <a:solidFill>
              <a:srgbClr val="000000"/>
            </a:solidFill>
            <a:prstDash val="solid"/>
            <a:miter/>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98683" y="3284426"/>
            <a:ext cx="12881567" cy="5364819"/>
            <a:chOff x="0" y="0"/>
            <a:chExt cx="1463722" cy="609600"/>
          </a:xfrm>
        </p:grpSpPr>
        <p:sp>
          <p:nvSpPr>
            <p:cNvPr name="Freeform 3" id="3"/>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4" id="4"/>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4345145" y="7290671"/>
            <a:ext cx="18887322" cy="3935257"/>
            <a:chOff x="0" y="0"/>
            <a:chExt cx="2925784" cy="609600"/>
          </a:xfrm>
        </p:grpSpPr>
        <p:sp>
          <p:nvSpPr>
            <p:cNvPr name="Freeform 6" id="6"/>
            <p:cNvSpPr/>
            <p:nvPr/>
          </p:nvSpPr>
          <p:spPr>
            <a:xfrm flipH="false" flipV="false" rot="0">
              <a:off x="0" y="0"/>
              <a:ext cx="2925784" cy="609600"/>
            </a:xfrm>
            <a:custGeom>
              <a:avLst/>
              <a:gdLst/>
              <a:ahLst/>
              <a:cxnLst/>
              <a:rect r="r" b="b" t="t" l="l"/>
              <a:pathLst>
                <a:path h="609600" w="2925784">
                  <a:moveTo>
                    <a:pt x="203200" y="0"/>
                  </a:moveTo>
                  <a:lnTo>
                    <a:pt x="2722584" y="0"/>
                  </a:lnTo>
                  <a:lnTo>
                    <a:pt x="2925784" y="609600"/>
                  </a:lnTo>
                  <a:lnTo>
                    <a:pt x="0" y="609600"/>
                  </a:lnTo>
                  <a:lnTo>
                    <a:pt x="203200" y="0"/>
                  </a:lnTo>
                  <a:close/>
                </a:path>
              </a:pathLst>
            </a:custGeom>
            <a:solidFill>
              <a:srgbClr val="155661"/>
            </a:solidFill>
          </p:spPr>
        </p:sp>
        <p:sp>
          <p:nvSpPr>
            <p:cNvPr name="TextBox 7" id="7"/>
            <p:cNvSpPr txBox="true"/>
            <p:nvPr/>
          </p:nvSpPr>
          <p:spPr>
            <a:xfrm>
              <a:off x="127000" y="-38100"/>
              <a:ext cx="267178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617788" y="-711780"/>
            <a:ext cx="11283024" cy="4699070"/>
            <a:chOff x="0" y="0"/>
            <a:chExt cx="1463722" cy="609600"/>
          </a:xfrm>
        </p:grpSpPr>
        <p:sp>
          <p:nvSpPr>
            <p:cNvPr name="Freeform 9" id="9"/>
            <p:cNvSpPr/>
            <p:nvPr/>
          </p:nvSpPr>
          <p:spPr>
            <a:xfrm flipH="false" flipV="false" rot="0">
              <a:off x="0" y="0"/>
              <a:ext cx="1463722" cy="609600"/>
            </a:xfrm>
            <a:custGeom>
              <a:avLst/>
              <a:gdLst/>
              <a:ahLst/>
              <a:cxnLst/>
              <a:rect r="r" b="b" t="t" l="l"/>
              <a:pathLst>
                <a:path h="609600" w="1463722">
                  <a:moveTo>
                    <a:pt x="203200" y="0"/>
                  </a:moveTo>
                  <a:lnTo>
                    <a:pt x="1260522" y="0"/>
                  </a:lnTo>
                  <a:lnTo>
                    <a:pt x="1463722" y="609600"/>
                  </a:lnTo>
                  <a:lnTo>
                    <a:pt x="0" y="609600"/>
                  </a:lnTo>
                  <a:lnTo>
                    <a:pt x="203200" y="0"/>
                  </a:lnTo>
                  <a:close/>
                </a:path>
              </a:pathLst>
            </a:custGeom>
            <a:solidFill>
              <a:srgbClr val="C2E9E8"/>
            </a:solidFill>
          </p:spPr>
        </p:sp>
        <p:sp>
          <p:nvSpPr>
            <p:cNvPr name="TextBox 10" id="10"/>
            <p:cNvSpPr txBox="true"/>
            <p:nvPr/>
          </p:nvSpPr>
          <p:spPr>
            <a:xfrm>
              <a:off x="127000" y="-38100"/>
              <a:ext cx="120972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005589" y="7500746"/>
            <a:ext cx="474372" cy="474571"/>
            <a:chOff x="0" y="0"/>
            <a:chExt cx="615325" cy="615584"/>
          </a:xfrm>
        </p:grpSpPr>
        <p:sp>
          <p:nvSpPr>
            <p:cNvPr name="Freeform 12" id="12"/>
            <p:cNvSpPr/>
            <p:nvPr/>
          </p:nvSpPr>
          <p:spPr>
            <a:xfrm flipH="false" flipV="false" rot="0">
              <a:off x="0" y="0"/>
              <a:ext cx="615325" cy="615584"/>
            </a:xfrm>
            <a:custGeom>
              <a:avLst/>
              <a:gdLst/>
              <a:ahLst/>
              <a:cxnLst/>
              <a:rect r="r" b="b" t="t" l="l"/>
              <a:pathLst>
                <a:path h="615584" w="615325">
                  <a:moveTo>
                    <a:pt x="307662" y="0"/>
                  </a:moveTo>
                  <a:cubicBezTo>
                    <a:pt x="137745" y="0"/>
                    <a:pt x="0" y="137803"/>
                    <a:pt x="0" y="307792"/>
                  </a:cubicBezTo>
                  <a:cubicBezTo>
                    <a:pt x="0" y="477780"/>
                    <a:pt x="137745" y="615584"/>
                    <a:pt x="307662" y="615584"/>
                  </a:cubicBezTo>
                  <a:cubicBezTo>
                    <a:pt x="477580" y="615584"/>
                    <a:pt x="615325" y="477780"/>
                    <a:pt x="615325" y="307792"/>
                  </a:cubicBezTo>
                  <a:cubicBezTo>
                    <a:pt x="615325" y="137803"/>
                    <a:pt x="477580" y="0"/>
                    <a:pt x="307662" y="0"/>
                  </a:cubicBezTo>
                  <a:close/>
                </a:path>
              </a:pathLst>
            </a:custGeom>
            <a:solidFill>
              <a:srgbClr val="FF9038"/>
            </a:solidFill>
          </p:spPr>
        </p:sp>
        <p:sp>
          <p:nvSpPr>
            <p:cNvPr name="TextBox 13" id="13"/>
            <p:cNvSpPr txBox="true"/>
            <p:nvPr/>
          </p:nvSpPr>
          <p:spPr>
            <a:xfrm>
              <a:off x="57687" y="19611"/>
              <a:ext cx="499951" cy="53826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516003" y="2362547"/>
            <a:ext cx="8463349" cy="4366860"/>
          </a:xfrm>
          <a:custGeom>
            <a:avLst/>
            <a:gdLst/>
            <a:ahLst/>
            <a:cxnLst/>
            <a:rect r="r" b="b" t="t" l="l"/>
            <a:pathLst>
              <a:path h="4366860" w="8463349">
                <a:moveTo>
                  <a:pt x="0" y="0"/>
                </a:moveTo>
                <a:lnTo>
                  <a:pt x="8463349" y="0"/>
                </a:lnTo>
                <a:lnTo>
                  <a:pt x="8463349" y="4366860"/>
                </a:lnTo>
                <a:lnTo>
                  <a:pt x="0" y="4366860"/>
                </a:lnTo>
                <a:lnTo>
                  <a:pt x="0" y="0"/>
                </a:lnTo>
                <a:close/>
              </a:path>
            </a:pathLst>
          </a:custGeom>
          <a:blipFill>
            <a:blip r:embed="rId2"/>
            <a:stretch>
              <a:fillRect l="0" t="0" r="0" b="-12408"/>
            </a:stretch>
          </a:blipFill>
          <a:ln w="9525" cap="sq">
            <a:solidFill>
              <a:srgbClr val="000000"/>
            </a:solidFill>
            <a:prstDash val="solid"/>
            <a:miter/>
          </a:ln>
        </p:spPr>
      </p:sp>
      <p:sp>
        <p:nvSpPr>
          <p:cNvPr name="Freeform 15" id="15"/>
          <p:cNvSpPr/>
          <p:nvPr/>
        </p:nvSpPr>
        <p:spPr>
          <a:xfrm flipH="false" flipV="false" rot="0">
            <a:off x="9144000" y="2362547"/>
            <a:ext cx="8497248" cy="4366860"/>
          </a:xfrm>
          <a:custGeom>
            <a:avLst/>
            <a:gdLst/>
            <a:ahLst/>
            <a:cxnLst/>
            <a:rect r="r" b="b" t="t" l="l"/>
            <a:pathLst>
              <a:path h="4366860" w="8497248">
                <a:moveTo>
                  <a:pt x="0" y="0"/>
                </a:moveTo>
                <a:lnTo>
                  <a:pt x="8497248" y="0"/>
                </a:lnTo>
                <a:lnTo>
                  <a:pt x="8497248" y="4366860"/>
                </a:lnTo>
                <a:lnTo>
                  <a:pt x="0" y="4366860"/>
                </a:lnTo>
                <a:lnTo>
                  <a:pt x="0" y="0"/>
                </a:lnTo>
                <a:close/>
              </a:path>
            </a:pathLst>
          </a:custGeom>
          <a:blipFill>
            <a:blip r:embed="rId3"/>
            <a:stretch>
              <a:fillRect l="0" t="0" r="0" b="-12859"/>
            </a:stretch>
          </a:blipFill>
          <a:ln w="9525" cap="sq">
            <a:solidFill>
              <a:srgbClr val="000000"/>
            </a:solidFill>
            <a:prstDash val="solid"/>
            <a:miter/>
          </a:ln>
        </p:spPr>
      </p:sp>
      <p:sp>
        <p:nvSpPr>
          <p:cNvPr name="TextBox 16" id="16"/>
          <p:cNvSpPr txBox="true"/>
          <p:nvPr/>
        </p:nvSpPr>
        <p:spPr>
          <a:xfrm rot="0">
            <a:off x="6810325" y="7500746"/>
            <a:ext cx="3949543" cy="474571"/>
          </a:xfrm>
          <a:prstGeom prst="rect">
            <a:avLst/>
          </a:prstGeom>
        </p:spPr>
        <p:txBody>
          <a:bodyPr anchor="t" rtlCol="false" tIns="0" lIns="0" bIns="0" rIns="0">
            <a:spAutoFit/>
          </a:bodyPr>
          <a:lstStyle/>
          <a:p>
            <a:pPr algn="l">
              <a:lnSpc>
                <a:spcPts val="3799"/>
              </a:lnSpc>
            </a:pPr>
            <a:r>
              <a:rPr lang="en-US" sz="3140" b="true">
                <a:solidFill>
                  <a:srgbClr val="F9F7F4"/>
                </a:solidFill>
                <a:latin typeface="Montserrat Medium"/>
                <a:ea typeface="Montserrat Medium"/>
                <a:cs typeface="Montserrat Medium"/>
                <a:sym typeface="Montserrat Medium"/>
              </a:rPr>
              <a:t>Insight</a:t>
            </a:r>
          </a:p>
        </p:txBody>
      </p:sp>
      <p:sp>
        <p:nvSpPr>
          <p:cNvPr name="TextBox 17" id="17"/>
          <p:cNvSpPr txBox="true"/>
          <p:nvPr/>
        </p:nvSpPr>
        <p:spPr>
          <a:xfrm rot="0">
            <a:off x="5586997" y="8342992"/>
            <a:ext cx="12061582" cy="1313246"/>
          </a:xfrm>
          <a:prstGeom prst="rect">
            <a:avLst/>
          </a:prstGeom>
        </p:spPr>
        <p:txBody>
          <a:bodyPr anchor="t" rtlCol="false" tIns="0" lIns="0" bIns="0" rIns="0">
            <a:spAutoFit/>
          </a:bodyPr>
          <a:lstStyle/>
          <a:p>
            <a:pPr algn="l">
              <a:lnSpc>
                <a:spcPts val="2659"/>
              </a:lnSpc>
            </a:pPr>
            <a:r>
              <a:rPr lang="en-US" sz="2198" spc="169">
                <a:solidFill>
                  <a:srgbClr val="F9F7F4"/>
                </a:solidFill>
                <a:latin typeface="Montserrat Extra-Light"/>
                <a:ea typeface="Montserrat Extra-Light"/>
                <a:cs typeface="Montserrat Extra-Light"/>
                <a:sym typeface="Montserrat Extra-Light"/>
              </a:rPr>
              <a:t>Store 262, 562, dan 1,114 muncul di kedua grafik sekaligus. Berdasarkan data tersebut, ketiga toko ini mengalami masalah inefisiensi pada kedua metrik utama, yaitu masuk dalam daftar toko dengan rata-rata penjualan  yang tidak efisien sekaligus rata-rata jumlah pelanggan yang tidak efisien.</a:t>
            </a:r>
          </a:p>
        </p:txBody>
      </p:sp>
      <p:sp>
        <p:nvSpPr>
          <p:cNvPr name="TextBox 18" id="18"/>
          <p:cNvSpPr txBox="true"/>
          <p:nvPr/>
        </p:nvSpPr>
        <p:spPr>
          <a:xfrm rot="0">
            <a:off x="2976134" y="1109852"/>
            <a:ext cx="12335732" cy="690720"/>
          </a:xfrm>
          <a:prstGeom prst="rect">
            <a:avLst/>
          </a:prstGeom>
        </p:spPr>
        <p:txBody>
          <a:bodyPr anchor="t" rtlCol="false" tIns="0" lIns="0" bIns="0" rIns="0">
            <a:spAutoFit/>
          </a:bodyPr>
          <a:lstStyle/>
          <a:p>
            <a:pPr algn="ctr">
              <a:lnSpc>
                <a:spcPts val="5473"/>
              </a:lnSpc>
            </a:pPr>
            <a:r>
              <a:rPr lang="en-US" b="true" sz="4718">
                <a:solidFill>
                  <a:srgbClr val="004A55"/>
                </a:solidFill>
                <a:latin typeface="Montserrat Bold"/>
                <a:ea typeface="Montserrat Bold"/>
                <a:cs typeface="Montserrat Bold"/>
                <a:sym typeface="Montserrat Bold"/>
              </a:rPr>
              <a:t>Store dengan Inefficiency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14A55"/>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676937"/>
            <a:chOff x="0" y="0"/>
            <a:chExt cx="4816593" cy="705037"/>
          </a:xfrm>
        </p:grpSpPr>
        <p:sp>
          <p:nvSpPr>
            <p:cNvPr name="Freeform 3" id="3"/>
            <p:cNvSpPr/>
            <p:nvPr/>
          </p:nvSpPr>
          <p:spPr>
            <a:xfrm flipH="false" flipV="false" rot="0">
              <a:off x="0" y="0"/>
              <a:ext cx="4816592" cy="705037"/>
            </a:xfrm>
            <a:custGeom>
              <a:avLst/>
              <a:gdLst/>
              <a:ahLst/>
              <a:cxnLst/>
              <a:rect r="r" b="b" t="t" l="l"/>
              <a:pathLst>
                <a:path h="705037" w="4816592">
                  <a:moveTo>
                    <a:pt x="0" y="0"/>
                  </a:moveTo>
                  <a:lnTo>
                    <a:pt x="4816592" y="0"/>
                  </a:lnTo>
                  <a:lnTo>
                    <a:pt x="4816592" y="705037"/>
                  </a:lnTo>
                  <a:lnTo>
                    <a:pt x="0" y="705037"/>
                  </a:lnTo>
                  <a:close/>
                </a:path>
              </a:pathLst>
            </a:custGeom>
            <a:solidFill>
              <a:srgbClr val="F6F6F6"/>
            </a:solidFill>
          </p:spPr>
        </p:sp>
        <p:sp>
          <p:nvSpPr>
            <p:cNvPr name="TextBox 4" id="4"/>
            <p:cNvSpPr txBox="true"/>
            <p:nvPr/>
          </p:nvSpPr>
          <p:spPr>
            <a:xfrm>
              <a:off x="0" y="-47625"/>
              <a:ext cx="4816593" cy="752662"/>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647267" y="2250057"/>
            <a:ext cx="15218125" cy="7626678"/>
            <a:chOff x="0" y="0"/>
            <a:chExt cx="3738519" cy="1873587"/>
          </a:xfrm>
        </p:grpSpPr>
        <p:sp>
          <p:nvSpPr>
            <p:cNvPr name="Freeform 6" id="6"/>
            <p:cNvSpPr/>
            <p:nvPr/>
          </p:nvSpPr>
          <p:spPr>
            <a:xfrm flipH="false" flipV="false" rot="0">
              <a:off x="0" y="0"/>
              <a:ext cx="3738519" cy="1873587"/>
            </a:xfrm>
            <a:custGeom>
              <a:avLst/>
              <a:gdLst/>
              <a:ahLst/>
              <a:cxnLst/>
              <a:rect r="r" b="b" t="t" l="l"/>
              <a:pathLst>
                <a:path h="1873587" w="3738519">
                  <a:moveTo>
                    <a:pt x="40698" y="0"/>
                  </a:moveTo>
                  <a:lnTo>
                    <a:pt x="3697821" y="0"/>
                  </a:lnTo>
                  <a:cubicBezTo>
                    <a:pt x="3708615" y="0"/>
                    <a:pt x="3718966" y="4288"/>
                    <a:pt x="3726599" y="11920"/>
                  </a:cubicBezTo>
                  <a:cubicBezTo>
                    <a:pt x="3734231" y="19553"/>
                    <a:pt x="3738519" y="29905"/>
                    <a:pt x="3738519" y="40698"/>
                  </a:cubicBezTo>
                  <a:lnTo>
                    <a:pt x="3738519" y="1832889"/>
                  </a:lnTo>
                  <a:cubicBezTo>
                    <a:pt x="3738519" y="1855366"/>
                    <a:pt x="3720298" y="1873587"/>
                    <a:pt x="3697821" y="1873587"/>
                  </a:cubicBezTo>
                  <a:lnTo>
                    <a:pt x="40698" y="1873587"/>
                  </a:lnTo>
                  <a:cubicBezTo>
                    <a:pt x="29905" y="1873587"/>
                    <a:pt x="19553" y="1869299"/>
                    <a:pt x="11920" y="1861667"/>
                  </a:cubicBezTo>
                  <a:cubicBezTo>
                    <a:pt x="4288" y="1854034"/>
                    <a:pt x="0" y="1843682"/>
                    <a:pt x="0" y="1832889"/>
                  </a:cubicBezTo>
                  <a:lnTo>
                    <a:pt x="0" y="40698"/>
                  </a:lnTo>
                  <a:cubicBezTo>
                    <a:pt x="0" y="29905"/>
                    <a:pt x="4288" y="19553"/>
                    <a:pt x="11920" y="11920"/>
                  </a:cubicBezTo>
                  <a:cubicBezTo>
                    <a:pt x="19553" y="4288"/>
                    <a:pt x="29905" y="0"/>
                    <a:pt x="40698" y="0"/>
                  </a:cubicBezTo>
                  <a:close/>
                </a:path>
              </a:pathLst>
            </a:custGeom>
            <a:solidFill>
              <a:srgbClr val="407B86"/>
            </a:solidFill>
          </p:spPr>
        </p:sp>
        <p:sp>
          <p:nvSpPr>
            <p:cNvPr name="TextBox 7" id="7"/>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689942" y="66015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422608" y="2025399"/>
            <a:ext cx="15218125" cy="7626678"/>
            <a:chOff x="0" y="0"/>
            <a:chExt cx="3738519" cy="1873587"/>
          </a:xfrm>
        </p:grpSpPr>
        <p:sp>
          <p:nvSpPr>
            <p:cNvPr name="Freeform 10" id="10"/>
            <p:cNvSpPr/>
            <p:nvPr/>
          </p:nvSpPr>
          <p:spPr>
            <a:xfrm flipH="false" flipV="false" rot="0">
              <a:off x="0" y="0"/>
              <a:ext cx="3738519" cy="1873587"/>
            </a:xfrm>
            <a:custGeom>
              <a:avLst/>
              <a:gdLst/>
              <a:ahLst/>
              <a:cxnLst/>
              <a:rect r="r" b="b" t="t" l="l"/>
              <a:pathLst>
                <a:path h="1873587" w="3738519">
                  <a:moveTo>
                    <a:pt x="40698" y="0"/>
                  </a:moveTo>
                  <a:lnTo>
                    <a:pt x="3697821" y="0"/>
                  </a:lnTo>
                  <a:cubicBezTo>
                    <a:pt x="3708615" y="0"/>
                    <a:pt x="3718966" y="4288"/>
                    <a:pt x="3726599" y="11920"/>
                  </a:cubicBezTo>
                  <a:cubicBezTo>
                    <a:pt x="3734231" y="19553"/>
                    <a:pt x="3738519" y="29905"/>
                    <a:pt x="3738519" y="40698"/>
                  </a:cubicBezTo>
                  <a:lnTo>
                    <a:pt x="3738519" y="1832889"/>
                  </a:lnTo>
                  <a:cubicBezTo>
                    <a:pt x="3738519" y="1855366"/>
                    <a:pt x="3720298" y="1873587"/>
                    <a:pt x="3697821" y="1873587"/>
                  </a:cubicBezTo>
                  <a:lnTo>
                    <a:pt x="40698" y="1873587"/>
                  </a:lnTo>
                  <a:cubicBezTo>
                    <a:pt x="29905" y="1873587"/>
                    <a:pt x="19553" y="1869299"/>
                    <a:pt x="11920" y="1861667"/>
                  </a:cubicBezTo>
                  <a:cubicBezTo>
                    <a:pt x="4288" y="1854034"/>
                    <a:pt x="0" y="1843682"/>
                    <a:pt x="0" y="1832889"/>
                  </a:cubicBezTo>
                  <a:lnTo>
                    <a:pt x="0" y="40698"/>
                  </a:lnTo>
                  <a:cubicBezTo>
                    <a:pt x="0" y="29905"/>
                    <a:pt x="4288" y="19553"/>
                    <a:pt x="11920" y="11920"/>
                  </a:cubicBezTo>
                  <a:cubicBezTo>
                    <a:pt x="19553" y="4288"/>
                    <a:pt x="29905" y="0"/>
                    <a:pt x="40698" y="0"/>
                  </a:cubicBezTo>
                  <a:close/>
                </a:path>
              </a:pathLst>
            </a:custGeom>
            <a:solidFill>
              <a:srgbClr val="25626D"/>
            </a:solidFill>
          </p:spPr>
        </p:sp>
        <p:sp>
          <p:nvSpPr>
            <p:cNvPr name="TextBox 11" id="11"/>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sp>
        <p:nvSpPr>
          <p:cNvPr name="Freeform 12" id="12"/>
          <p:cNvSpPr/>
          <p:nvPr/>
        </p:nvSpPr>
        <p:spPr>
          <a:xfrm flipH="false" flipV="false" rot="0">
            <a:off x="14884631" y="714624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8606527" y="2250057"/>
            <a:ext cx="6505975" cy="6871480"/>
          </a:xfrm>
          <a:custGeom>
            <a:avLst/>
            <a:gdLst/>
            <a:ahLst/>
            <a:cxnLst/>
            <a:rect r="r" b="b" t="t" l="l"/>
            <a:pathLst>
              <a:path h="6871480" w="6505975">
                <a:moveTo>
                  <a:pt x="0" y="0"/>
                </a:moveTo>
                <a:lnTo>
                  <a:pt x="6505975" y="0"/>
                </a:lnTo>
                <a:lnTo>
                  <a:pt x="6505975" y="6871480"/>
                </a:lnTo>
                <a:lnTo>
                  <a:pt x="0" y="6871480"/>
                </a:lnTo>
                <a:lnTo>
                  <a:pt x="0" y="0"/>
                </a:lnTo>
                <a:close/>
              </a:path>
            </a:pathLst>
          </a:custGeom>
          <a:blipFill>
            <a:blip r:embed="rId4"/>
            <a:stretch>
              <a:fillRect l="0" t="0" r="0" b="0"/>
            </a:stretch>
          </a:blipFill>
          <a:ln w="9525" cap="sq">
            <a:solidFill>
              <a:srgbClr val="000000"/>
            </a:solidFill>
            <a:prstDash val="solid"/>
            <a:miter/>
          </a:ln>
        </p:spPr>
      </p:sp>
      <p:sp>
        <p:nvSpPr>
          <p:cNvPr name="Freeform 14" id="14"/>
          <p:cNvSpPr/>
          <p:nvPr/>
        </p:nvSpPr>
        <p:spPr>
          <a:xfrm flipH="false" flipV="false" rot="0">
            <a:off x="2950840" y="2250057"/>
            <a:ext cx="5655687" cy="6871480"/>
          </a:xfrm>
          <a:custGeom>
            <a:avLst/>
            <a:gdLst/>
            <a:ahLst/>
            <a:cxnLst/>
            <a:rect r="r" b="b" t="t" l="l"/>
            <a:pathLst>
              <a:path h="6871480" w="5655687">
                <a:moveTo>
                  <a:pt x="0" y="0"/>
                </a:moveTo>
                <a:lnTo>
                  <a:pt x="5655687" y="0"/>
                </a:lnTo>
                <a:lnTo>
                  <a:pt x="5655687" y="6871480"/>
                </a:lnTo>
                <a:lnTo>
                  <a:pt x="0" y="6871480"/>
                </a:lnTo>
                <a:lnTo>
                  <a:pt x="0" y="0"/>
                </a:lnTo>
                <a:close/>
              </a:path>
            </a:pathLst>
          </a:custGeom>
          <a:blipFill>
            <a:blip r:embed="rId5"/>
            <a:stretch>
              <a:fillRect l="0" t="0" r="0" b="0"/>
            </a:stretch>
          </a:blipFill>
          <a:ln w="9525" cap="sq">
            <a:solidFill>
              <a:srgbClr val="000000"/>
            </a:solidFill>
            <a:prstDash val="solid"/>
            <a:miter/>
          </a:ln>
        </p:spPr>
      </p:sp>
      <p:sp>
        <p:nvSpPr>
          <p:cNvPr name="TextBox 15" id="15"/>
          <p:cNvSpPr txBox="true"/>
          <p:nvPr/>
        </p:nvSpPr>
        <p:spPr>
          <a:xfrm rot="0">
            <a:off x="3493211" y="660153"/>
            <a:ext cx="11301577" cy="971550"/>
          </a:xfrm>
          <a:prstGeom prst="rect">
            <a:avLst/>
          </a:prstGeom>
        </p:spPr>
        <p:txBody>
          <a:bodyPr anchor="t" rtlCol="false" tIns="0" lIns="0" bIns="0" rIns="0">
            <a:spAutoFit/>
          </a:bodyPr>
          <a:lstStyle/>
          <a:p>
            <a:pPr algn="ctr" marL="0" indent="0" lvl="0">
              <a:lnSpc>
                <a:spcPts val="7722"/>
              </a:lnSpc>
            </a:pPr>
            <a:r>
              <a:rPr lang="en-US" b="true" sz="6435">
                <a:solidFill>
                  <a:srgbClr val="004A55"/>
                </a:solidFill>
                <a:latin typeface="Montserrat Bold"/>
                <a:ea typeface="Montserrat Bold"/>
                <a:cs typeface="Montserrat Bold"/>
                <a:sym typeface="Montserrat Bold"/>
              </a:rPr>
              <a:t>DASHBOARD METABASE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14A55"/>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676937"/>
            <a:chOff x="0" y="0"/>
            <a:chExt cx="4816593" cy="705037"/>
          </a:xfrm>
        </p:grpSpPr>
        <p:sp>
          <p:nvSpPr>
            <p:cNvPr name="Freeform 3" id="3"/>
            <p:cNvSpPr/>
            <p:nvPr/>
          </p:nvSpPr>
          <p:spPr>
            <a:xfrm flipH="false" flipV="false" rot="0">
              <a:off x="0" y="0"/>
              <a:ext cx="4816592" cy="705037"/>
            </a:xfrm>
            <a:custGeom>
              <a:avLst/>
              <a:gdLst/>
              <a:ahLst/>
              <a:cxnLst/>
              <a:rect r="r" b="b" t="t" l="l"/>
              <a:pathLst>
                <a:path h="705037" w="4816592">
                  <a:moveTo>
                    <a:pt x="0" y="0"/>
                  </a:moveTo>
                  <a:lnTo>
                    <a:pt x="4816592" y="0"/>
                  </a:lnTo>
                  <a:lnTo>
                    <a:pt x="4816592" y="705037"/>
                  </a:lnTo>
                  <a:lnTo>
                    <a:pt x="0" y="705037"/>
                  </a:lnTo>
                  <a:close/>
                </a:path>
              </a:pathLst>
            </a:custGeom>
            <a:solidFill>
              <a:srgbClr val="F6F6F6"/>
            </a:solidFill>
          </p:spPr>
        </p:sp>
        <p:sp>
          <p:nvSpPr>
            <p:cNvPr name="TextBox 4" id="4"/>
            <p:cNvSpPr txBox="true"/>
            <p:nvPr/>
          </p:nvSpPr>
          <p:spPr>
            <a:xfrm>
              <a:off x="0" y="-47625"/>
              <a:ext cx="4816593" cy="752662"/>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1647267" y="2250057"/>
            <a:ext cx="15218125" cy="7626678"/>
            <a:chOff x="0" y="0"/>
            <a:chExt cx="3738519" cy="1873587"/>
          </a:xfrm>
        </p:grpSpPr>
        <p:sp>
          <p:nvSpPr>
            <p:cNvPr name="Freeform 6" id="6"/>
            <p:cNvSpPr/>
            <p:nvPr/>
          </p:nvSpPr>
          <p:spPr>
            <a:xfrm flipH="false" flipV="false" rot="0">
              <a:off x="0" y="0"/>
              <a:ext cx="3738519" cy="1873587"/>
            </a:xfrm>
            <a:custGeom>
              <a:avLst/>
              <a:gdLst/>
              <a:ahLst/>
              <a:cxnLst/>
              <a:rect r="r" b="b" t="t" l="l"/>
              <a:pathLst>
                <a:path h="1873587" w="3738519">
                  <a:moveTo>
                    <a:pt x="40698" y="0"/>
                  </a:moveTo>
                  <a:lnTo>
                    <a:pt x="3697821" y="0"/>
                  </a:lnTo>
                  <a:cubicBezTo>
                    <a:pt x="3708615" y="0"/>
                    <a:pt x="3718966" y="4288"/>
                    <a:pt x="3726599" y="11920"/>
                  </a:cubicBezTo>
                  <a:cubicBezTo>
                    <a:pt x="3734231" y="19553"/>
                    <a:pt x="3738519" y="29905"/>
                    <a:pt x="3738519" y="40698"/>
                  </a:cubicBezTo>
                  <a:lnTo>
                    <a:pt x="3738519" y="1832889"/>
                  </a:lnTo>
                  <a:cubicBezTo>
                    <a:pt x="3738519" y="1855366"/>
                    <a:pt x="3720298" y="1873587"/>
                    <a:pt x="3697821" y="1873587"/>
                  </a:cubicBezTo>
                  <a:lnTo>
                    <a:pt x="40698" y="1873587"/>
                  </a:lnTo>
                  <a:cubicBezTo>
                    <a:pt x="29905" y="1873587"/>
                    <a:pt x="19553" y="1869299"/>
                    <a:pt x="11920" y="1861667"/>
                  </a:cubicBezTo>
                  <a:cubicBezTo>
                    <a:pt x="4288" y="1854034"/>
                    <a:pt x="0" y="1843682"/>
                    <a:pt x="0" y="1832889"/>
                  </a:cubicBezTo>
                  <a:lnTo>
                    <a:pt x="0" y="40698"/>
                  </a:lnTo>
                  <a:cubicBezTo>
                    <a:pt x="0" y="29905"/>
                    <a:pt x="4288" y="19553"/>
                    <a:pt x="11920" y="11920"/>
                  </a:cubicBezTo>
                  <a:cubicBezTo>
                    <a:pt x="19553" y="4288"/>
                    <a:pt x="29905" y="0"/>
                    <a:pt x="40698" y="0"/>
                  </a:cubicBezTo>
                  <a:close/>
                </a:path>
              </a:pathLst>
            </a:custGeom>
            <a:solidFill>
              <a:srgbClr val="407B86"/>
            </a:solidFill>
          </p:spPr>
        </p:sp>
        <p:sp>
          <p:nvSpPr>
            <p:cNvPr name="TextBox 7" id="7"/>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sp>
        <p:nvSpPr>
          <p:cNvPr name="Freeform 8" id="8"/>
          <p:cNvSpPr/>
          <p:nvPr/>
        </p:nvSpPr>
        <p:spPr>
          <a:xfrm flipH="false" flipV="false" rot="0">
            <a:off x="689942" y="66015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422608" y="2025399"/>
            <a:ext cx="15218125" cy="7626678"/>
            <a:chOff x="0" y="0"/>
            <a:chExt cx="3738519" cy="1873587"/>
          </a:xfrm>
        </p:grpSpPr>
        <p:sp>
          <p:nvSpPr>
            <p:cNvPr name="Freeform 10" id="10"/>
            <p:cNvSpPr/>
            <p:nvPr/>
          </p:nvSpPr>
          <p:spPr>
            <a:xfrm flipH="false" flipV="false" rot="0">
              <a:off x="0" y="0"/>
              <a:ext cx="3738519" cy="1873587"/>
            </a:xfrm>
            <a:custGeom>
              <a:avLst/>
              <a:gdLst/>
              <a:ahLst/>
              <a:cxnLst/>
              <a:rect r="r" b="b" t="t" l="l"/>
              <a:pathLst>
                <a:path h="1873587" w="3738519">
                  <a:moveTo>
                    <a:pt x="40698" y="0"/>
                  </a:moveTo>
                  <a:lnTo>
                    <a:pt x="3697821" y="0"/>
                  </a:lnTo>
                  <a:cubicBezTo>
                    <a:pt x="3708615" y="0"/>
                    <a:pt x="3718966" y="4288"/>
                    <a:pt x="3726599" y="11920"/>
                  </a:cubicBezTo>
                  <a:cubicBezTo>
                    <a:pt x="3734231" y="19553"/>
                    <a:pt x="3738519" y="29905"/>
                    <a:pt x="3738519" y="40698"/>
                  </a:cubicBezTo>
                  <a:lnTo>
                    <a:pt x="3738519" y="1832889"/>
                  </a:lnTo>
                  <a:cubicBezTo>
                    <a:pt x="3738519" y="1855366"/>
                    <a:pt x="3720298" y="1873587"/>
                    <a:pt x="3697821" y="1873587"/>
                  </a:cubicBezTo>
                  <a:lnTo>
                    <a:pt x="40698" y="1873587"/>
                  </a:lnTo>
                  <a:cubicBezTo>
                    <a:pt x="29905" y="1873587"/>
                    <a:pt x="19553" y="1869299"/>
                    <a:pt x="11920" y="1861667"/>
                  </a:cubicBezTo>
                  <a:cubicBezTo>
                    <a:pt x="4288" y="1854034"/>
                    <a:pt x="0" y="1843682"/>
                    <a:pt x="0" y="1832889"/>
                  </a:cubicBezTo>
                  <a:lnTo>
                    <a:pt x="0" y="40698"/>
                  </a:lnTo>
                  <a:cubicBezTo>
                    <a:pt x="0" y="29905"/>
                    <a:pt x="4288" y="19553"/>
                    <a:pt x="11920" y="11920"/>
                  </a:cubicBezTo>
                  <a:cubicBezTo>
                    <a:pt x="19553" y="4288"/>
                    <a:pt x="29905" y="0"/>
                    <a:pt x="40698" y="0"/>
                  </a:cubicBezTo>
                  <a:close/>
                </a:path>
              </a:pathLst>
            </a:custGeom>
            <a:solidFill>
              <a:srgbClr val="25626D"/>
            </a:solidFill>
          </p:spPr>
        </p:sp>
        <p:sp>
          <p:nvSpPr>
            <p:cNvPr name="TextBox 11" id="11"/>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sp>
        <p:nvSpPr>
          <p:cNvPr name="Freeform 12" id="12"/>
          <p:cNvSpPr/>
          <p:nvPr/>
        </p:nvSpPr>
        <p:spPr>
          <a:xfrm flipH="false" flipV="false" rot="0">
            <a:off x="14884631" y="714624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493211" y="660153"/>
            <a:ext cx="11301577" cy="971550"/>
          </a:xfrm>
          <a:prstGeom prst="rect">
            <a:avLst/>
          </a:prstGeom>
        </p:spPr>
        <p:txBody>
          <a:bodyPr anchor="t" rtlCol="false" tIns="0" lIns="0" bIns="0" rIns="0">
            <a:spAutoFit/>
          </a:bodyPr>
          <a:lstStyle/>
          <a:p>
            <a:pPr algn="ctr" marL="0" indent="0" lvl="0">
              <a:lnSpc>
                <a:spcPts val="7722"/>
              </a:lnSpc>
            </a:pPr>
            <a:r>
              <a:rPr lang="en-US" b="true" sz="6435">
                <a:solidFill>
                  <a:srgbClr val="004A55"/>
                </a:solidFill>
                <a:latin typeface="Montserrat Bold"/>
                <a:ea typeface="Montserrat Bold"/>
                <a:cs typeface="Montserrat Bold"/>
                <a:sym typeface="Montserrat Bold"/>
              </a:rPr>
              <a:t>DASHBOARD POWER BI</a:t>
            </a:r>
          </a:p>
        </p:txBody>
      </p:sp>
      <p:sp>
        <p:nvSpPr>
          <p:cNvPr name="Freeform 14" id="14"/>
          <p:cNvSpPr/>
          <p:nvPr/>
        </p:nvSpPr>
        <p:spPr>
          <a:xfrm flipH="false" flipV="false" rot="0">
            <a:off x="3046936" y="2310062"/>
            <a:ext cx="12194128" cy="7057352"/>
          </a:xfrm>
          <a:custGeom>
            <a:avLst/>
            <a:gdLst/>
            <a:ahLst/>
            <a:cxnLst/>
            <a:rect r="r" b="b" t="t" l="l"/>
            <a:pathLst>
              <a:path h="7057352" w="12194128">
                <a:moveTo>
                  <a:pt x="0" y="0"/>
                </a:moveTo>
                <a:lnTo>
                  <a:pt x="12194128" y="0"/>
                </a:lnTo>
                <a:lnTo>
                  <a:pt x="12194128" y="7057352"/>
                </a:lnTo>
                <a:lnTo>
                  <a:pt x="0" y="7057352"/>
                </a:lnTo>
                <a:lnTo>
                  <a:pt x="0" y="0"/>
                </a:lnTo>
                <a:close/>
              </a:path>
            </a:pathLst>
          </a:custGeom>
          <a:blipFill>
            <a:blip r:embed="rId4"/>
            <a:stretch>
              <a:fillRect l="0" t="0" r="0" b="0"/>
            </a:stretch>
          </a:blipFill>
          <a:ln w="9525" cap="sq">
            <a:solidFill>
              <a:srgbClr val="000000"/>
            </a:solidFill>
            <a:prstDash val="solid"/>
            <a:miter/>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907284" y="5737926"/>
            <a:ext cx="6038133" cy="3099087"/>
            <a:chOff x="0" y="0"/>
            <a:chExt cx="1496477" cy="768071"/>
          </a:xfrm>
        </p:grpSpPr>
        <p:sp>
          <p:nvSpPr>
            <p:cNvPr name="Freeform 4" id="4"/>
            <p:cNvSpPr/>
            <p:nvPr/>
          </p:nvSpPr>
          <p:spPr>
            <a:xfrm flipH="false" flipV="false" rot="0">
              <a:off x="0" y="0"/>
              <a:ext cx="1496477" cy="768071"/>
            </a:xfrm>
            <a:custGeom>
              <a:avLst/>
              <a:gdLst/>
              <a:ahLst/>
              <a:cxnLst/>
              <a:rect r="r" b="b" t="t" l="l"/>
              <a:pathLst>
                <a:path h="768071" w="1496477">
                  <a:moveTo>
                    <a:pt x="34619" y="0"/>
                  </a:moveTo>
                  <a:lnTo>
                    <a:pt x="1461859" y="0"/>
                  </a:lnTo>
                  <a:cubicBezTo>
                    <a:pt x="1471040" y="0"/>
                    <a:pt x="1479845" y="3647"/>
                    <a:pt x="1486338" y="10140"/>
                  </a:cubicBezTo>
                  <a:cubicBezTo>
                    <a:pt x="1492830" y="16632"/>
                    <a:pt x="1496477" y="25437"/>
                    <a:pt x="1496477" y="34619"/>
                  </a:cubicBezTo>
                  <a:lnTo>
                    <a:pt x="1496477" y="733452"/>
                  </a:lnTo>
                  <a:cubicBezTo>
                    <a:pt x="1496477" y="752571"/>
                    <a:pt x="1480978" y="768071"/>
                    <a:pt x="1461859" y="768071"/>
                  </a:cubicBezTo>
                  <a:lnTo>
                    <a:pt x="34619" y="768071"/>
                  </a:lnTo>
                  <a:cubicBezTo>
                    <a:pt x="15499" y="768071"/>
                    <a:pt x="0" y="752571"/>
                    <a:pt x="0" y="733452"/>
                  </a:cubicBezTo>
                  <a:lnTo>
                    <a:pt x="0" y="34619"/>
                  </a:lnTo>
                  <a:cubicBezTo>
                    <a:pt x="0" y="15499"/>
                    <a:pt x="15499" y="0"/>
                    <a:pt x="34619" y="0"/>
                  </a:cubicBezTo>
                  <a:close/>
                </a:path>
              </a:pathLst>
            </a:custGeom>
            <a:solidFill>
              <a:srgbClr val="C2E9E8"/>
            </a:solidFill>
          </p:spPr>
        </p:sp>
        <p:sp>
          <p:nvSpPr>
            <p:cNvPr name="TextBox 5" id="5"/>
            <p:cNvSpPr txBox="true"/>
            <p:nvPr/>
          </p:nvSpPr>
          <p:spPr>
            <a:xfrm>
              <a:off x="0" y="-38100"/>
              <a:ext cx="1496477" cy="806171"/>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907284" y="2882476"/>
            <a:ext cx="5806344" cy="2623042"/>
          </a:xfrm>
          <a:custGeom>
            <a:avLst/>
            <a:gdLst/>
            <a:ahLst/>
            <a:cxnLst/>
            <a:rect r="r" b="b" t="t" l="l"/>
            <a:pathLst>
              <a:path h="2623042" w="5806344">
                <a:moveTo>
                  <a:pt x="0" y="0"/>
                </a:moveTo>
                <a:lnTo>
                  <a:pt x="5806344" y="0"/>
                </a:lnTo>
                <a:lnTo>
                  <a:pt x="5806344" y="2623041"/>
                </a:lnTo>
                <a:lnTo>
                  <a:pt x="0" y="2623041"/>
                </a:lnTo>
                <a:lnTo>
                  <a:pt x="0" y="0"/>
                </a:lnTo>
                <a:close/>
              </a:path>
            </a:pathLst>
          </a:custGeom>
          <a:blipFill>
            <a:blip r:embed="rId4"/>
            <a:stretch>
              <a:fillRect l="0" t="0" r="0" b="0"/>
            </a:stretch>
          </a:blipFill>
          <a:ln w="9525" cap="sq">
            <a:solidFill>
              <a:srgbClr val="000000"/>
            </a:solidFill>
            <a:prstDash val="solid"/>
            <a:miter/>
          </a:ln>
        </p:spPr>
      </p:sp>
      <p:grpSp>
        <p:nvGrpSpPr>
          <p:cNvPr name="Group 7" id="7"/>
          <p:cNvGrpSpPr/>
          <p:nvPr/>
        </p:nvGrpSpPr>
        <p:grpSpPr>
          <a:xfrm rot="0">
            <a:off x="0" y="9723734"/>
            <a:ext cx="18505837" cy="563266"/>
            <a:chOff x="0" y="0"/>
            <a:chExt cx="4873965" cy="148350"/>
          </a:xfrm>
        </p:grpSpPr>
        <p:sp>
          <p:nvSpPr>
            <p:cNvPr name="Freeform 8" id="8"/>
            <p:cNvSpPr/>
            <p:nvPr/>
          </p:nvSpPr>
          <p:spPr>
            <a:xfrm flipH="false" flipV="false" rot="0">
              <a:off x="0" y="0"/>
              <a:ext cx="4873965" cy="148350"/>
            </a:xfrm>
            <a:custGeom>
              <a:avLst/>
              <a:gdLst/>
              <a:ahLst/>
              <a:cxnLst/>
              <a:rect r="r" b="b" t="t" l="l"/>
              <a:pathLst>
                <a:path h="148350" w="4873965">
                  <a:moveTo>
                    <a:pt x="0" y="0"/>
                  </a:moveTo>
                  <a:lnTo>
                    <a:pt x="4873965" y="0"/>
                  </a:lnTo>
                  <a:lnTo>
                    <a:pt x="4873965" y="148350"/>
                  </a:lnTo>
                  <a:lnTo>
                    <a:pt x="0" y="148350"/>
                  </a:lnTo>
                  <a:close/>
                </a:path>
              </a:pathLst>
            </a:custGeom>
            <a:solidFill>
              <a:srgbClr val="00323A"/>
            </a:solidFill>
          </p:spPr>
        </p:sp>
        <p:sp>
          <p:nvSpPr>
            <p:cNvPr name="TextBox 9" id="9"/>
            <p:cNvSpPr txBox="true"/>
            <p:nvPr/>
          </p:nvSpPr>
          <p:spPr>
            <a:xfrm>
              <a:off x="0" y="-38100"/>
              <a:ext cx="4873965" cy="186450"/>
            </a:xfrm>
            <a:prstGeom prst="rect">
              <a:avLst/>
            </a:prstGeom>
          </p:spPr>
          <p:txBody>
            <a:bodyPr anchor="ctr" rtlCol="false" tIns="50800" lIns="50800" bIns="50800" rIns="50800"/>
            <a:lstStyle/>
            <a:p>
              <a:pPr algn="ctr">
                <a:lnSpc>
                  <a:spcPts val="2800"/>
                </a:lnSpc>
              </a:pPr>
            </a:p>
          </p:txBody>
        </p:sp>
      </p:grpSp>
      <p:sp>
        <p:nvSpPr>
          <p:cNvPr name="Freeform 10" id="10"/>
          <p:cNvSpPr/>
          <p:nvPr/>
        </p:nvSpPr>
        <p:spPr>
          <a:xfrm flipH="false" flipV="false" rot="0">
            <a:off x="1028700" y="2987560"/>
            <a:ext cx="10378741" cy="5500733"/>
          </a:xfrm>
          <a:custGeom>
            <a:avLst/>
            <a:gdLst/>
            <a:ahLst/>
            <a:cxnLst/>
            <a:rect r="r" b="b" t="t" l="l"/>
            <a:pathLst>
              <a:path h="5500733" w="10378741">
                <a:moveTo>
                  <a:pt x="0" y="0"/>
                </a:moveTo>
                <a:lnTo>
                  <a:pt x="10378741" y="0"/>
                </a:lnTo>
                <a:lnTo>
                  <a:pt x="10378741" y="5500732"/>
                </a:lnTo>
                <a:lnTo>
                  <a:pt x="0" y="5500732"/>
                </a:lnTo>
                <a:lnTo>
                  <a:pt x="0" y="0"/>
                </a:lnTo>
                <a:close/>
              </a:path>
            </a:pathLst>
          </a:custGeom>
          <a:blipFill>
            <a:blip r:embed="rId5"/>
            <a:stretch>
              <a:fillRect l="0" t="0" r="0" b="0"/>
            </a:stretch>
          </a:blipFill>
          <a:ln w="9525" cap="sq">
            <a:solidFill>
              <a:srgbClr val="000000"/>
            </a:solidFill>
            <a:prstDash val="solid"/>
            <a:miter/>
          </a:ln>
        </p:spPr>
      </p:sp>
      <p:sp>
        <p:nvSpPr>
          <p:cNvPr name="TextBox 11" id="11"/>
          <p:cNvSpPr txBox="true"/>
          <p:nvPr/>
        </p:nvSpPr>
        <p:spPr>
          <a:xfrm rot="0">
            <a:off x="2488181" y="1210614"/>
            <a:ext cx="11248532" cy="1173607"/>
          </a:xfrm>
          <a:prstGeom prst="rect">
            <a:avLst/>
          </a:prstGeom>
        </p:spPr>
        <p:txBody>
          <a:bodyPr anchor="t" rtlCol="false" tIns="0" lIns="0" bIns="0" rIns="0">
            <a:spAutoFit/>
          </a:bodyPr>
          <a:lstStyle/>
          <a:p>
            <a:pPr algn="ctr">
              <a:lnSpc>
                <a:spcPts val="9164"/>
              </a:lnSpc>
            </a:pPr>
            <a:r>
              <a:rPr lang="en-US" b="true" sz="7900">
                <a:solidFill>
                  <a:srgbClr val="004A55"/>
                </a:solidFill>
                <a:latin typeface="Montserrat Bold"/>
                <a:ea typeface="Montserrat Bold"/>
                <a:cs typeface="Montserrat Bold"/>
                <a:sym typeface="Montserrat Bold"/>
              </a:rPr>
              <a:t>Deployment</a:t>
            </a:r>
          </a:p>
        </p:txBody>
      </p:sp>
      <p:sp>
        <p:nvSpPr>
          <p:cNvPr name="TextBox 12" id="12"/>
          <p:cNvSpPr txBox="true"/>
          <p:nvPr/>
        </p:nvSpPr>
        <p:spPr>
          <a:xfrm rot="0">
            <a:off x="12173065" y="6171350"/>
            <a:ext cx="5540564" cy="2156040"/>
          </a:xfrm>
          <a:prstGeom prst="rect">
            <a:avLst/>
          </a:prstGeom>
        </p:spPr>
        <p:txBody>
          <a:bodyPr anchor="t" rtlCol="false" tIns="0" lIns="0" bIns="0" rIns="0">
            <a:spAutoFit/>
          </a:bodyPr>
          <a:lstStyle/>
          <a:p>
            <a:pPr algn="l" marL="0" indent="0" lvl="0">
              <a:lnSpc>
                <a:spcPts val="3493"/>
              </a:lnSpc>
            </a:pPr>
            <a:r>
              <a:rPr lang="en-US" sz="2183">
                <a:solidFill>
                  <a:srgbClr val="004A55"/>
                </a:solidFill>
                <a:latin typeface="Montserrat"/>
                <a:ea typeface="Montserrat"/>
                <a:cs typeface="Montserrat"/>
                <a:sym typeface="Montserrat"/>
              </a:rPr>
              <a:t>Perbandingan antar model, digunakan untuk menentukan model terbaik. Dashboard ML digunakan untuk memprediksi sales berdasarkan inputan yang tersedia.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5626D"/>
        </a:solidFill>
      </p:bgPr>
    </p:bg>
    <p:spTree>
      <p:nvGrpSpPr>
        <p:cNvPr id="1" name=""/>
        <p:cNvGrpSpPr/>
        <p:nvPr/>
      </p:nvGrpSpPr>
      <p:grpSpPr>
        <a:xfrm>
          <a:off x="0" y="0"/>
          <a:ext cx="0" cy="0"/>
          <a:chOff x="0" y="0"/>
          <a:chExt cx="0" cy="0"/>
        </a:xfrm>
      </p:grpSpPr>
      <p:grpSp>
        <p:nvGrpSpPr>
          <p:cNvPr name="Group 2" id="2"/>
          <p:cNvGrpSpPr/>
          <p:nvPr/>
        </p:nvGrpSpPr>
        <p:grpSpPr>
          <a:xfrm rot="-10800000">
            <a:off x="389946" y="840239"/>
            <a:ext cx="17500152" cy="9648642"/>
            <a:chOff x="0" y="0"/>
            <a:chExt cx="23333535" cy="12864857"/>
          </a:xfrm>
        </p:grpSpPr>
        <p:sp>
          <p:nvSpPr>
            <p:cNvPr name="Freeform 3" id="3"/>
            <p:cNvSpPr/>
            <p:nvPr/>
          </p:nvSpPr>
          <p:spPr>
            <a:xfrm flipH="true" flipV="false" rot="0">
              <a:off x="0" y="0"/>
              <a:ext cx="14959136" cy="12864857"/>
            </a:xfrm>
            <a:custGeom>
              <a:avLst/>
              <a:gdLst/>
              <a:ahLst/>
              <a:cxnLst/>
              <a:rect r="r" b="b" t="t" l="l"/>
              <a:pathLst>
                <a:path h="12864857" w="14959136">
                  <a:moveTo>
                    <a:pt x="14959136" y="0"/>
                  </a:moveTo>
                  <a:lnTo>
                    <a:pt x="0" y="0"/>
                  </a:lnTo>
                  <a:lnTo>
                    <a:pt x="0" y="12864857"/>
                  </a:lnTo>
                  <a:lnTo>
                    <a:pt x="14959136" y="12864857"/>
                  </a:lnTo>
                  <a:lnTo>
                    <a:pt x="1495913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374400" y="0"/>
              <a:ext cx="14959136" cy="12864857"/>
            </a:xfrm>
            <a:custGeom>
              <a:avLst/>
              <a:gdLst/>
              <a:ahLst/>
              <a:cxnLst/>
              <a:rect r="r" b="b" t="t" l="l"/>
              <a:pathLst>
                <a:path h="12864857" w="14959136">
                  <a:moveTo>
                    <a:pt x="0" y="0"/>
                  </a:moveTo>
                  <a:lnTo>
                    <a:pt x="14959135" y="0"/>
                  </a:lnTo>
                  <a:lnTo>
                    <a:pt x="14959135" y="12864857"/>
                  </a:lnTo>
                  <a:lnTo>
                    <a:pt x="0" y="1286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446606" y="2867068"/>
            <a:ext cx="15386832" cy="555688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a:solidFill>
                  <a:srgbClr val="000000"/>
                </a:solidFill>
                <a:latin typeface="Montserrat Bold"/>
                <a:ea typeface="Montserrat Bold"/>
                <a:cs typeface="Montserrat Bold"/>
                <a:sym typeface="Montserrat Bold"/>
              </a:rPr>
              <a:t>Tingkatkan Akuisisi dan Retensi Customer</a:t>
            </a:r>
          </a:p>
          <a:p>
            <a:pPr algn="l">
              <a:lnSpc>
                <a:spcPts val="2940"/>
              </a:lnSpc>
              <a:spcBef>
                <a:spcPct val="0"/>
              </a:spcBef>
            </a:pPr>
            <a:r>
              <a:rPr lang="en-US" sz="2100">
                <a:solidFill>
                  <a:srgbClr val="000000"/>
                </a:solidFill>
                <a:latin typeface="Montserrat"/>
                <a:ea typeface="Montserrat"/>
                <a:cs typeface="Montserrat"/>
                <a:sym typeface="Montserrat"/>
              </a:rPr>
              <a:t>Penurunan jumlah customer sejalan dengan penurunan sales, sehingga perusahaan perlu meningkatkan program loyalitas pelanggan, promosi yang lebih terarah, dan strategi untuk mempertahankan customer yang sudah ada.</a:t>
            </a:r>
          </a:p>
          <a:p>
            <a:pPr algn="l" marL="453390" indent="-226695" lvl="1">
              <a:lnSpc>
                <a:spcPts val="2940"/>
              </a:lnSpc>
              <a:buFont typeface="Arial"/>
              <a:buChar char="•"/>
            </a:pPr>
            <a:r>
              <a:rPr lang="en-US" b="true" sz="2100">
                <a:solidFill>
                  <a:srgbClr val="000000"/>
                </a:solidFill>
                <a:latin typeface="Montserrat Bold"/>
                <a:ea typeface="Montserrat Bold"/>
                <a:cs typeface="Montserrat Bold"/>
                <a:sym typeface="Montserrat Bold"/>
              </a:rPr>
              <a:t>Optimalkan Promo pada Periode Potensial</a:t>
            </a:r>
          </a:p>
          <a:p>
            <a:pPr algn="l">
              <a:lnSpc>
                <a:spcPts val="2940"/>
              </a:lnSpc>
              <a:spcBef>
                <a:spcPct val="0"/>
              </a:spcBef>
            </a:pPr>
            <a:r>
              <a:rPr lang="en-US" sz="2100">
                <a:solidFill>
                  <a:srgbClr val="000000"/>
                </a:solidFill>
                <a:latin typeface="Montserrat"/>
                <a:ea typeface="Montserrat"/>
                <a:cs typeface="Montserrat"/>
                <a:sym typeface="Montserrat"/>
              </a:rPr>
              <a:t>Hasil analisis menunjukkan bahwa promo, periode gajian (payday), dan Harbolnas berkontribusi terhadap peningkatan penjualan. Oleh karena itu, aktivitas promosi sebaiknya difokuskan pada periode-periode tersebut untuk memperoleh hasil yang lebih optimal.</a:t>
            </a:r>
          </a:p>
          <a:p>
            <a:pPr algn="l" marL="453390" indent="-226695" lvl="1">
              <a:lnSpc>
                <a:spcPts val="2940"/>
              </a:lnSpc>
              <a:buFont typeface="Arial"/>
              <a:buChar char="•"/>
            </a:pPr>
            <a:r>
              <a:rPr lang="en-US" b="true" sz="2100">
                <a:solidFill>
                  <a:srgbClr val="000000"/>
                </a:solidFill>
                <a:latin typeface="Montserrat Bold"/>
                <a:ea typeface="Montserrat Bold"/>
                <a:cs typeface="Montserrat Bold"/>
                <a:sym typeface="Montserrat Bold"/>
              </a:rPr>
              <a:t>Evaluasi Store Berperforma Rendah</a:t>
            </a:r>
          </a:p>
          <a:p>
            <a:pPr algn="l">
              <a:lnSpc>
                <a:spcPts val="2940"/>
              </a:lnSpc>
              <a:spcBef>
                <a:spcPct val="0"/>
              </a:spcBef>
            </a:pPr>
            <a:r>
              <a:rPr lang="en-US" sz="2100">
                <a:solidFill>
                  <a:srgbClr val="000000"/>
                </a:solidFill>
                <a:latin typeface="Montserrat"/>
                <a:ea typeface="Montserrat"/>
                <a:cs typeface="Montserrat"/>
                <a:sym typeface="Montserrat"/>
              </a:rPr>
              <a:t>Beberapa store memiliki penjualan dan efisiensi yang lebih rendah dibanding store lainnya. Perusahaan perlu melakukan evaluasi terhadap store tersebut untuk mengidentifikasi faktor penyebab dan menerapkan strategi perbaikan yang sesuai.</a:t>
            </a:r>
          </a:p>
          <a:p>
            <a:pPr algn="l" marL="453390" indent="-226695" lvl="1">
              <a:lnSpc>
                <a:spcPts val="2940"/>
              </a:lnSpc>
              <a:buFont typeface="Arial"/>
              <a:buChar char="•"/>
            </a:pPr>
            <a:r>
              <a:rPr lang="en-US" b="true" sz="2100">
                <a:solidFill>
                  <a:srgbClr val="000000"/>
                </a:solidFill>
                <a:latin typeface="Montserrat Bold"/>
                <a:ea typeface="Montserrat Bold"/>
                <a:cs typeface="Montserrat Bold"/>
                <a:sym typeface="Montserrat Bold"/>
              </a:rPr>
              <a:t>Manfaatkan Pola Penjualan untuk Perencanaan</a:t>
            </a:r>
          </a:p>
          <a:p>
            <a:pPr algn="l">
              <a:lnSpc>
                <a:spcPts val="2940"/>
              </a:lnSpc>
              <a:spcBef>
                <a:spcPct val="0"/>
              </a:spcBef>
            </a:pPr>
            <a:r>
              <a:rPr lang="en-US" sz="2100">
                <a:solidFill>
                  <a:srgbClr val="000000"/>
                </a:solidFill>
                <a:latin typeface="Montserrat"/>
                <a:ea typeface="Montserrat"/>
                <a:cs typeface="Montserrat"/>
                <a:sym typeface="Montserrat"/>
              </a:rPr>
              <a:t>Pola penjualan bulanan yang fluktuatif dapat digunakan sebagai dasar dalam merencanakan aktivitas bisnis, sehingga perusahaan dapat mengambil keputusan yang lebih tepat berdasarkan data historis.</a:t>
            </a:r>
          </a:p>
        </p:txBody>
      </p:sp>
      <p:sp>
        <p:nvSpPr>
          <p:cNvPr name="TextBox 6" id="6"/>
          <p:cNvSpPr txBox="true"/>
          <p:nvPr/>
        </p:nvSpPr>
        <p:spPr>
          <a:xfrm rot="0">
            <a:off x="3938823" y="1427862"/>
            <a:ext cx="10410354" cy="1173607"/>
          </a:xfrm>
          <a:prstGeom prst="rect">
            <a:avLst/>
          </a:prstGeom>
        </p:spPr>
        <p:txBody>
          <a:bodyPr anchor="t" rtlCol="false" tIns="0" lIns="0" bIns="0" rIns="0">
            <a:spAutoFit/>
          </a:bodyPr>
          <a:lstStyle/>
          <a:p>
            <a:pPr algn="ctr">
              <a:lnSpc>
                <a:spcPts val="9164"/>
              </a:lnSpc>
            </a:pPr>
            <a:r>
              <a:rPr lang="en-US" b="true" sz="7900">
                <a:solidFill>
                  <a:srgbClr val="E0751C"/>
                </a:solidFill>
                <a:latin typeface="Montserrat Bold"/>
                <a:ea typeface="Montserrat Bold"/>
                <a:cs typeface="Montserrat Bold"/>
                <a:sym typeface="Montserrat Bold"/>
              </a:rPr>
              <a:t>Rekomendasi</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1065471" y="5931764"/>
            <a:ext cx="12597099" cy="4206304"/>
            <a:chOff x="0" y="0"/>
            <a:chExt cx="1593632" cy="532130"/>
          </a:xfrm>
        </p:grpSpPr>
        <p:sp>
          <p:nvSpPr>
            <p:cNvPr name="Freeform 3" id="3"/>
            <p:cNvSpPr/>
            <p:nvPr/>
          </p:nvSpPr>
          <p:spPr>
            <a:xfrm flipH="false" flipV="false" rot="0">
              <a:off x="0" y="0"/>
              <a:ext cx="1593632" cy="532130"/>
            </a:xfrm>
            <a:custGeom>
              <a:avLst/>
              <a:gdLst/>
              <a:ahLst/>
              <a:cxnLst/>
              <a:rect r="r" b="b" t="t" l="l"/>
              <a:pathLst>
                <a:path h="532130" w="1593632">
                  <a:moveTo>
                    <a:pt x="1390432" y="0"/>
                  </a:moveTo>
                  <a:lnTo>
                    <a:pt x="0" y="0"/>
                  </a:lnTo>
                  <a:lnTo>
                    <a:pt x="203200" y="532130"/>
                  </a:lnTo>
                  <a:lnTo>
                    <a:pt x="1593632" y="532130"/>
                  </a:lnTo>
                  <a:lnTo>
                    <a:pt x="1390432" y="0"/>
                  </a:lnTo>
                  <a:close/>
                </a:path>
              </a:pathLst>
            </a:custGeom>
            <a:solidFill>
              <a:srgbClr val="014A55"/>
            </a:solidFill>
          </p:spPr>
        </p:sp>
        <p:sp>
          <p:nvSpPr>
            <p:cNvPr name="TextBox 4" id="4"/>
            <p:cNvSpPr txBox="true"/>
            <p:nvPr/>
          </p:nvSpPr>
          <p:spPr>
            <a:xfrm>
              <a:off x="101600" y="-38100"/>
              <a:ext cx="1390432" cy="57023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816964" y="2923224"/>
            <a:ext cx="11377013" cy="5104916"/>
            <a:chOff x="0" y="0"/>
            <a:chExt cx="1439281" cy="645812"/>
          </a:xfrm>
        </p:grpSpPr>
        <p:sp>
          <p:nvSpPr>
            <p:cNvPr name="Freeform 6" id="6"/>
            <p:cNvSpPr/>
            <p:nvPr/>
          </p:nvSpPr>
          <p:spPr>
            <a:xfrm flipH="false" flipV="false" rot="0">
              <a:off x="0" y="0"/>
              <a:ext cx="1439281" cy="645812"/>
            </a:xfrm>
            <a:custGeom>
              <a:avLst/>
              <a:gdLst/>
              <a:ahLst/>
              <a:cxnLst/>
              <a:rect r="r" b="b" t="t" l="l"/>
              <a:pathLst>
                <a:path h="645812" w="1439281">
                  <a:moveTo>
                    <a:pt x="1236081" y="0"/>
                  </a:moveTo>
                  <a:lnTo>
                    <a:pt x="0" y="0"/>
                  </a:lnTo>
                  <a:lnTo>
                    <a:pt x="203200" y="645812"/>
                  </a:lnTo>
                  <a:lnTo>
                    <a:pt x="1439281" y="645812"/>
                  </a:lnTo>
                  <a:lnTo>
                    <a:pt x="1236081" y="0"/>
                  </a:lnTo>
                  <a:close/>
                </a:path>
              </a:pathLst>
            </a:custGeom>
            <a:solidFill>
              <a:srgbClr val="C2E9E8"/>
            </a:solidFill>
          </p:spPr>
        </p:sp>
        <p:sp>
          <p:nvSpPr>
            <p:cNvPr name="TextBox 7" id="7"/>
            <p:cNvSpPr txBox="true"/>
            <p:nvPr/>
          </p:nvSpPr>
          <p:spPr>
            <a:xfrm>
              <a:off x="101600" y="-38100"/>
              <a:ext cx="1236081" cy="68391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26010" y="5443122"/>
            <a:ext cx="1923475" cy="1839542"/>
          </a:xfrm>
          <a:custGeom>
            <a:avLst/>
            <a:gdLst/>
            <a:ahLst/>
            <a:cxnLst/>
            <a:rect r="r" b="b" t="t" l="l"/>
            <a:pathLst>
              <a:path h="1839542" w="1923475">
                <a:moveTo>
                  <a:pt x="0" y="0"/>
                </a:moveTo>
                <a:lnTo>
                  <a:pt x="1923476" y="0"/>
                </a:lnTo>
                <a:lnTo>
                  <a:pt x="1923476" y="1839542"/>
                </a:lnTo>
                <a:lnTo>
                  <a:pt x="0" y="18395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2533883"/>
            <a:ext cx="5980909" cy="663759"/>
          </a:xfrm>
          <a:prstGeom prst="rect">
            <a:avLst/>
          </a:prstGeom>
        </p:spPr>
        <p:txBody>
          <a:bodyPr anchor="t" rtlCol="false" tIns="0" lIns="0" bIns="0" rIns="0">
            <a:spAutoFit/>
          </a:bodyPr>
          <a:lstStyle/>
          <a:p>
            <a:pPr algn="l">
              <a:lnSpc>
                <a:spcPts val="5414"/>
              </a:lnSpc>
            </a:pPr>
            <a:r>
              <a:rPr lang="en-US" b="true" sz="3867">
                <a:solidFill>
                  <a:srgbClr val="004A55"/>
                </a:solidFill>
                <a:latin typeface="Montserrat Bold"/>
                <a:ea typeface="Montserrat Bold"/>
                <a:cs typeface="Montserrat Bold"/>
                <a:sym typeface="Montserrat Bold"/>
              </a:rPr>
              <a:t>Conclusion 1</a:t>
            </a:r>
          </a:p>
        </p:txBody>
      </p:sp>
      <p:sp>
        <p:nvSpPr>
          <p:cNvPr name="TextBox 10" id="10"/>
          <p:cNvSpPr txBox="true"/>
          <p:nvPr/>
        </p:nvSpPr>
        <p:spPr>
          <a:xfrm rot="0">
            <a:off x="1028700" y="3366482"/>
            <a:ext cx="7328476" cy="2045335"/>
          </a:xfrm>
          <a:prstGeom prst="rect">
            <a:avLst/>
          </a:prstGeom>
        </p:spPr>
        <p:txBody>
          <a:bodyPr anchor="t" rtlCol="false" tIns="0" lIns="0" bIns="0" rIns="0">
            <a:spAutoFit/>
          </a:bodyPr>
          <a:lstStyle/>
          <a:p>
            <a:pPr algn="l">
              <a:lnSpc>
                <a:spcPts val="2765"/>
              </a:lnSpc>
            </a:pPr>
            <a:r>
              <a:rPr lang="en-US" sz="1975">
                <a:solidFill>
                  <a:srgbClr val="004A55"/>
                </a:solidFill>
                <a:latin typeface="Montserrat"/>
                <a:ea typeface="Montserrat"/>
                <a:cs typeface="Montserrat"/>
                <a:sym typeface="Montserrat"/>
              </a:rPr>
              <a:t>Penjualan perusahaan menunjukkan tren yang fluktuatif dan mengalami penurunan seiring berkurangnya jumlah customer. Hasil analisis menunjukkan bahwa jumlah customer memiliki hubungan yang kuat terhadap penjualan, sehingga pertumbuhan pelanggan menjadi faktor penting dalam meningkatkan kinerja bisnis.</a:t>
            </a:r>
          </a:p>
        </p:txBody>
      </p:sp>
      <p:sp>
        <p:nvSpPr>
          <p:cNvPr name="TextBox 11" id="11"/>
          <p:cNvSpPr txBox="true"/>
          <p:nvPr/>
        </p:nvSpPr>
        <p:spPr>
          <a:xfrm rot="0">
            <a:off x="2598591" y="6296218"/>
            <a:ext cx="6708448" cy="677672"/>
          </a:xfrm>
          <a:prstGeom prst="rect">
            <a:avLst/>
          </a:prstGeom>
        </p:spPr>
        <p:txBody>
          <a:bodyPr anchor="t" rtlCol="false" tIns="0" lIns="0" bIns="0" rIns="0">
            <a:spAutoFit/>
          </a:bodyPr>
          <a:lstStyle/>
          <a:p>
            <a:pPr algn="r">
              <a:lnSpc>
                <a:spcPts val="5698"/>
              </a:lnSpc>
            </a:pPr>
            <a:r>
              <a:rPr lang="en-US" b="true" sz="4070">
                <a:solidFill>
                  <a:srgbClr val="FFFFFF"/>
                </a:solidFill>
                <a:latin typeface="Montserrat Bold"/>
                <a:ea typeface="Montserrat Bold"/>
                <a:cs typeface="Montserrat Bold"/>
                <a:sym typeface="Montserrat Bold"/>
              </a:rPr>
              <a:t>Conclusion 2</a:t>
            </a:r>
          </a:p>
        </p:txBody>
      </p:sp>
      <p:sp>
        <p:nvSpPr>
          <p:cNvPr name="TextBox 12" id="12"/>
          <p:cNvSpPr txBox="true"/>
          <p:nvPr/>
        </p:nvSpPr>
        <p:spPr>
          <a:xfrm rot="0">
            <a:off x="2799247" y="7145340"/>
            <a:ext cx="6866412" cy="2388235"/>
          </a:xfrm>
          <a:prstGeom prst="rect">
            <a:avLst/>
          </a:prstGeom>
        </p:spPr>
        <p:txBody>
          <a:bodyPr anchor="t" rtlCol="false" tIns="0" lIns="0" bIns="0" rIns="0">
            <a:spAutoFit/>
          </a:bodyPr>
          <a:lstStyle/>
          <a:p>
            <a:pPr algn="r">
              <a:lnSpc>
                <a:spcPts val="2765"/>
              </a:lnSpc>
            </a:pPr>
            <a:r>
              <a:rPr lang="en-US" sz="1975">
                <a:solidFill>
                  <a:srgbClr val="FFFFFF"/>
                </a:solidFill>
                <a:latin typeface="Montserrat"/>
                <a:ea typeface="Montserrat"/>
                <a:cs typeface="Montserrat"/>
                <a:sym typeface="Montserrat"/>
              </a:rPr>
              <a:t>A</a:t>
            </a:r>
            <a:r>
              <a:rPr lang="en-US" sz="1975">
                <a:solidFill>
                  <a:srgbClr val="FFFFFF"/>
                </a:solidFill>
                <a:latin typeface="Montserrat"/>
                <a:ea typeface="Montserrat"/>
                <a:cs typeface="Montserrat"/>
                <a:sym typeface="Montserrat"/>
              </a:rPr>
              <a:t>ktivitas promosi terbukti efektif dalam meningkatkan penjualan. Selain itu, periode Payday dan event Harbolnas menunjukkan kontribusi penjualan yang lebih tinggi dibanding periode biasa, yang mengindikasikan bahwa perilaku belanja pelanggan dipengaruhi oleh faktor promosi dan waktu tertentu.</a:t>
            </a:r>
          </a:p>
        </p:txBody>
      </p:sp>
      <p:sp>
        <p:nvSpPr>
          <p:cNvPr name="TextBox 13" id="13"/>
          <p:cNvSpPr txBox="true"/>
          <p:nvPr/>
        </p:nvSpPr>
        <p:spPr>
          <a:xfrm rot="0">
            <a:off x="10687700" y="3600353"/>
            <a:ext cx="6667484" cy="703707"/>
          </a:xfrm>
          <a:prstGeom prst="rect">
            <a:avLst/>
          </a:prstGeom>
        </p:spPr>
        <p:txBody>
          <a:bodyPr anchor="t" rtlCol="false" tIns="0" lIns="0" bIns="0" rIns="0">
            <a:spAutoFit/>
          </a:bodyPr>
          <a:lstStyle/>
          <a:p>
            <a:pPr algn="just">
              <a:lnSpc>
                <a:spcPts val="5838"/>
              </a:lnSpc>
            </a:pPr>
            <a:r>
              <a:rPr lang="en-US" b="true" sz="4170">
                <a:solidFill>
                  <a:srgbClr val="004A55"/>
                </a:solidFill>
                <a:latin typeface="Montserrat Bold"/>
                <a:ea typeface="Montserrat Bold"/>
                <a:cs typeface="Montserrat Bold"/>
                <a:sym typeface="Montserrat Bold"/>
              </a:rPr>
              <a:t>Conclusion 3</a:t>
            </a:r>
          </a:p>
        </p:txBody>
      </p:sp>
      <p:sp>
        <p:nvSpPr>
          <p:cNvPr name="TextBox 14" id="14"/>
          <p:cNvSpPr txBox="true"/>
          <p:nvPr/>
        </p:nvSpPr>
        <p:spPr>
          <a:xfrm rot="0">
            <a:off x="10687700" y="4553799"/>
            <a:ext cx="6328414" cy="2454275"/>
          </a:xfrm>
          <a:prstGeom prst="rect">
            <a:avLst/>
          </a:prstGeom>
        </p:spPr>
        <p:txBody>
          <a:bodyPr anchor="t" rtlCol="false" tIns="0" lIns="0" bIns="0" rIns="0">
            <a:spAutoFit/>
          </a:bodyPr>
          <a:lstStyle/>
          <a:p>
            <a:pPr algn="l">
              <a:lnSpc>
                <a:spcPts val="2800"/>
              </a:lnSpc>
            </a:pPr>
            <a:r>
              <a:rPr lang="en-US" sz="2000">
                <a:solidFill>
                  <a:srgbClr val="004A55"/>
                </a:solidFill>
                <a:latin typeface="Montserrat"/>
                <a:ea typeface="Montserrat"/>
                <a:cs typeface="Montserrat"/>
                <a:sym typeface="Montserrat"/>
              </a:rPr>
              <a:t>Untuk meningkatkan profitabilitas secara berkelanjutan, perusahaan perlu berfokus pada pengendalian network cost, penguatan strategi retensi pada segmen berisiko churn, optimalisasi channel Dealer, Online, dan Retail, serta pengembangan produk yang sesuai dengan preferensi pelanggan. </a:t>
            </a:r>
          </a:p>
        </p:txBody>
      </p:sp>
      <p:sp>
        <p:nvSpPr>
          <p:cNvPr name="TextBox 15" id="15"/>
          <p:cNvSpPr txBox="true"/>
          <p:nvPr/>
        </p:nvSpPr>
        <p:spPr>
          <a:xfrm rot="0">
            <a:off x="2449486" y="998943"/>
            <a:ext cx="12408757" cy="1203202"/>
          </a:xfrm>
          <a:prstGeom prst="rect">
            <a:avLst/>
          </a:prstGeom>
        </p:spPr>
        <p:txBody>
          <a:bodyPr anchor="t" rtlCol="false" tIns="0" lIns="0" bIns="0" rIns="0">
            <a:spAutoFit/>
          </a:bodyPr>
          <a:lstStyle/>
          <a:p>
            <a:pPr algn="ctr">
              <a:lnSpc>
                <a:spcPts val="9806"/>
              </a:lnSpc>
            </a:pPr>
            <a:r>
              <a:rPr lang="en-US" b="true" sz="7004">
                <a:solidFill>
                  <a:srgbClr val="E0751C"/>
                </a:solidFill>
                <a:latin typeface="Montserrat Bold"/>
                <a:ea typeface="Montserrat Bold"/>
                <a:cs typeface="Montserrat Bold"/>
                <a:sym typeface="Montserrat Bold"/>
              </a:rPr>
              <a:t>Conclusion</a:t>
            </a:r>
          </a:p>
        </p:txBody>
      </p:sp>
      <p:sp>
        <p:nvSpPr>
          <p:cNvPr name="Freeform 16" id="16"/>
          <p:cNvSpPr/>
          <p:nvPr/>
        </p:nvSpPr>
        <p:spPr>
          <a:xfrm flipH="false" flipV="false" rot="886470">
            <a:off x="8878102" y="2654958"/>
            <a:ext cx="1575115" cy="2043191"/>
          </a:xfrm>
          <a:custGeom>
            <a:avLst/>
            <a:gdLst/>
            <a:ahLst/>
            <a:cxnLst/>
            <a:rect r="r" b="b" t="t" l="l"/>
            <a:pathLst>
              <a:path h="2043191" w="1575115">
                <a:moveTo>
                  <a:pt x="0" y="0"/>
                </a:moveTo>
                <a:lnTo>
                  <a:pt x="1575114" y="0"/>
                </a:lnTo>
                <a:lnTo>
                  <a:pt x="1575114" y="2043191"/>
                </a:lnTo>
                <a:lnTo>
                  <a:pt x="0" y="20431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grpSp>
        <p:nvGrpSpPr>
          <p:cNvPr name="Group 2" id="2"/>
          <p:cNvGrpSpPr/>
          <p:nvPr/>
        </p:nvGrpSpPr>
        <p:grpSpPr>
          <a:xfrm rot="0">
            <a:off x="0" y="7639433"/>
            <a:ext cx="18288000" cy="2647567"/>
            <a:chOff x="0" y="0"/>
            <a:chExt cx="4816593" cy="697302"/>
          </a:xfrm>
        </p:grpSpPr>
        <p:sp>
          <p:nvSpPr>
            <p:cNvPr name="Freeform 3" id="3"/>
            <p:cNvSpPr/>
            <p:nvPr/>
          </p:nvSpPr>
          <p:spPr>
            <a:xfrm flipH="false" flipV="false" rot="0">
              <a:off x="0" y="0"/>
              <a:ext cx="4816592" cy="697302"/>
            </a:xfrm>
            <a:custGeom>
              <a:avLst/>
              <a:gdLst/>
              <a:ahLst/>
              <a:cxnLst/>
              <a:rect r="r" b="b" t="t" l="l"/>
              <a:pathLst>
                <a:path h="697302" w="4816592">
                  <a:moveTo>
                    <a:pt x="0" y="0"/>
                  </a:moveTo>
                  <a:lnTo>
                    <a:pt x="4816592" y="0"/>
                  </a:lnTo>
                  <a:lnTo>
                    <a:pt x="4816592" y="697302"/>
                  </a:lnTo>
                  <a:lnTo>
                    <a:pt x="0" y="697302"/>
                  </a:lnTo>
                  <a:close/>
                </a:path>
              </a:pathLst>
            </a:custGeom>
            <a:solidFill>
              <a:srgbClr val="FF9038"/>
            </a:solidFill>
          </p:spPr>
        </p:sp>
        <p:sp>
          <p:nvSpPr>
            <p:cNvPr name="TextBox 4" id="4"/>
            <p:cNvSpPr txBox="true"/>
            <p:nvPr/>
          </p:nvSpPr>
          <p:spPr>
            <a:xfrm>
              <a:off x="0" y="-47625"/>
              <a:ext cx="4816593" cy="744927"/>
            </a:xfrm>
            <a:prstGeom prst="rect">
              <a:avLst/>
            </a:prstGeom>
          </p:spPr>
          <p:txBody>
            <a:bodyPr anchor="ctr" rtlCol="false" tIns="50800" lIns="50800" bIns="50800" rIns="50800"/>
            <a:lstStyle/>
            <a:p>
              <a:pPr algn="ctr">
                <a:lnSpc>
                  <a:spcPts val="3560"/>
                </a:lnSpc>
              </a:pPr>
            </a:p>
          </p:txBody>
        </p:sp>
      </p:grpSp>
      <p:grpSp>
        <p:nvGrpSpPr>
          <p:cNvPr name="Group 5" id="5"/>
          <p:cNvGrpSpPr/>
          <p:nvPr/>
        </p:nvGrpSpPr>
        <p:grpSpPr>
          <a:xfrm rot="0">
            <a:off x="2256205" y="1796162"/>
            <a:ext cx="14194690" cy="7113776"/>
            <a:chOff x="0" y="0"/>
            <a:chExt cx="3738519" cy="1873587"/>
          </a:xfrm>
        </p:grpSpPr>
        <p:sp>
          <p:nvSpPr>
            <p:cNvPr name="Freeform 6" id="6"/>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25626D"/>
            </a:solidFill>
          </p:spPr>
        </p:sp>
        <p:sp>
          <p:nvSpPr>
            <p:cNvPr name="TextBox 7" id="7"/>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grpSp>
        <p:nvGrpSpPr>
          <p:cNvPr name="Group 8" id="8"/>
          <p:cNvGrpSpPr/>
          <p:nvPr/>
        </p:nvGrpSpPr>
        <p:grpSpPr>
          <a:xfrm rot="0">
            <a:off x="2046655" y="1586612"/>
            <a:ext cx="14194690" cy="7113776"/>
            <a:chOff x="0" y="0"/>
            <a:chExt cx="3738519" cy="1873587"/>
          </a:xfrm>
        </p:grpSpPr>
        <p:sp>
          <p:nvSpPr>
            <p:cNvPr name="Freeform 9" id="9"/>
            <p:cNvSpPr/>
            <p:nvPr/>
          </p:nvSpPr>
          <p:spPr>
            <a:xfrm flipH="false" flipV="false" rot="0">
              <a:off x="0" y="0"/>
              <a:ext cx="3738519" cy="1873587"/>
            </a:xfrm>
            <a:custGeom>
              <a:avLst/>
              <a:gdLst/>
              <a:ahLst/>
              <a:cxnLst/>
              <a:rect r="r" b="b" t="t" l="l"/>
              <a:pathLst>
                <a:path h="1873587" w="3738519">
                  <a:moveTo>
                    <a:pt x="43633" y="0"/>
                  </a:moveTo>
                  <a:lnTo>
                    <a:pt x="3694886" y="0"/>
                  </a:lnTo>
                  <a:cubicBezTo>
                    <a:pt x="3718984" y="0"/>
                    <a:pt x="3738519" y="19535"/>
                    <a:pt x="3738519" y="43633"/>
                  </a:cubicBezTo>
                  <a:lnTo>
                    <a:pt x="3738519" y="1829954"/>
                  </a:lnTo>
                  <a:cubicBezTo>
                    <a:pt x="3738519" y="1854052"/>
                    <a:pt x="3718984" y="1873587"/>
                    <a:pt x="3694886" y="1873587"/>
                  </a:cubicBezTo>
                  <a:lnTo>
                    <a:pt x="43633" y="1873587"/>
                  </a:lnTo>
                  <a:cubicBezTo>
                    <a:pt x="32061" y="1873587"/>
                    <a:pt x="20962" y="1868990"/>
                    <a:pt x="12780" y="1860807"/>
                  </a:cubicBezTo>
                  <a:cubicBezTo>
                    <a:pt x="4597" y="1852625"/>
                    <a:pt x="0" y="1841526"/>
                    <a:pt x="0" y="1829954"/>
                  </a:cubicBezTo>
                  <a:lnTo>
                    <a:pt x="0" y="43633"/>
                  </a:lnTo>
                  <a:cubicBezTo>
                    <a:pt x="0" y="32061"/>
                    <a:pt x="4597" y="20962"/>
                    <a:pt x="12780" y="12780"/>
                  </a:cubicBezTo>
                  <a:cubicBezTo>
                    <a:pt x="20962" y="4597"/>
                    <a:pt x="32061" y="0"/>
                    <a:pt x="43633" y="0"/>
                  </a:cubicBezTo>
                  <a:close/>
                </a:path>
              </a:pathLst>
            </a:custGeom>
            <a:solidFill>
              <a:srgbClr val="C2E9E8"/>
            </a:solidFill>
          </p:spPr>
        </p:sp>
        <p:sp>
          <p:nvSpPr>
            <p:cNvPr name="TextBox 10" id="10"/>
            <p:cNvSpPr txBox="true"/>
            <p:nvPr/>
          </p:nvSpPr>
          <p:spPr>
            <a:xfrm>
              <a:off x="0" y="-47625"/>
              <a:ext cx="3738519" cy="1921212"/>
            </a:xfrm>
            <a:prstGeom prst="rect">
              <a:avLst/>
            </a:prstGeom>
          </p:spPr>
          <p:txBody>
            <a:bodyPr anchor="ctr" rtlCol="false" tIns="50800" lIns="50800" bIns="50800" rIns="50800"/>
            <a:lstStyle/>
            <a:p>
              <a:pPr algn="ctr">
                <a:lnSpc>
                  <a:spcPts val="3560"/>
                </a:lnSpc>
              </a:pPr>
            </a:p>
          </p:txBody>
        </p:sp>
      </p:grpSp>
      <p:sp>
        <p:nvSpPr>
          <p:cNvPr name="Freeform 11" id="11"/>
          <p:cNvSpPr/>
          <p:nvPr/>
        </p:nvSpPr>
        <p:spPr>
          <a:xfrm flipH="false" flipV="false" rot="0">
            <a:off x="689942" y="66015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4884631" y="7146243"/>
            <a:ext cx="2713427" cy="2730492"/>
          </a:xfrm>
          <a:custGeom>
            <a:avLst/>
            <a:gdLst/>
            <a:ahLst/>
            <a:cxnLst/>
            <a:rect r="r" b="b" t="t" l="l"/>
            <a:pathLst>
              <a:path h="2730492" w="2713427">
                <a:moveTo>
                  <a:pt x="0" y="0"/>
                </a:moveTo>
                <a:lnTo>
                  <a:pt x="2713427" y="0"/>
                </a:lnTo>
                <a:lnTo>
                  <a:pt x="2713427" y="2730492"/>
                </a:lnTo>
                <a:lnTo>
                  <a:pt x="0" y="2730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583054" y="2333691"/>
            <a:ext cx="11121892" cy="5534025"/>
          </a:xfrm>
          <a:prstGeom prst="rect">
            <a:avLst/>
          </a:prstGeom>
        </p:spPr>
        <p:txBody>
          <a:bodyPr anchor="t" rtlCol="false" tIns="0" lIns="0" bIns="0" rIns="0">
            <a:spAutoFit/>
          </a:bodyPr>
          <a:lstStyle/>
          <a:p>
            <a:pPr algn="ctr" marL="0" indent="0" lvl="0">
              <a:lnSpc>
                <a:spcPts val="21811"/>
              </a:lnSpc>
            </a:pPr>
            <a:r>
              <a:rPr lang="en-US" b="true" sz="18176">
                <a:solidFill>
                  <a:srgbClr val="004A55"/>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DAHMajZEJHs</dc:identifier>
  <dcterms:modified xsi:type="dcterms:W3CDTF">2011-08-01T06:04:30Z</dcterms:modified>
  <cp:revision>1</cp:revision>
  <dc:title>Final Project_Regresi</dc:title>
</cp:coreProperties>
</file>